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3.xml" ContentType="application/vnd.openxmlformats-officedocument.presentationml.notesSlide+xml"/>
  <Override PartName="/ppt/tags/tag3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6.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notesSlides/notesSlide9.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0.xml" ContentType="application/vnd.openxmlformats-officedocument.presentationml.notesSlide+xml"/>
  <Override PartName="/ppt/tags/tag56.xml" ContentType="application/vnd.openxmlformats-officedocument.presentationml.tags+xml"/>
  <Override PartName="/ppt/notesSlides/notesSlide11.xml" ContentType="application/vnd.openxmlformats-officedocument.presentationml.notesSlide+xml"/>
  <Override PartName="/ppt/tags/tag57.xml" ContentType="application/vnd.openxmlformats-officedocument.presentationml.tags+xml"/>
  <Override PartName="/ppt/notesSlides/notesSlide12.xml" ContentType="application/vnd.openxmlformats-officedocument.presentationml.notesSlide+xml"/>
  <Override PartName="/ppt/tags/tag58.xml" ContentType="application/vnd.openxmlformats-officedocument.presentationml.tags+xml"/>
  <Override PartName="/ppt/notesSlides/notesSlide13.xml" ContentType="application/vnd.openxmlformats-officedocument.presentationml.notesSlide+xml"/>
  <Override PartName="/ppt/tags/tag59.xml" ContentType="application/vnd.openxmlformats-officedocument.presentationml.tags+xml"/>
  <Override PartName="/ppt/notesSlides/notesSlide14.xml" ContentType="application/vnd.openxmlformats-officedocument.presentationml.notesSlide+xml"/>
  <Override PartName="/ppt/tags/tag60.xml" ContentType="application/vnd.openxmlformats-officedocument.presentationml.tags+xml"/>
  <Override PartName="/ppt/notesSlides/notesSlide15.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6.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7.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9" r:id="rId1"/>
  </p:sldMasterIdLst>
  <p:notesMasterIdLst>
    <p:notesMasterId r:id="rId49"/>
  </p:notesMasterIdLst>
  <p:sldIdLst>
    <p:sldId id="257" r:id="rId2"/>
    <p:sldId id="283" r:id="rId3"/>
    <p:sldId id="356" r:id="rId4"/>
    <p:sldId id="309" r:id="rId5"/>
    <p:sldId id="320" r:id="rId6"/>
    <p:sldId id="365" r:id="rId7"/>
    <p:sldId id="315" r:id="rId8"/>
    <p:sldId id="363" r:id="rId9"/>
    <p:sldId id="357" r:id="rId10"/>
    <p:sldId id="316" r:id="rId11"/>
    <p:sldId id="321" r:id="rId12"/>
    <p:sldId id="331" r:id="rId13"/>
    <p:sldId id="332" r:id="rId14"/>
    <p:sldId id="334" r:id="rId15"/>
    <p:sldId id="323" r:id="rId16"/>
    <p:sldId id="335" r:id="rId17"/>
    <p:sldId id="329" r:id="rId18"/>
    <p:sldId id="333" r:id="rId19"/>
    <p:sldId id="337" r:id="rId20"/>
    <p:sldId id="322" r:id="rId21"/>
    <p:sldId id="355" r:id="rId22"/>
    <p:sldId id="336" r:id="rId23"/>
    <p:sldId id="338" r:id="rId24"/>
    <p:sldId id="330" r:id="rId25"/>
    <p:sldId id="339" r:id="rId26"/>
    <p:sldId id="358" r:id="rId27"/>
    <p:sldId id="342" r:id="rId28"/>
    <p:sldId id="364" r:id="rId29"/>
    <p:sldId id="343" r:id="rId30"/>
    <p:sldId id="340" r:id="rId31"/>
    <p:sldId id="341" r:id="rId32"/>
    <p:sldId id="344" r:id="rId33"/>
    <p:sldId id="345" r:id="rId34"/>
    <p:sldId id="366" r:id="rId35"/>
    <p:sldId id="360" r:id="rId36"/>
    <p:sldId id="310" r:id="rId37"/>
    <p:sldId id="346" r:id="rId38"/>
    <p:sldId id="347" r:id="rId39"/>
    <p:sldId id="361" r:id="rId40"/>
    <p:sldId id="317" r:id="rId41"/>
    <p:sldId id="349" r:id="rId42"/>
    <p:sldId id="353" r:id="rId43"/>
    <p:sldId id="354" r:id="rId44"/>
    <p:sldId id="351" r:id="rId45"/>
    <p:sldId id="362" r:id="rId46"/>
    <p:sldId id="350" r:id="rId47"/>
    <p:sldId id="282"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B36E"/>
    <a:srgbClr val="3399FF"/>
    <a:srgbClr val="D5E3FF"/>
    <a:srgbClr val="CCECFF"/>
    <a:srgbClr val="AEE0F0"/>
    <a:srgbClr val="009ED6"/>
    <a:srgbClr val="BC4042"/>
    <a:srgbClr val="93C9FF"/>
    <a:srgbClr val="19A382"/>
    <a:srgbClr val="CFE0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89223" autoAdjust="0"/>
  </p:normalViewPr>
  <p:slideViewPr>
    <p:cSldViewPr snapToGrid="0">
      <p:cViewPr varScale="1">
        <p:scale>
          <a:sx n="77" d="100"/>
          <a:sy n="77" d="100"/>
        </p:scale>
        <p:origin x="84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394346-EDAC-47FF-9FD8-BEA647CBC7FA}"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1C074CD7-620E-4036-9235-7F5D1BA2C8C2}">
      <dgm:prSet phldrT="[文本]"/>
      <dgm:spPr>
        <a:solidFill>
          <a:srgbClr val="009ED6"/>
        </a:solidFill>
      </dgm:spPr>
      <dgm:t>
        <a:bodyPr/>
        <a:lstStyle/>
        <a:p>
          <a:r>
            <a:rPr lang="zh-CN" altLang="en-US" dirty="0"/>
            <a:t>基于深度学习的程序并行性识别方法</a:t>
          </a:r>
        </a:p>
      </dgm:t>
    </dgm:pt>
    <dgm:pt modelId="{F8725CA8-66F4-4327-98CB-588CE0181EAA}" type="parTrans" cxnId="{C4F01832-3A63-4312-AD46-CB62E5F0B3C0}">
      <dgm:prSet/>
      <dgm:spPr/>
      <dgm:t>
        <a:bodyPr/>
        <a:lstStyle/>
        <a:p>
          <a:endParaRPr lang="zh-CN" altLang="en-US"/>
        </a:p>
      </dgm:t>
    </dgm:pt>
    <dgm:pt modelId="{2A982311-27BD-4690-BC6E-E69233B4F1BC}" type="sibTrans" cxnId="{C4F01832-3A63-4312-AD46-CB62E5F0B3C0}">
      <dgm:prSet/>
      <dgm:spPr/>
      <dgm:t>
        <a:bodyPr/>
        <a:lstStyle/>
        <a:p>
          <a:endParaRPr lang="zh-CN" altLang="en-US"/>
        </a:p>
      </dgm:t>
    </dgm:pt>
    <dgm:pt modelId="{BC75437C-0CB0-4F58-BB41-5AE66F62DF8F}">
      <dgm:prSet phldrT="[文本]" custT="1"/>
      <dgm:spPr>
        <a:solidFill>
          <a:srgbClr val="44B36E"/>
        </a:solidFill>
      </dgm:spPr>
      <dgm:t>
        <a:bodyPr/>
        <a:lstStyle/>
        <a:p>
          <a:pPr algn="just"/>
          <a:r>
            <a:rPr lang="zh-CN" altLang="en-US" sz="1200" dirty="0"/>
            <a:t>    直接挖掘程序特征，对程序的数学表示没有限制</a:t>
          </a:r>
        </a:p>
      </dgm:t>
    </dgm:pt>
    <dgm:pt modelId="{07DCB8E8-8111-47A2-A693-37A62A149244}" type="parTrans" cxnId="{92B7523F-94F4-4D19-B87F-B13C96AE362A}">
      <dgm:prSet/>
      <dgm:spPr/>
      <dgm:t>
        <a:bodyPr/>
        <a:lstStyle/>
        <a:p>
          <a:endParaRPr lang="zh-CN" altLang="en-US"/>
        </a:p>
      </dgm:t>
    </dgm:pt>
    <dgm:pt modelId="{5C4DF94E-410D-4D78-825E-0A9302F607E2}" type="sibTrans" cxnId="{92B7523F-94F4-4D19-B87F-B13C96AE362A}">
      <dgm:prSet/>
      <dgm:spPr/>
      <dgm:t>
        <a:bodyPr/>
        <a:lstStyle/>
        <a:p>
          <a:endParaRPr lang="zh-CN" altLang="en-US"/>
        </a:p>
      </dgm:t>
    </dgm:pt>
    <dgm:pt modelId="{67A36E36-8913-4DA8-A49D-70F31E225469}">
      <dgm:prSet phldrT="[文本]" custT="1"/>
      <dgm:spPr>
        <a:solidFill>
          <a:srgbClr val="44B36E"/>
        </a:solidFill>
      </dgm:spPr>
      <dgm:t>
        <a:bodyPr/>
        <a:lstStyle/>
        <a:p>
          <a:pPr algn="just"/>
          <a:r>
            <a:rPr lang="zh-CN" altLang="en-US" sz="1200" dirty="0"/>
            <a:t>    构造数据集，基于大量数据学习，准确率有较高保障</a:t>
          </a:r>
        </a:p>
      </dgm:t>
    </dgm:pt>
    <dgm:pt modelId="{ACA80A5A-5088-4F2F-811D-F68F116C4110}" type="parTrans" cxnId="{DFA94DF3-FC0D-4BF4-A529-9CCC5C6171B8}">
      <dgm:prSet/>
      <dgm:spPr/>
      <dgm:t>
        <a:bodyPr/>
        <a:lstStyle/>
        <a:p>
          <a:endParaRPr lang="zh-CN" altLang="en-US"/>
        </a:p>
      </dgm:t>
    </dgm:pt>
    <dgm:pt modelId="{744140E9-AE83-4298-B7FA-F056120B2F17}" type="sibTrans" cxnId="{DFA94DF3-FC0D-4BF4-A529-9CCC5C6171B8}">
      <dgm:prSet/>
      <dgm:spPr/>
      <dgm:t>
        <a:bodyPr/>
        <a:lstStyle/>
        <a:p>
          <a:endParaRPr lang="zh-CN" altLang="en-US"/>
        </a:p>
      </dgm:t>
    </dgm:pt>
    <dgm:pt modelId="{3EC62669-90C2-49DE-A962-21CE0BE55C8C}">
      <dgm:prSet phldrT="[文本]" custT="1"/>
      <dgm:spPr>
        <a:solidFill>
          <a:srgbClr val="44B36E"/>
        </a:solidFill>
      </dgm:spPr>
      <dgm:t>
        <a:bodyPr/>
        <a:lstStyle/>
        <a:p>
          <a:pPr algn="just"/>
          <a:r>
            <a:rPr lang="zh-CN" altLang="en-US" sz="1200" dirty="0"/>
            <a:t>    基于神经网络模型预测，没有过大的时间开销</a:t>
          </a:r>
        </a:p>
      </dgm:t>
    </dgm:pt>
    <dgm:pt modelId="{EDE39DC7-5630-48EE-BD54-171691B7F4EB}" type="sibTrans" cxnId="{2892E741-AFFC-40B1-AB07-1226D0ACB432}">
      <dgm:prSet/>
      <dgm:spPr/>
      <dgm:t>
        <a:bodyPr/>
        <a:lstStyle/>
        <a:p>
          <a:endParaRPr lang="zh-CN" altLang="en-US"/>
        </a:p>
      </dgm:t>
    </dgm:pt>
    <dgm:pt modelId="{80EC9B78-DB45-4BB7-A9AA-37A5EF12258C}" type="parTrans" cxnId="{2892E741-AFFC-40B1-AB07-1226D0ACB432}">
      <dgm:prSet/>
      <dgm:spPr/>
      <dgm:t>
        <a:bodyPr/>
        <a:lstStyle/>
        <a:p>
          <a:endParaRPr lang="zh-CN" altLang="en-US"/>
        </a:p>
      </dgm:t>
    </dgm:pt>
    <dgm:pt modelId="{297FBF44-1977-4B8E-B452-E9A44DB5516E}" type="pres">
      <dgm:prSet presAssocID="{E3394346-EDAC-47FF-9FD8-BEA647CBC7FA}" presName="Name0" presStyleCnt="0">
        <dgm:presLayoutVars>
          <dgm:chPref val="1"/>
          <dgm:dir/>
          <dgm:animOne val="branch"/>
          <dgm:animLvl val="lvl"/>
          <dgm:resizeHandles val="exact"/>
        </dgm:presLayoutVars>
      </dgm:prSet>
      <dgm:spPr/>
    </dgm:pt>
    <dgm:pt modelId="{FC6A5861-1549-48C6-A2A1-4B27A4DF6DD2}" type="pres">
      <dgm:prSet presAssocID="{1C074CD7-620E-4036-9235-7F5D1BA2C8C2}" presName="root1" presStyleCnt="0"/>
      <dgm:spPr/>
    </dgm:pt>
    <dgm:pt modelId="{C290C05F-455B-4D2C-B38C-CF13ED8C75AC}" type="pres">
      <dgm:prSet presAssocID="{1C074CD7-620E-4036-9235-7F5D1BA2C8C2}" presName="LevelOneTextNode" presStyleLbl="node0" presStyleIdx="0" presStyleCnt="1" custAng="5400000" custScaleX="196933" custScaleY="83976" custLinFactX="-100000" custLinFactNeighborX="-129308">
        <dgm:presLayoutVars>
          <dgm:chPref val="3"/>
        </dgm:presLayoutVars>
      </dgm:prSet>
      <dgm:spPr/>
    </dgm:pt>
    <dgm:pt modelId="{251FB291-C57F-4E1A-A60F-E20ACFF4A7D0}" type="pres">
      <dgm:prSet presAssocID="{1C074CD7-620E-4036-9235-7F5D1BA2C8C2}" presName="level2hierChild" presStyleCnt="0"/>
      <dgm:spPr/>
    </dgm:pt>
    <dgm:pt modelId="{B9DA0F9E-26FF-4F53-8BAF-EBF5C7D70DA6}" type="pres">
      <dgm:prSet presAssocID="{07DCB8E8-8111-47A2-A693-37A62A149244}" presName="conn2-1" presStyleLbl="parChTrans1D2" presStyleIdx="0" presStyleCnt="3"/>
      <dgm:spPr/>
    </dgm:pt>
    <dgm:pt modelId="{66051E95-34F9-4A7D-9138-DAB1464C3A6B}" type="pres">
      <dgm:prSet presAssocID="{07DCB8E8-8111-47A2-A693-37A62A149244}" presName="connTx" presStyleLbl="parChTrans1D2" presStyleIdx="0" presStyleCnt="3"/>
      <dgm:spPr/>
    </dgm:pt>
    <dgm:pt modelId="{39B02439-1C90-4315-9779-442A77633CB6}" type="pres">
      <dgm:prSet presAssocID="{BC75437C-0CB0-4F58-BB41-5AE66F62DF8F}" presName="root2" presStyleCnt="0"/>
      <dgm:spPr/>
    </dgm:pt>
    <dgm:pt modelId="{05B06D2F-3FA8-4ED7-887B-0816577BB09A}" type="pres">
      <dgm:prSet presAssocID="{BC75437C-0CB0-4F58-BB41-5AE66F62DF8F}" presName="LevelTwoTextNode" presStyleLbl="node2" presStyleIdx="0" presStyleCnt="3" custScaleX="271065" custLinFactNeighborX="80939" custLinFactNeighborY="222">
        <dgm:presLayoutVars>
          <dgm:chPref val="3"/>
        </dgm:presLayoutVars>
      </dgm:prSet>
      <dgm:spPr/>
    </dgm:pt>
    <dgm:pt modelId="{56BCADFB-6D8F-4CDA-A9D3-B7D473659C4B}" type="pres">
      <dgm:prSet presAssocID="{BC75437C-0CB0-4F58-BB41-5AE66F62DF8F}" presName="level3hierChild" presStyleCnt="0"/>
      <dgm:spPr/>
    </dgm:pt>
    <dgm:pt modelId="{84171F6C-1A21-4F09-AEA3-21F9349D2E4E}" type="pres">
      <dgm:prSet presAssocID="{80EC9B78-DB45-4BB7-A9AA-37A5EF12258C}" presName="conn2-1" presStyleLbl="parChTrans1D2" presStyleIdx="1" presStyleCnt="3"/>
      <dgm:spPr/>
    </dgm:pt>
    <dgm:pt modelId="{8E411251-9C21-49EA-BDA2-7FF1AAE87F9F}" type="pres">
      <dgm:prSet presAssocID="{80EC9B78-DB45-4BB7-A9AA-37A5EF12258C}" presName="connTx" presStyleLbl="parChTrans1D2" presStyleIdx="1" presStyleCnt="3"/>
      <dgm:spPr/>
    </dgm:pt>
    <dgm:pt modelId="{86CA0AE7-A324-43C2-82F8-F9CE156B8B26}" type="pres">
      <dgm:prSet presAssocID="{3EC62669-90C2-49DE-A962-21CE0BE55C8C}" presName="root2" presStyleCnt="0"/>
      <dgm:spPr/>
    </dgm:pt>
    <dgm:pt modelId="{102A9F4A-DBF6-48C8-B93B-443480CADB00}" type="pres">
      <dgm:prSet presAssocID="{3EC62669-90C2-49DE-A962-21CE0BE55C8C}" presName="LevelTwoTextNode" presStyleLbl="node2" presStyleIdx="1" presStyleCnt="3" custScaleX="272400" custLinFactNeighborX="79604" custLinFactNeighborY="222">
        <dgm:presLayoutVars>
          <dgm:chPref val="3"/>
        </dgm:presLayoutVars>
      </dgm:prSet>
      <dgm:spPr/>
    </dgm:pt>
    <dgm:pt modelId="{4A867583-497F-45C2-8049-8B168457D83F}" type="pres">
      <dgm:prSet presAssocID="{3EC62669-90C2-49DE-A962-21CE0BE55C8C}" presName="level3hierChild" presStyleCnt="0"/>
      <dgm:spPr/>
    </dgm:pt>
    <dgm:pt modelId="{621A2A29-09D4-4836-8010-A5C251BFA7F0}" type="pres">
      <dgm:prSet presAssocID="{ACA80A5A-5088-4F2F-811D-F68F116C4110}" presName="conn2-1" presStyleLbl="parChTrans1D2" presStyleIdx="2" presStyleCnt="3"/>
      <dgm:spPr/>
    </dgm:pt>
    <dgm:pt modelId="{6478D9E2-D8ED-4133-8253-32E4ACC31251}" type="pres">
      <dgm:prSet presAssocID="{ACA80A5A-5088-4F2F-811D-F68F116C4110}" presName="connTx" presStyleLbl="parChTrans1D2" presStyleIdx="2" presStyleCnt="3"/>
      <dgm:spPr/>
    </dgm:pt>
    <dgm:pt modelId="{A329834B-C30E-4185-B3A3-42D3C35D7519}" type="pres">
      <dgm:prSet presAssocID="{67A36E36-8913-4DA8-A49D-70F31E225469}" presName="root2" presStyleCnt="0"/>
      <dgm:spPr/>
    </dgm:pt>
    <dgm:pt modelId="{49DDB80D-4DD1-4384-BA8B-E8406140E6A7}" type="pres">
      <dgm:prSet presAssocID="{67A36E36-8913-4DA8-A49D-70F31E225469}" presName="LevelTwoTextNode" presStyleLbl="node2" presStyleIdx="2" presStyleCnt="3" custScaleX="270719" custLinFactNeighborX="81285" custLinFactNeighborY="222">
        <dgm:presLayoutVars>
          <dgm:chPref val="3"/>
        </dgm:presLayoutVars>
      </dgm:prSet>
      <dgm:spPr/>
    </dgm:pt>
    <dgm:pt modelId="{2790F186-04D3-4C48-AA75-A8B865298868}" type="pres">
      <dgm:prSet presAssocID="{67A36E36-8913-4DA8-A49D-70F31E225469}" presName="level3hierChild" presStyleCnt="0"/>
      <dgm:spPr/>
    </dgm:pt>
  </dgm:ptLst>
  <dgm:cxnLst>
    <dgm:cxn modelId="{D2666604-8449-4CA0-81AB-7ED127768497}" type="presOf" srcId="{BC75437C-0CB0-4F58-BB41-5AE66F62DF8F}" destId="{05B06D2F-3FA8-4ED7-887B-0816577BB09A}" srcOrd="0" destOrd="0" presId="urn:microsoft.com/office/officeart/2008/layout/HorizontalMultiLevelHierarchy"/>
    <dgm:cxn modelId="{1BA2DD0F-EE1F-4EFE-A556-EE6F2FB824CA}" type="presOf" srcId="{3EC62669-90C2-49DE-A962-21CE0BE55C8C}" destId="{102A9F4A-DBF6-48C8-B93B-443480CADB00}" srcOrd="0" destOrd="0" presId="urn:microsoft.com/office/officeart/2008/layout/HorizontalMultiLevelHierarchy"/>
    <dgm:cxn modelId="{2C9C331E-5964-4563-A43A-32A615A9F1B7}" type="presOf" srcId="{1C074CD7-620E-4036-9235-7F5D1BA2C8C2}" destId="{C290C05F-455B-4D2C-B38C-CF13ED8C75AC}" srcOrd="0" destOrd="0" presId="urn:microsoft.com/office/officeart/2008/layout/HorizontalMultiLevelHierarchy"/>
    <dgm:cxn modelId="{C4F01832-3A63-4312-AD46-CB62E5F0B3C0}" srcId="{E3394346-EDAC-47FF-9FD8-BEA647CBC7FA}" destId="{1C074CD7-620E-4036-9235-7F5D1BA2C8C2}" srcOrd="0" destOrd="0" parTransId="{F8725CA8-66F4-4327-98CB-588CE0181EAA}" sibTransId="{2A982311-27BD-4690-BC6E-E69233B4F1BC}"/>
    <dgm:cxn modelId="{67F7333C-CFE3-463C-BE8E-35FE33FD232A}" type="presOf" srcId="{ACA80A5A-5088-4F2F-811D-F68F116C4110}" destId="{6478D9E2-D8ED-4133-8253-32E4ACC31251}" srcOrd="1" destOrd="0" presId="urn:microsoft.com/office/officeart/2008/layout/HorizontalMultiLevelHierarchy"/>
    <dgm:cxn modelId="{92B7523F-94F4-4D19-B87F-B13C96AE362A}" srcId="{1C074CD7-620E-4036-9235-7F5D1BA2C8C2}" destId="{BC75437C-0CB0-4F58-BB41-5AE66F62DF8F}" srcOrd="0" destOrd="0" parTransId="{07DCB8E8-8111-47A2-A693-37A62A149244}" sibTransId="{5C4DF94E-410D-4D78-825E-0A9302F607E2}"/>
    <dgm:cxn modelId="{2892E741-AFFC-40B1-AB07-1226D0ACB432}" srcId="{1C074CD7-620E-4036-9235-7F5D1BA2C8C2}" destId="{3EC62669-90C2-49DE-A962-21CE0BE55C8C}" srcOrd="1" destOrd="0" parTransId="{80EC9B78-DB45-4BB7-A9AA-37A5EF12258C}" sibTransId="{EDE39DC7-5630-48EE-BD54-171691B7F4EB}"/>
    <dgm:cxn modelId="{308B2B42-D00C-4047-97BB-4DDAE5B59F2A}" type="presOf" srcId="{07DCB8E8-8111-47A2-A693-37A62A149244}" destId="{66051E95-34F9-4A7D-9138-DAB1464C3A6B}" srcOrd="1" destOrd="0" presId="urn:microsoft.com/office/officeart/2008/layout/HorizontalMultiLevelHierarchy"/>
    <dgm:cxn modelId="{54305452-7160-4C4C-A530-3BB8AC2A0F2E}" type="presOf" srcId="{80EC9B78-DB45-4BB7-A9AA-37A5EF12258C}" destId="{84171F6C-1A21-4F09-AEA3-21F9349D2E4E}" srcOrd="0" destOrd="0" presId="urn:microsoft.com/office/officeart/2008/layout/HorizontalMultiLevelHierarchy"/>
    <dgm:cxn modelId="{520F5283-E987-437E-AF2D-5FE5E9B982F8}" type="presOf" srcId="{67A36E36-8913-4DA8-A49D-70F31E225469}" destId="{49DDB80D-4DD1-4384-BA8B-E8406140E6A7}" srcOrd="0" destOrd="0" presId="urn:microsoft.com/office/officeart/2008/layout/HorizontalMultiLevelHierarchy"/>
    <dgm:cxn modelId="{5EF92A95-CCD5-4370-91B9-3A71701E088E}" type="presOf" srcId="{07DCB8E8-8111-47A2-A693-37A62A149244}" destId="{B9DA0F9E-26FF-4F53-8BAF-EBF5C7D70DA6}" srcOrd="0" destOrd="0" presId="urn:microsoft.com/office/officeart/2008/layout/HorizontalMultiLevelHierarchy"/>
    <dgm:cxn modelId="{0088CB9E-6D5F-49D5-B2F4-E780A74C707A}" type="presOf" srcId="{ACA80A5A-5088-4F2F-811D-F68F116C4110}" destId="{621A2A29-09D4-4836-8010-A5C251BFA7F0}" srcOrd="0" destOrd="0" presId="urn:microsoft.com/office/officeart/2008/layout/HorizontalMultiLevelHierarchy"/>
    <dgm:cxn modelId="{697C9ED5-1611-4620-B934-6F71C8EA0502}" type="presOf" srcId="{E3394346-EDAC-47FF-9FD8-BEA647CBC7FA}" destId="{297FBF44-1977-4B8E-B452-E9A44DB5516E}" srcOrd="0" destOrd="0" presId="urn:microsoft.com/office/officeart/2008/layout/HorizontalMultiLevelHierarchy"/>
    <dgm:cxn modelId="{79C038E2-4874-497B-9B74-94EB662CF45E}" type="presOf" srcId="{80EC9B78-DB45-4BB7-A9AA-37A5EF12258C}" destId="{8E411251-9C21-49EA-BDA2-7FF1AAE87F9F}" srcOrd="1" destOrd="0" presId="urn:microsoft.com/office/officeart/2008/layout/HorizontalMultiLevelHierarchy"/>
    <dgm:cxn modelId="{DFA94DF3-FC0D-4BF4-A529-9CCC5C6171B8}" srcId="{1C074CD7-620E-4036-9235-7F5D1BA2C8C2}" destId="{67A36E36-8913-4DA8-A49D-70F31E225469}" srcOrd="2" destOrd="0" parTransId="{ACA80A5A-5088-4F2F-811D-F68F116C4110}" sibTransId="{744140E9-AE83-4298-B7FA-F056120B2F17}"/>
    <dgm:cxn modelId="{4BBC7406-583A-45BC-9B76-DF8CA732377C}" type="presParOf" srcId="{297FBF44-1977-4B8E-B452-E9A44DB5516E}" destId="{FC6A5861-1549-48C6-A2A1-4B27A4DF6DD2}" srcOrd="0" destOrd="0" presId="urn:microsoft.com/office/officeart/2008/layout/HorizontalMultiLevelHierarchy"/>
    <dgm:cxn modelId="{B88BEE7D-6767-41A1-9048-A6F0AFEDBAAE}" type="presParOf" srcId="{FC6A5861-1549-48C6-A2A1-4B27A4DF6DD2}" destId="{C290C05F-455B-4D2C-B38C-CF13ED8C75AC}" srcOrd="0" destOrd="0" presId="urn:microsoft.com/office/officeart/2008/layout/HorizontalMultiLevelHierarchy"/>
    <dgm:cxn modelId="{F3C0F49B-428D-4D8D-889C-2CFCC3C0B3A2}" type="presParOf" srcId="{FC6A5861-1549-48C6-A2A1-4B27A4DF6DD2}" destId="{251FB291-C57F-4E1A-A60F-E20ACFF4A7D0}" srcOrd="1" destOrd="0" presId="urn:microsoft.com/office/officeart/2008/layout/HorizontalMultiLevelHierarchy"/>
    <dgm:cxn modelId="{4D6279A8-B53A-4FEE-A2A6-0999D0A19942}" type="presParOf" srcId="{251FB291-C57F-4E1A-A60F-E20ACFF4A7D0}" destId="{B9DA0F9E-26FF-4F53-8BAF-EBF5C7D70DA6}" srcOrd="0" destOrd="0" presId="urn:microsoft.com/office/officeart/2008/layout/HorizontalMultiLevelHierarchy"/>
    <dgm:cxn modelId="{18470AC2-5536-4EAF-B2BB-FD4CD573F4C5}" type="presParOf" srcId="{B9DA0F9E-26FF-4F53-8BAF-EBF5C7D70DA6}" destId="{66051E95-34F9-4A7D-9138-DAB1464C3A6B}" srcOrd="0" destOrd="0" presId="urn:microsoft.com/office/officeart/2008/layout/HorizontalMultiLevelHierarchy"/>
    <dgm:cxn modelId="{C889699B-C8BB-4D3D-8908-CD8BB912993C}" type="presParOf" srcId="{251FB291-C57F-4E1A-A60F-E20ACFF4A7D0}" destId="{39B02439-1C90-4315-9779-442A77633CB6}" srcOrd="1" destOrd="0" presId="urn:microsoft.com/office/officeart/2008/layout/HorizontalMultiLevelHierarchy"/>
    <dgm:cxn modelId="{282F1D49-8566-49E0-A562-BC5943B11ABD}" type="presParOf" srcId="{39B02439-1C90-4315-9779-442A77633CB6}" destId="{05B06D2F-3FA8-4ED7-887B-0816577BB09A}" srcOrd="0" destOrd="0" presId="urn:microsoft.com/office/officeart/2008/layout/HorizontalMultiLevelHierarchy"/>
    <dgm:cxn modelId="{7151C941-6DB9-4F68-84DA-87EF2CB32FC6}" type="presParOf" srcId="{39B02439-1C90-4315-9779-442A77633CB6}" destId="{56BCADFB-6D8F-4CDA-A9D3-B7D473659C4B}" srcOrd="1" destOrd="0" presId="urn:microsoft.com/office/officeart/2008/layout/HorizontalMultiLevelHierarchy"/>
    <dgm:cxn modelId="{00F9EDC3-F402-4780-BA29-E6CBF116F2D7}" type="presParOf" srcId="{251FB291-C57F-4E1A-A60F-E20ACFF4A7D0}" destId="{84171F6C-1A21-4F09-AEA3-21F9349D2E4E}" srcOrd="2" destOrd="0" presId="urn:microsoft.com/office/officeart/2008/layout/HorizontalMultiLevelHierarchy"/>
    <dgm:cxn modelId="{6DB4B186-AF88-4E81-9A7F-6083ED0D6F96}" type="presParOf" srcId="{84171F6C-1A21-4F09-AEA3-21F9349D2E4E}" destId="{8E411251-9C21-49EA-BDA2-7FF1AAE87F9F}" srcOrd="0" destOrd="0" presId="urn:microsoft.com/office/officeart/2008/layout/HorizontalMultiLevelHierarchy"/>
    <dgm:cxn modelId="{7CD713D7-3A2A-41E1-A352-3B6A0F2A66DC}" type="presParOf" srcId="{251FB291-C57F-4E1A-A60F-E20ACFF4A7D0}" destId="{86CA0AE7-A324-43C2-82F8-F9CE156B8B26}" srcOrd="3" destOrd="0" presId="urn:microsoft.com/office/officeart/2008/layout/HorizontalMultiLevelHierarchy"/>
    <dgm:cxn modelId="{C26A8624-3C0E-4EA9-85EC-D6348A0FF5B3}" type="presParOf" srcId="{86CA0AE7-A324-43C2-82F8-F9CE156B8B26}" destId="{102A9F4A-DBF6-48C8-B93B-443480CADB00}" srcOrd="0" destOrd="0" presId="urn:microsoft.com/office/officeart/2008/layout/HorizontalMultiLevelHierarchy"/>
    <dgm:cxn modelId="{6C451945-4B05-4177-A0AA-609FF5376F4F}" type="presParOf" srcId="{86CA0AE7-A324-43C2-82F8-F9CE156B8B26}" destId="{4A867583-497F-45C2-8049-8B168457D83F}" srcOrd="1" destOrd="0" presId="urn:microsoft.com/office/officeart/2008/layout/HorizontalMultiLevelHierarchy"/>
    <dgm:cxn modelId="{8160C5CA-7F0C-43F2-9F06-02A48F7F7B99}" type="presParOf" srcId="{251FB291-C57F-4E1A-A60F-E20ACFF4A7D0}" destId="{621A2A29-09D4-4836-8010-A5C251BFA7F0}" srcOrd="4" destOrd="0" presId="urn:microsoft.com/office/officeart/2008/layout/HorizontalMultiLevelHierarchy"/>
    <dgm:cxn modelId="{49B77824-DC22-4C79-80EF-D87C4F4B1D90}" type="presParOf" srcId="{621A2A29-09D4-4836-8010-A5C251BFA7F0}" destId="{6478D9E2-D8ED-4133-8253-32E4ACC31251}" srcOrd="0" destOrd="0" presId="urn:microsoft.com/office/officeart/2008/layout/HorizontalMultiLevelHierarchy"/>
    <dgm:cxn modelId="{CCFC99F6-60AD-45D9-9B59-D3868B48CBFF}" type="presParOf" srcId="{251FB291-C57F-4E1A-A60F-E20ACFF4A7D0}" destId="{A329834B-C30E-4185-B3A3-42D3C35D7519}" srcOrd="5" destOrd="0" presId="urn:microsoft.com/office/officeart/2008/layout/HorizontalMultiLevelHierarchy"/>
    <dgm:cxn modelId="{9B29C60E-1146-44A7-9E1D-87A495F07ADE}" type="presParOf" srcId="{A329834B-C30E-4185-B3A3-42D3C35D7519}" destId="{49DDB80D-4DD1-4384-BA8B-E8406140E6A7}" srcOrd="0" destOrd="0" presId="urn:microsoft.com/office/officeart/2008/layout/HorizontalMultiLevelHierarchy"/>
    <dgm:cxn modelId="{ECD2F9F0-BE12-4E1B-B88C-CEEA3467CB8F}" type="presParOf" srcId="{A329834B-C30E-4185-B3A3-42D3C35D7519}" destId="{2790F186-04D3-4C48-AA75-A8B865298868}" srcOrd="1" destOrd="0" presId="urn:microsoft.com/office/officeart/2008/layout/HorizontalMultiLevelHierarchy"/>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394346-EDAC-47FF-9FD8-BEA647CBC7FA}"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1C074CD7-620E-4036-9235-7F5D1BA2C8C2}">
      <dgm:prSet phldrT="[文本]" custT="1"/>
      <dgm:spPr>
        <a:solidFill>
          <a:srgbClr val="009ED6"/>
        </a:solidFill>
      </dgm:spPr>
      <dgm:t>
        <a:bodyPr/>
        <a:lstStyle/>
        <a:p>
          <a:r>
            <a:rPr lang="zh-CN" altLang="en-US" sz="1700" dirty="0"/>
            <a:t>基于</a:t>
          </a:r>
          <a:r>
            <a:rPr lang="en-US" altLang="zh-CN" sz="1700" dirty="0"/>
            <a:t>XML</a:t>
          </a:r>
          <a:r>
            <a:rPr lang="zh-CN" altLang="en-US" sz="1700" dirty="0"/>
            <a:t>的并行标记语言</a:t>
          </a:r>
          <a:r>
            <a:rPr lang="en-US" altLang="zh-CN" sz="1700" dirty="0"/>
            <a:t>PML</a:t>
          </a:r>
          <a:endParaRPr lang="zh-CN" altLang="en-US" sz="1700" dirty="0"/>
        </a:p>
      </dgm:t>
    </dgm:pt>
    <dgm:pt modelId="{F8725CA8-66F4-4327-98CB-588CE0181EAA}" type="parTrans" cxnId="{C4F01832-3A63-4312-AD46-CB62E5F0B3C0}">
      <dgm:prSet/>
      <dgm:spPr/>
      <dgm:t>
        <a:bodyPr/>
        <a:lstStyle/>
        <a:p>
          <a:endParaRPr lang="zh-CN" altLang="en-US"/>
        </a:p>
      </dgm:t>
    </dgm:pt>
    <dgm:pt modelId="{2A982311-27BD-4690-BC6E-E69233B4F1BC}" type="sibTrans" cxnId="{C4F01832-3A63-4312-AD46-CB62E5F0B3C0}">
      <dgm:prSet/>
      <dgm:spPr/>
      <dgm:t>
        <a:bodyPr/>
        <a:lstStyle/>
        <a:p>
          <a:endParaRPr lang="zh-CN" altLang="en-US"/>
        </a:p>
      </dgm:t>
    </dgm:pt>
    <dgm:pt modelId="{BC75437C-0CB0-4F58-BB41-5AE66F62DF8F}">
      <dgm:prSet phldrT="[文本]" custT="1"/>
      <dgm:spPr>
        <a:solidFill>
          <a:srgbClr val="44B36E"/>
        </a:solidFill>
      </dgm:spPr>
      <dgm:t>
        <a:bodyPr/>
        <a:lstStyle/>
        <a:p>
          <a:pPr algn="just"/>
          <a:r>
            <a:rPr lang="zh-CN" altLang="en-US" sz="1200" dirty="0"/>
            <a:t>    具备良好的可行性</a:t>
          </a:r>
        </a:p>
      </dgm:t>
    </dgm:pt>
    <dgm:pt modelId="{07DCB8E8-8111-47A2-A693-37A62A149244}" type="parTrans" cxnId="{92B7523F-94F4-4D19-B87F-B13C96AE362A}">
      <dgm:prSet/>
      <dgm:spPr/>
      <dgm:t>
        <a:bodyPr/>
        <a:lstStyle/>
        <a:p>
          <a:endParaRPr lang="zh-CN" altLang="en-US"/>
        </a:p>
      </dgm:t>
    </dgm:pt>
    <dgm:pt modelId="{5C4DF94E-410D-4D78-825E-0A9302F607E2}" type="sibTrans" cxnId="{92B7523F-94F4-4D19-B87F-B13C96AE362A}">
      <dgm:prSet/>
      <dgm:spPr/>
      <dgm:t>
        <a:bodyPr/>
        <a:lstStyle/>
        <a:p>
          <a:endParaRPr lang="zh-CN" altLang="en-US"/>
        </a:p>
      </dgm:t>
    </dgm:pt>
    <dgm:pt modelId="{3EC62669-90C2-49DE-A962-21CE0BE55C8C}">
      <dgm:prSet phldrT="[文本]" custT="1"/>
      <dgm:spPr>
        <a:solidFill>
          <a:srgbClr val="44B36E"/>
        </a:solidFill>
      </dgm:spPr>
      <dgm:t>
        <a:bodyPr/>
        <a:lstStyle/>
        <a:p>
          <a:pPr algn="just"/>
          <a:r>
            <a:rPr lang="zh-CN" altLang="en-US" sz="1200" dirty="0"/>
            <a:t>    接口统一，使用方便</a:t>
          </a:r>
        </a:p>
      </dgm:t>
    </dgm:pt>
    <dgm:pt modelId="{80EC9B78-DB45-4BB7-A9AA-37A5EF12258C}" type="parTrans" cxnId="{2892E741-AFFC-40B1-AB07-1226D0ACB432}">
      <dgm:prSet/>
      <dgm:spPr/>
      <dgm:t>
        <a:bodyPr/>
        <a:lstStyle/>
        <a:p>
          <a:endParaRPr lang="zh-CN" altLang="en-US"/>
        </a:p>
      </dgm:t>
    </dgm:pt>
    <dgm:pt modelId="{EDE39DC7-5630-48EE-BD54-171691B7F4EB}" type="sibTrans" cxnId="{2892E741-AFFC-40B1-AB07-1226D0ACB432}">
      <dgm:prSet/>
      <dgm:spPr/>
      <dgm:t>
        <a:bodyPr/>
        <a:lstStyle/>
        <a:p>
          <a:endParaRPr lang="zh-CN" altLang="en-US"/>
        </a:p>
      </dgm:t>
    </dgm:pt>
    <dgm:pt modelId="{67A36E36-8913-4DA8-A49D-70F31E225469}">
      <dgm:prSet phldrT="[文本]" custT="1"/>
      <dgm:spPr>
        <a:solidFill>
          <a:srgbClr val="44B36E"/>
        </a:solidFill>
      </dgm:spPr>
      <dgm:t>
        <a:bodyPr/>
        <a:lstStyle/>
        <a:p>
          <a:pPr algn="just"/>
          <a:r>
            <a:rPr lang="zh-CN" altLang="en-US" sz="1200" dirty="0"/>
            <a:t>    依托并行编程辅助平台</a:t>
          </a:r>
        </a:p>
      </dgm:t>
    </dgm:pt>
    <dgm:pt modelId="{ACA80A5A-5088-4F2F-811D-F68F116C4110}" type="parTrans" cxnId="{DFA94DF3-FC0D-4BF4-A529-9CCC5C6171B8}">
      <dgm:prSet/>
      <dgm:spPr/>
      <dgm:t>
        <a:bodyPr/>
        <a:lstStyle/>
        <a:p>
          <a:endParaRPr lang="zh-CN" altLang="en-US"/>
        </a:p>
      </dgm:t>
    </dgm:pt>
    <dgm:pt modelId="{744140E9-AE83-4298-B7FA-F056120B2F17}" type="sibTrans" cxnId="{DFA94DF3-FC0D-4BF4-A529-9CCC5C6171B8}">
      <dgm:prSet/>
      <dgm:spPr/>
      <dgm:t>
        <a:bodyPr/>
        <a:lstStyle/>
        <a:p>
          <a:endParaRPr lang="zh-CN" altLang="en-US"/>
        </a:p>
      </dgm:t>
    </dgm:pt>
    <dgm:pt modelId="{297FBF44-1977-4B8E-B452-E9A44DB5516E}" type="pres">
      <dgm:prSet presAssocID="{E3394346-EDAC-47FF-9FD8-BEA647CBC7FA}" presName="Name0" presStyleCnt="0">
        <dgm:presLayoutVars>
          <dgm:chPref val="1"/>
          <dgm:dir/>
          <dgm:animOne val="branch"/>
          <dgm:animLvl val="lvl"/>
          <dgm:resizeHandles val="exact"/>
        </dgm:presLayoutVars>
      </dgm:prSet>
      <dgm:spPr/>
    </dgm:pt>
    <dgm:pt modelId="{FC6A5861-1549-48C6-A2A1-4B27A4DF6DD2}" type="pres">
      <dgm:prSet presAssocID="{1C074CD7-620E-4036-9235-7F5D1BA2C8C2}" presName="root1" presStyleCnt="0"/>
      <dgm:spPr/>
    </dgm:pt>
    <dgm:pt modelId="{C290C05F-455B-4D2C-B38C-CF13ED8C75AC}" type="pres">
      <dgm:prSet presAssocID="{1C074CD7-620E-4036-9235-7F5D1BA2C8C2}" presName="LevelOneTextNode" presStyleLbl="node0" presStyleIdx="0" presStyleCnt="1" custAng="5400000" custScaleX="196933" custScaleY="83976" custLinFactX="-100000" custLinFactNeighborX="-129308">
        <dgm:presLayoutVars>
          <dgm:chPref val="3"/>
        </dgm:presLayoutVars>
      </dgm:prSet>
      <dgm:spPr/>
    </dgm:pt>
    <dgm:pt modelId="{251FB291-C57F-4E1A-A60F-E20ACFF4A7D0}" type="pres">
      <dgm:prSet presAssocID="{1C074CD7-620E-4036-9235-7F5D1BA2C8C2}" presName="level2hierChild" presStyleCnt="0"/>
      <dgm:spPr/>
    </dgm:pt>
    <dgm:pt modelId="{B9DA0F9E-26FF-4F53-8BAF-EBF5C7D70DA6}" type="pres">
      <dgm:prSet presAssocID="{07DCB8E8-8111-47A2-A693-37A62A149244}" presName="conn2-1" presStyleLbl="parChTrans1D2" presStyleIdx="0" presStyleCnt="3"/>
      <dgm:spPr/>
    </dgm:pt>
    <dgm:pt modelId="{66051E95-34F9-4A7D-9138-DAB1464C3A6B}" type="pres">
      <dgm:prSet presAssocID="{07DCB8E8-8111-47A2-A693-37A62A149244}" presName="connTx" presStyleLbl="parChTrans1D2" presStyleIdx="0" presStyleCnt="3"/>
      <dgm:spPr/>
    </dgm:pt>
    <dgm:pt modelId="{39B02439-1C90-4315-9779-442A77633CB6}" type="pres">
      <dgm:prSet presAssocID="{BC75437C-0CB0-4F58-BB41-5AE66F62DF8F}" presName="root2" presStyleCnt="0"/>
      <dgm:spPr/>
    </dgm:pt>
    <dgm:pt modelId="{05B06D2F-3FA8-4ED7-887B-0816577BB09A}" type="pres">
      <dgm:prSet presAssocID="{BC75437C-0CB0-4F58-BB41-5AE66F62DF8F}" presName="LevelTwoTextNode" presStyleLbl="node2" presStyleIdx="0" presStyleCnt="3" custScaleX="133996" custLinFactNeighborX="80939" custLinFactNeighborY="222">
        <dgm:presLayoutVars>
          <dgm:chPref val="3"/>
        </dgm:presLayoutVars>
      </dgm:prSet>
      <dgm:spPr/>
    </dgm:pt>
    <dgm:pt modelId="{56BCADFB-6D8F-4CDA-A9D3-B7D473659C4B}" type="pres">
      <dgm:prSet presAssocID="{BC75437C-0CB0-4F58-BB41-5AE66F62DF8F}" presName="level3hierChild" presStyleCnt="0"/>
      <dgm:spPr/>
    </dgm:pt>
    <dgm:pt modelId="{84171F6C-1A21-4F09-AEA3-21F9349D2E4E}" type="pres">
      <dgm:prSet presAssocID="{80EC9B78-DB45-4BB7-A9AA-37A5EF12258C}" presName="conn2-1" presStyleLbl="parChTrans1D2" presStyleIdx="1" presStyleCnt="3"/>
      <dgm:spPr/>
    </dgm:pt>
    <dgm:pt modelId="{8E411251-9C21-49EA-BDA2-7FF1AAE87F9F}" type="pres">
      <dgm:prSet presAssocID="{80EC9B78-DB45-4BB7-A9AA-37A5EF12258C}" presName="connTx" presStyleLbl="parChTrans1D2" presStyleIdx="1" presStyleCnt="3"/>
      <dgm:spPr/>
    </dgm:pt>
    <dgm:pt modelId="{86CA0AE7-A324-43C2-82F8-F9CE156B8B26}" type="pres">
      <dgm:prSet presAssocID="{3EC62669-90C2-49DE-A962-21CE0BE55C8C}" presName="root2" presStyleCnt="0"/>
      <dgm:spPr/>
    </dgm:pt>
    <dgm:pt modelId="{102A9F4A-DBF6-48C8-B93B-443480CADB00}" type="pres">
      <dgm:prSet presAssocID="{3EC62669-90C2-49DE-A962-21CE0BE55C8C}" presName="LevelTwoTextNode" presStyleLbl="node2" presStyleIdx="1" presStyleCnt="3" custScaleX="134628" custLinFactNeighborX="79604" custLinFactNeighborY="222">
        <dgm:presLayoutVars>
          <dgm:chPref val="3"/>
        </dgm:presLayoutVars>
      </dgm:prSet>
      <dgm:spPr/>
    </dgm:pt>
    <dgm:pt modelId="{4A867583-497F-45C2-8049-8B168457D83F}" type="pres">
      <dgm:prSet presAssocID="{3EC62669-90C2-49DE-A962-21CE0BE55C8C}" presName="level3hierChild" presStyleCnt="0"/>
      <dgm:spPr/>
    </dgm:pt>
    <dgm:pt modelId="{621A2A29-09D4-4836-8010-A5C251BFA7F0}" type="pres">
      <dgm:prSet presAssocID="{ACA80A5A-5088-4F2F-811D-F68F116C4110}" presName="conn2-1" presStyleLbl="parChTrans1D2" presStyleIdx="2" presStyleCnt="3"/>
      <dgm:spPr/>
    </dgm:pt>
    <dgm:pt modelId="{6478D9E2-D8ED-4133-8253-32E4ACC31251}" type="pres">
      <dgm:prSet presAssocID="{ACA80A5A-5088-4F2F-811D-F68F116C4110}" presName="connTx" presStyleLbl="parChTrans1D2" presStyleIdx="2" presStyleCnt="3"/>
      <dgm:spPr/>
    </dgm:pt>
    <dgm:pt modelId="{A329834B-C30E-4185-B3A3-42D3C35D7519}" type="pres">
      <dgm:prSet presAssocID="{67A36E36-8913-4DA8-A49D-70F31E225469}" presName="root2" presStyleCnt="0"/>
      <dgm:spPr/>
    </dgm:pt>
    <dgm:pt modelId="{49DDB80D-4DD1-4384-BA8B-E8406140E6A7}" type="pres">
      <dgm:prSet presAssocID="{67A36E36-8913-4DA8-A49D-70F31E225469}" presName="LevelTwoTextNode" presStyleLbl="node2" presStyleIdx="2" presStyleCnt="3" custScaleX="133969" custLinFactNeighborX="81285" custLinFactNeighborY="222">
        <dgm:presLayoutVars>
          <dgm:chPref val="3"/>
        </dgm:presLayoutVars>
      </dgm:prSet>
      <dgm:spPr/>
    </dgm:pt>
    <dgm:pt modelId="{2790F186-04D3-4C48-AA75-A8B865298868}" type="pres">
      <dgm:prSet presAssocID="{67A36E36-8913-4DA8-A49D-70F31E225469}" presName="level3hierChild" presStyleCnt="0"/>
      <dgm:spPr/>
    </dgm:pt>
  </dgm:ptLst>
  <dgm:cxnLst>
    <dgm:cxn modelId="{D2666604-8449-4CA0-81AB-7ED127768497}" type="presOf" srcId="{BC75437C-0CB0-4F58-BB41-5AE66F62DF8F}" destId="{05B06D2F-3FA8-4ED7-887B-0816577BB09A}" srcOrd="0" destOrd="0" presId="urn:microsoft.com/office/officeart/2008/layout/HorizontalMultiLevelHierarchy"/>
    <dgm:cxn modelId="{1BA2DD0F-EE1F-4EFE-A556-EE6F2FB824CA}" type="presOf" srcId="{3EC62669-90C2-49DE-A962-21CE0BE55C8C}" destId="{102A9F4A-DBF6-48C8-B93B-443480CADB00}" srcOrd="0" destOrd="0" presId="urn:microsoft.com/office/officeart/2008/layout/HorizontalMultiLevelHierarchy"/>
    <dgm:cxn modelId="{2C9C331E-5964-4563-A43A-32A615A9F1B7}" type="presOf" srcId="{1C074CD7-620E-4036-9235-7F5D1BA2C8C2}" destId="{C290C05F-455B-4D2C-B38C-CF13ED8C75AC}" srcOrd="0" destOrd="0" presId="urn:microsoft.com/office/officeart/2008/layout/HorizontalMultiLevelHierarchy"/>
    <dgm:cxn modelId="{C4F01832-3A63-4312-AD46-CB62E5F0B3C0}" srcId="{E3394346-EDAC-47FF-9FD8-BEA647CBC7FA}" destId="{1C074CD7-620E-4036-9235-7F5D1BA2C8C2}" srcOrd="0" destOrd="0" parTransId="{F8725CA8-66F4-4327-98CB-588CE0181EAA}" sibTransId="{2A982311-27BD-4690-BC6E-E69233B4F1BC}"/>
    <dgm:cxn modelId="{67F7333C-CFE3-463C-BE8E-35FE33FD232A}" type="presOf" srcId="{ACA80A5A-5088-4F2F-811D-F68F116C4110}" destId="{6478D9E2-D8ED-4133-8253-32E4ACC31251}" srcOrd="1" destOrd="0" presId="urn:microsoft.com/office/officeart/2008/layout/HorizontalMultiLevelHierarchy"/>
    <dgm:cxn modelId="{92B7523F-94F4-4D19-B87F-B13C96AE362A}" srcId="{1C074CD7-620E-4036-9235-7F5D1BA2C8C2}" destId="{BC75437C-0CB0-4F58-BB41-5AE66F62DF8F}" srcOrd="0" destOrd="0" parTransId="{07DCB8E8-8111-47A2-A693-37A62A149244}" sibTransId="{5C4DF94E-410D-4D78-825E-0A9302F607E2}"/>
    <dgm:cxn modelId="{2892E741-AFFC-40B1-AB07-1226D0ACB432}" srcId="{1C074CD7-620E-4036-9235-7F5D1BA2C8C2}" destId="{3EC62669-90C2-49DE-A962-21CE0BE55C8C}" srcOrd="1" destOrd="0" parTransId="{80EC9B78-DB45-4BB7-A9AA-37A5EF12258C}" sibTransId="{EDE39DC7-5630-48EE-BD54-171691B7F4EB}"/>
    <dgm:cxn modelId="{308B2B42-D00C-4047-97BB-4DDAE5B59F2A}" type="presOf" srcId="{07DCB8E8-8111-47A2-A693-37A62A149244}" destId="{66051E95-34F9-4A7D-9138-DAB1464C3A6B}" srcOrd="1" destOrd="0" presId="urn:microsoft.com/office/officeart/2008/layout/HorizontalMultiLevelHierarchy"/>
    <dgm:cxn modelId="{54305452-7160-4C4C-A530-3BB8AC2A0F2E}" type="presOf" srcId="{80EC9B78-DB45-4BB7-A9AA-37A5EF12258C}" destId="{84171F6C-1A21-4F09-AEA3-21F9349D2E4E}" srcOrd="0" destOrd="0" presId="urn:microsoft.com/office/officeart/2008/layout/HorizontalMultiLevelHierarchy"/>
    <dgm:cxn modelId="{520F5283-E987-437E-AF2D-5FE5E9B982F8}" type="presOf" srcId="{67A36E36-8913-4DA8-A49D-70F31E225469}" destId="{49DDB80D-4DD1-4384-BA8B-E8406140E6A7}" srcOrd="0" destOrd="0" presId="urn:microsoft.com/office/officeart/2008/layout/HorizontalMultiLevelHierarchy"/>
    <dgm:cxn modelId="{5EF92A95-CCD5-4370-91B9-3A71701E088E}" type="presOf" srcId="{07DCB8E8-8111-47A2-A693-37A62A149244}" destId="{B9DA0F9E-26FF-4F53-8BAF-EBF5C7D70DA6}" srcOrd="0" destOrd="0" presId="urn:microsoft.com/office/officeart/2008/layout/HorizontalMultiLevelHierarchy"/>
    <dgm:cxn modelId="{0088CB9E-6D5F-49D5-B2F4-E780A74C707A}" type="presOf" srcId="{ACA80A5A-5088-4F2F-811D-F68F116C4110}" destId="{621A2A29-09D4-4836-8010-A5C251BFA7F0}" srcOrd="0" destOrd="0" presId="urn:microsoft.com/office/officeart/2008/layout/HorizontalMultiLevelHierarchy"/>
    <dgm:cxn modelId="{697C9ED5-1611-4620-B934-6F71C8EA0502}" type="presOf" srcId="{E3394346-EDAC-47FF-9FD8-BEA647CBC7FA}" destId="{297FBF44-1977-4B8E-B452-E9A44DB5516E}" srcOrd="0" destOrd="0" presId="urn:microsoft.com/office/officeart/2008/layout/HorizontalMultiLevelHierarchy"/>
    <dgm:cxn modelId="{79C038E2-4874-497B-9B74-94EB662CF45E}" type="presOf" srcId="{80EC9B78-DB45-4BB7-A9AA-37A5EF12258C}" destId="{8E411251-9C21-49EA-BDA2-7FF1AAE87F9F}" srcOrd="1" destOrd="0" presId="urn:microsoft.com/office/officeart/2008/layout/HorizontalMultiLevelHierarchy"/>
    <dgm:cxn modelId="{DFA94DF3-FC0D-4BF4-A529-9CCC5C6171B8}" srcId="{1C074CD7-620E-4036-9235-7F5D1BA2C8C2}" destId="{67A36E36-8913-4DA8-A49D-70F31E225469}" srcOrd="2" destOrd="0" parTransId="{ACA80A5A-5088-4F2F-811D-F68F116C4110}" sibTransId="{744140E9-AE83-4298-B7FA-F056120B2F17}"/>
    <dgm:cxn modelId="{4BBC7406-583A-45BC-9B76-DF8CA732377C}" type="presParOf" srcId="{297FBF44-1977-4B8E-B452-E9A44DB5516E}" destId="{FC6A5861-1549-48C6-A2A1-4B27A4DF6DD2}" srcOrd="0" destOrd="0" presId="urn:microsoft.com/office/officeart/2008/layout/HorizontalMultiLevelHierarchy"/>
    <dgm:cxn modelId="{B88BEE7D-6767-41A1-9048-A6F0AFEDBAAE}" type="presParOf" srcId="{FC6A5861-1549-48C6-A2A1-4B27A4DF6DD2}" destId="{C290C05F-455B-4D2C-B38C-CF13ED8C75AC}" srcOrd="0" destOrd="0" presId="urn:microsoft.com/office/officeart/2008/layout/HorizontalMultiLevelHierarchy"/>
    <dgm:cxn modelId="{F3C0F49B-428D-4D8D-889C-2CFCC3C0B3A2}" type="presParOf" srcId="{FC6A5861-1549-48C6-A2A1-4B27A4DF6DD2}" destId="{251FB291-C57F-4E1A-A60F-E20ACFF4A7D0}" srcOrd="1" destOrd="0" presId="urn:microsoft.com/office/officeart/2008/layout/HorizontalMultiLevelHierarchy"/>
    <dgm:cxn modelId="{4D6279A8-B53A-4FEE-A2A6-0999D0A19942}" type="presParOf" srcId="{251FB291-C57F-4E1A-A60F-E20ACFF4A7D0}" destId="{B9DA0F9E-26FF-4F53-8BAF-EBF5C7D70DA6}" srcOrd="0" destOrd="0" presId="urn:microsoft.com/office/officeart/2008/layout/HorizontalMultiLevelHierarchy"/>
    <dgm:cxn modelId="{18470AC2-5536-4EAF-B2BB-FD4CD573F4C5}" type="presParOf" srcId="{B9DA0F9E-26FF-4F53-8BAF-EBF5C7D70DA6}" destId="{66051E95-34F9-4A7D-9138-DAB1464C3A6B}" srcOrd="0" destOrd="0" presId="urn:microsoft.com/office/officeart/2008/layout/HorizontalMultiLevelHierarchy"/>
    <dgm:cxn modelId="{C889699B-C8BB-4D3D-8908-CD8BB912993C}" type="presParOf" srcId="{251FB291-C57F-4E1A-A60F-E20ACFF4A7D0}" destId="{39B02439-1C90-4315-9779-442A77633CB6}" srcOrd="1" destOrd="0" presId="urn:microsoft.com/office/officeart/2008/layout/HorizontalMultiLevelHierarchy"/>
    <dgm:cxn modelId="{282F1D49-8566-49E0-A562-BC5943B11ABD}" type="presParOf" srcId="{39B02439-1C90-4315-9779-442A77633CB6}" destId="{05B06D2F-3FA8-4ED7-887B-0816577BB09A}" srcOrd="0" destOrd="0" presId="urn:microsoft.com/office/officeart/2008/layout/HorizontalMultiLevelHierarchy"/>
    <dgm:cxn modelId="{7151C941-6DB9-4F68-84DA-87EF2CB32FC6}" type="presParOf" srcId="{39B02439-1C90-4315-9779-442A77633CB6}" destId="{56BCADFB-6D8F-4CDA-A9D3-B7D473659C4B}" srcOrd="1" destOrd="0" presId="urn:microsoft.com/office/officeart/2008/layout/HorizontalMultiLevelHierarchy"/>
    <dgm:cxn modelId="{00F9EDC3-F402-4780-BA29-E6CBF116F2D7}" type="presParOf" srcId="{251FB291-C57F-4E1A-A60F-E20ACFF4A7D0}" destId="{84171F6C-1A21-4F09-AEA3-21F9349D2E4E}" srcOrd="2" destOrd="0" presId="urn:microsoft.com/office/officeart/2008/layout/HorizontalMultiLevelHierarchy"/>
    <dgm:cxn modelId="{6DB4B186-AF88-4E81-9A7F-6083ED0D6F96}" type="presParOf" srcId="{84171F6C-1A21-4F09-AEA3-21F9349D2E4E}" destId="{8E411251-9C21-49EA-BDA2-7FF1AAE87F9F}" srcOrd="0" destOrd="0" presId="urn:microsoft.com/office/officeart/2008/layout/HorizontalMultiLevelHierarchy"/>
    <dgm:cxn modelId="{7CD713D7-3A2A-41E1-A352-3B6A0F2A66DC}" type="presParOf" srcId="{251FB291-C57F-4E1A-A60F-E20ACFF4A7D0}" destId="{86CA0AE7-A324-43C2-82F8-F9CE156B8B26}" srcOrd="3" destOrd="0" presId="urn:microsoft.com/office/officeart/2008/layout/HorizontalMultiLevelHierarchy"/>
    <dgm:cxn modelId="{C26A8624-3C0E-4EA9-85EC-D6348A0FF5B3}" type="presParOf" srcId="{86CA0AE7-A324-43C2-82F8-F9CE156B8B26}" destId="{102A9F4A-DBF6-48C8-B93B-443480CADB00}" srcOrd="0" destOrd="0" presId="urn:microsoft.com/office/officeart/2008/layout/HorizontalMultiLevelHierarchy"/>
    <dgm:cxn modelId="{6C451945-4B05-4177-A0AA-609FF5376F4F}" type="presParOf" srcId="{86CA0AE7-A324-43C2-82F8-F9CE156B8B26}" destId="{4A867583-497F-45C2-8049-8B168457D83F}" srcOrd="1" destOrd="0" presId="urn:microsoft.com/office/officeart/2008/layout/HorizontalMultiLevelHierarchy"/>
    <dgm:cxn modelId="{8160C5CA-7F0C-43F2-9F06-02A48F7F7B99}" type="presParOf" srcId="{251FB291-C57F-4E1A-A60F-E20ACFF4A7D0}" destId="{621A2A29-09D4-4836-8010-A5C251BFA7F0}" srcOrd="4" destOrd="0" presId="urn:microsoft.com/office/officeart/2008/layout/HorizontalMultiLevelHierarchy"/>
    <dgm:cxn modelId="{49B77824-DC22-4C79-80EF-D87C4F4B1D90}" type="presParOf" srcId="{621A2A29-09D4-4836-8010-A5C251BFA7F0}" destId="{6478D9E2-D8ED-4133-8253-32E4ACC31251}" srcOrd="0" destOrd="0" presId="urn:microsoft.com/office/officeart/2008/layout/HorizontalMultiLevelHierarchy"/>
    <dgm:cxn modelId="{CCFC99F6-60AD-45D9-9B59-D3868B48CBFF}" type="presParOf" srcId="{251FB291-C57F-4E1A-A60F-E20ACFF4A7D0}" destId="{A329834B-C30E-4185-B3A3-42D3C35D7519}" srcOrd="5" destOrd="0" presId="urn:microsoft.com/office/officeart/2008/layout/HorizontalMultiLevelHierarchy"/>
    <dgm:cxn modelId="{9B29C60E-1146-44A7-9E1D-87A495F07ADE}" type="presParOf" srcId="{A329834B-C30E-4185-B3A3-42D3C35D7519}" destId="{49DDB80D-4DD1-4384-BA8B-E8406140E6A7}" srcOrd="0" destOrd="0" presId="urn:microsoft.com/office/officeart/2008/layout/HorizontalMultiLevelHierarchy"/>
    <dgm:cxn modelId="{ECD2F9F0-BE12-4E1B-B88C-CEEA3467CB8F}" type="presParOf" srcId="{A329834B-C30E-4185-B3A3-42D3C35D7519}" destId="{2790F186-04D3-4C48-AA75-A8B865298868}" srcOrd="1" destOrd="0" presId="urn:microsoft.com/office/officeart/2008/layout/HorizontalMultiLevelHierarchy"/>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A2A29-09D4-4836-8010-A5C251BFA7F0}">
      <dsp:nvSpPr>
        <dsp:cNvPr id="0" name=""/>
        <dsp:cNvSpPr/>
      </dsp:nvSpPr>
      <dsp:spPr>
        <a:xfrm>
          <a:off x="1391366" y="1148406"/>
          <a:ext cx="1379068" cy="545394"/>
        </a:xfrm>
        <a:custGeom>
          <a:avLst/>
          <a:gdLst/>
          <a:ahLst/>
          <a:cxnLst/>
          <a:rect l="0" t="0" r="0" b="0"/>
          <a:pathLst>
            <a:path>
              <a:moveTo>
                <a:pt x="0" y="0"/>
              </a:moveTo>
              <a:lnTo>
                <a:pt x="689534" y="0"/>
              </a:lnTo>
              <a:lnTo>
                <a:pt x="689534" y="545394"/>
              </a:lnTo>
              <a:lnTo>
                <a:pt x="1379068" y="54539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043825" y="1384028"/>
        <a:ext cx="74149" cy="74149"/>
      </dsp:txXfrm>
    </dsp:sp>
    <dsp:sp modelId="{84171F6C-1A21-4F09-AEA3-21F9349D2E4E}">
      <dsp:nvSpPr>
        <dsp:cNvPr id="0" name=""/>
        <dsp:cNvSpPr/>
      </dsp:nvSpPr>
      <dsp:spPr>
        <a:xfrm>
          <a:off x="1391366" y="1102686"/>
          <a:ext cx="1355053" cy="91440"/>
        </a:xfrm>
        <a:custGeom>
          <a:avLst/>
          <a:gdLst/>
          <a:ahLst/>
          <a:cxnLst/>
          <a:rect l="0" t="0" r="0" b="0"/>
          <a:pathLst>
            <a:path>
              <a:moveTo>
                <a:pt x="0" y="45720"/>
              </a:moveTo>
              <a:lnTo>
                <a:pt x="677526" y="45720"/>
              </a:lnTo>
              <a:lnTo>
                <a:pt x="677526" y="46686"/>
              </a:lnTo>
              <a:lnTo>
                <a:pt x="1355053" y="466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035016" y="1114529"/>
        <a:ext cx="67752" cy="67752"/>
      </dsp:txXfrm>
    </dsp:sp>
    <dsp:sp modelId="{B9DA0F9E-26FF-4F53-8BAF-EBF5C7D70DA6}">
      <dsp:nvSpPr>
        <dsp:cNvPr id="0" name=""/>
        <dsp:cNvSpPr/>
      </dsp:nvSpPr>
      <dsp:spPr>
        <a:xfrm>
          <a:off x="1391366" y="604944"/>
          <a:ext cx="1374125" cy="543461"/>
        </a:xfrm>
        <a:custGeom>
          <a:avLst/>
          <a:gdLst/>
          <a:ahLst/>
          <a:cxnLst/>
          <a:rect l="0" t="0" r="0" b="0"/>
          <a:pathLst>
            <a:path>
              <a:moveTo>
                <a:pt x="0" y="543461"/>
              </a:moveTo>
              <a:lnTo>
                <a:pt x="687062" y="543461"/>
              </a:lnTo>
              <a:lnTo>
                <a:pt x="687062" y="0"/>
              </a:lnTo>
              <a:lnTo>
                <a:pt x="1374125"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041486" y="839733"/>
        <a:ext cx="73884" cy="73884"/>
      </dsp:txXfrm>
    </dsp:sp>
    <dsp:sp modelId="{C290C05F-455B-4D2C-B38C-CF13ED8C75AC}">
      <dsp:nvSpPr>
        <dsp:cNvPr id="0" name=""/>
        <dsp:cNvSpPr/>
      </dsp:nvSpPr>
      <dsp:spPr>
        <a:xfrm>
          <a:off x="0" y="719542"/>
          <a:ext cx="1925005" cy="857726"/>
        </a:xfrm>
        <a:prstGeom prst="rect">
          <a:avLst/>
        </a:prstGeom>
        <a:solidFill>
          <a:srgbClr val="009ED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en-US" sz="1700" kern="1200" dirty="0"/>
            <a:t>基于深度学习的程序并行性识别方法</a:t>
          </a:r>
        </a:p>
      </dsp:txBody>
      <dsp:txXfrm>
        <a:off x="0" y="719542"/>
        <a:ext cx="1925005" cy="857726"/>
      </dsp:txXfrm>
    </dsp:sp>
    <dsp:sp modelId="{05B06D2F-3FA8-4ED7-887B-0816577BB09A}">
      <dsp:nvSpPr>
        <dsp:cNvPr id="0" name=""/>
        <dsp:cNvSpPr/>
      </dsp:nvSpPr>
      <dsp:spPr>
        <a:xfrm>
          <a:off x="2765491" y="387173"/>
          <a:ext cx="3872377" cy="435542"/>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直接挖掘程序特征，对程序的数学表示没有限制</a:t>
          </a:r>
        </a:p>
      </dsp:txBody>
      <dsp:txXfrm>
        <a:off x="2765491" y="387173"/>
        <a:ext cx="3872377" cy="435542"/>
      </dsp:txXfrm>
    </dsp:sp>
    <dsp:sp modelId="{102A9F4A-DBF6-48C8-B93B-443480CADB00}">
      <dsp:nvSpPr>
        <dsp:cNvPr id="0" name=""/>
        <dsp:cNvSpPr/>
      </dsp:nvSpPr>
      <dsp:spPr>
        <a:xfrm>
          <a:off x="2746419" y="931601"/>
          <a:ext cx="3891449" cy="435542"/>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基于神经网络模型预测，没有过大的时间开销</a:t>
          </a:r>
        </a:p>
      </dsp:txBody>
      <dsp:txXfrm>
        <a:off x="2746419" y="931601"/>
        <a:ext cx="3891449" cy="435542"/>
      </dsp:txXfrm>
    </dsp:sp>
    <dsp:sp modelId="{49DDB80D-4DD1-4384-BA8B-E8406140E6A7}">
      <dsp:nvSpPr>
        <dsp:cNvPr id="0" name=""/>
        <dsp:cNvSpPr/>
      </dsp:nvSpPr>
      <dsp:spPr>
        <a:xfrm>
          <a:off x="2770434" y="1476029"/>
          <a:ext cx="3867434" cy="435542"/>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构造数据集，基于大量数据学习，准确率有较高保障</a:t>
          </a:r>
        </a:p>
      </dsp:txBody>
      <dsp:txXfrm>
        <a:off x="2770434" y="1476029"/>
        <a:ext cx="3867434" cy="4355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A2A29-09D4-4836-8010-A5C251BFA7F0}">
      <dsp:nvSpPr>
        <dsp:cNvPr id="0" name=""/>
        <dsp:cNvSpPr/>
      </dsp:nvSpPr>
      <dsp:spPr>
        <a:xfrm>
          <a:off x="1333775" y="1100871"/>
          <a:ext cx="1395126" cy="522820"/>
        </a:xfrm>
        <a:custGeom>
          <a:avLst/>
          <a:gdLst/>
          <a:ahLst/>
          <a:cxnLst/>
          <a:rect l="0" t="0" r="0" b="0"/>
          <a:pathLst>
            <a:path>
              <a:moveTo>
                <a:pt x="0" y="0"/>
              </a:moveTo>
              <a:lnTo>
                <a:pt x="697563" y="0"/>
              </a:lnTo>
              <a:lnTo>
                <a:pt x="697563" y="522820"/>
              </a:lnTo>
              <a:lnTo>
                <a:pt x="1395126" y="5228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4091" y="1325034"/>
        <a:ext cx="74493" cy="74493"/>
      </dsp:txXfrm>
    </dsp:sp>
    <dsp:sp modelId="{84171F6C-1A21-4F09-AEA3-21F9349D2E4E}">
      <dsp:nvSpPr>
        <dsp:cNvPr id="0" name=""/>
        <dsp:cNvSpPr/>
      </dsp:nvSpPr>
      <dsp:spPr>
        <a:xfrm>
          <a:off x="1333775" y="1055151"/>
          <a:ext cx="1386102" cy="91440"/>
        </a:xfrm>
        <a:custGeom>
          <a:avLst/>
          <a:gdLst/>
          <a:ahLst/>
          <a:cxnLst/>
          <a:rect l="0" t="0" r="0" b="0"/>
          <a:pathLst>
            <a:path>
              <a:moveTo>
                <a:pt x="0" y="45720"/>
              </a:moveTo>
              <a:lnTo>
                <a:pt x="693051" y="45720"/>
              </a:lnTo>
              <a:lnTo>
                <a:pt x="693051" y="46646"/>
              </a:lnTo>
              <a:lnTo>
                <a:pt x="1386102" y="4664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2173" y="1066218"/>
        <a:ext cx="69305" cy="69305"/>
      </dsp:txXfrm>
    </dsp:sp>
    <dsp:sp modelId="{B9DA0F9E-26FF-4F53-8BAF-EBF5C7D70DA6}">
      <dsp:nvSpPr>
        <dsp:cNvPr id="0" name=""/>
        <dsp:cNvSpPr/>
      </dsp:nvSpPr>
      <dsp:spPr>
        <a:xfrm>
          <a:off x="1333775" y="579905"/>
          <a:ext cx="1394756" cy="520966"/>
        </a:xfrm>
        <a:custGeom>
          <a:avLst/>
          <a:gdLst/>
          <a:ahLst/>
          <a:cxnLst/>
          <a:rect l="0" t="0" r="0" b="0"/>
          <a:pathLst>
            <a:path>
              <a:moveTo>
                <a:pt x="0" y="520966"/>
              </a:moveTo>
              <a:lnTo>
                <a:pt x="697378" y="520966"/>
              </a:lnTo>
              <a:lnTo>
                <a:pt x="697378" y="0"/>
              </a:lnTo>
              <a:lnTo>
                <a:pt x="1394756"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993931" y="803166"/>
        <a:ext cx="74443" cy="74443"/>
      </dsp:txXfrm>
    </dsp:sp>
    <dsp:sp modelId="{C290C05F-455B-4D2C-B38C-CF13ED8C75AC}">
      <dsp:nvSpPr>
        <dsp:cNvPr id="0" name=""/>
        <dsp:cNvSpPr/>
      </dsp:nvSpPr>
      <dsp:spPr>
        <a:xfrm>
          <a:off x="0" y="689759"/>
          <a:ext cx="1845326" cy="822223"/>
        </a:xfrm>
        <a:prstGeom prst="rect">
          <a:avLst/>
        </a:prstGeom>
        <a:solidFill>
          <a:srgbClr val="009ED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zh-CN" altLang="en-US" sz="1700" kern="1200" dirty="0"/>
            <a:t>基于</a:t>
          </a:r>
          <a:r>
            <a:rPr lang="en-US" altLang="zh-CN" sz="1700" kern="1200" dirty="0"/>
            <a:t>XML</a:t>
          </a:r>
          <a:r>
            <a:rPr lang="zh-CN" altLang="en-US" sz="1700" kern="1200" dirty="0"/>
            <a:t>的并行标记语言</a:t>
          </a:r>
          <a:r>
            <a:rPr lang="en-US" altLang="zh-CN" sz="1700" kern="1200" dirty="0"/>
            <a:t>PML</a:t>
          </a:r>
          <a:endParaRPr lang="zh-CN" altLang="en-US" sz="1700" kern="1200" dirty="0"/>
        </a:p>
      </dsp:txBody>
      <dsp:txXfrm>
        <a:off x="0" y="689759"/>
        <a:ext cx="1845326" cy="822223"/>
      </dsp:txXfrm>
    </dsp:sp>
    <dsp:sp modelId="{05B06D2F-3FA8-4ED7-887B-0816577BB09A}">
      <dsp:nvSpPr>
        <dsp:cNvPr id="0" name=""/>
        <dsp:cNvSpPr/>
      </dsp:nvSpPr>
      <dsp:spPr>
        <a:xfrm>
          <a:off x="2728531" y="371147"/>
          <a:ext cx="1835005" cy="417514"/>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具备良好的可行性</a:t>
          </a:r>
        </a:p>
      </dsp:txBody>
      <dsp:txXfrm>
        <a:off x="2728531" y="371147"/>
        <a:ext cx="1835005" cy="417514"/>
      </dsp:txXfrm>
    </dsp:sp>
    <dsp:sp modelId="{102A9F4A-DBF6-48C8-B93B-443480CADB00}">
      <dsp:nvSpPr>
        <dsp:cNvPr id="0" name=""/>
        <dsp:cNvSpPr/>
      </dsp:nvSpPr>
      <dsp:spPr>
        <a:xfrm>
          <a:off x="2719877" y="893041"/>
          <a:ext cx="1843659" cy="417514"/>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接口统一，使用方便</a:t>
          </a:r>
        </a:p>
      </dsp:txBody>
      <dsp:txXfrm>
        <a:off x="2719877" y="893041"/>
        <a:ext cx="1843659" cy="417514"/>
      </dsp:txXfrm>
    </dsp:sp>
    <dsp:sp modelId="{49DDB80D-4DD1-4384-BA8B-E8406140E6A7}">
      <dsp:nvSpPr>
        <dsp:cNvPr id="0" name=""/>
        <dsp:cNvSpPr/>
      </dsp:nvSpPr>
      <dsp:spPr>
        <a:xfrm>
          <a:off x="2728901" y="1414934"/>
          <a:ext cx="1834635" cy="417514"/>
        </a:xfrm>
        <a:prstGeom prst="rect">
          <a:avLst/>
        </a:prstGeom>
        <a:solidFill>
          <a:srgbClr val="44B36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just" defTabSz="533400">
            <a:lnSpc>
              <a:spcPct val="90000"/>
            </a:lnSpc>
            <a:spcBef>
              <a:spcPct val="0"/>
            </a:spcBef>
            <a:spcAft>
              <a:spcPct val="35000"/>
            </a:spcAft>
            <a:buNone/>
          </a:pPr>
          <a:r>
            <a:rPr lang="zh-CN" altLang="en-US" sz="1200" kern="1200" dirty="0"/>
            <a:t>    依托并行编程辅助平台</a:t>
          </a:r>
        </a:p>
      </dsp:txBody>
      <dsp:txXfrm>
        <a:off x="2728901" y="1414934"/>
        <a:ext cx="1834635" cy="417514"/>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2020/5/6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63348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p:cNvSpPr>
            <a:spLocks noGrp="1" noRot="1" noChangeAspect="1"/>
          </p:cNvSpPr>
          <p:nvPr>
            <p:ph type="sldImg"/>
          </p:nvPr>
        </p:nvSpPr>
        <p:spPr/>
      </p:sp>
      <p:sp>
        <p:nvSpPr>
          <p:cNvPr id="14338" name="备注占位符 2"/>
          <p:cNvSpPr>
            <a:spLocks noGrp="1"/>
          </p:cNvSpPr>
          <p:nvPr>
            <p:ph type="body"/>
          </p:nvPr>
        </p:nvSpPr>
        <p:spPr/>
        <p:txBody>
          <a:bodyPr lIns="91440" tIns="45720" rIns="91440" bIns="45720" anchor="t"/>
          <a:lstStyle/>
          <a:p>
            <a:pPr lvl="0"/>
            <a:endParaRPr lang="zh-CN" altLang="en-US" dirty="0"/>
          </a:p>
        </p:txBody>
      </p:sp>
      <p:sp>
        <p:nvSpPr>
          <p:cNvPr id="14339"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1</a:t>
            </a:fld>
            <a:endParaRPr lang="zh-CN" altLang="en-US"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85471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接下来从三个方面开展我的叙述</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1346571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多核技术的发展为计算机性能带来了巨大的提升空间</a:t>
            </a:r>
            <a:endParaRPr lang="en-US" altLang="zh-CN" dirty="0"/>
          </a:p>
          <a:p>
            <a:r>
              <a:rPr lang="zh-CN" altLang="en-US" dirty="0"/>
              <a:t>为了更好的利用这一潜力，并行化成为了新的趋势，与其相关的研究也十分活跃。</a:t>
            </a:r>
            <a:endParaRPr lang="en-US" altLang="zh-CN" dirty="0"/>
          </a:p>
          <a:p>
            <a:r>
              <a:rPr lang="zh-CN" altLang="en-US" dirty="0"/>
              <a:t>并行化技术也成为了。。。。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8493515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a:t>
            </a:r>
            <a:endParaRPr lang="en-US" altLang="zh-CN" dirty="0"/>
          </a:p>
          <a:p>
            <a:r>
              <a:rPr lang="zh-CN" altLang="en-US" dirty="0"/>
              <a:t>通过对相关领域中程序特征和并行化需求进行分析，对比现有的并行化技术，可以发现。</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3629549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并不简单</a:t>
            </a:r>
            <a:endParaRPr lang="en-US" altLang="zh-CN" dirty="0"/>
          </a:p>
          <a:p>
            <a:r>
              <a:rPr lang="zh-CN" altLang="en-US" dirty="0"/>
              <a:t>主要体现在并行性识别和并行程序开发两个方面</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681802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因此，本文提出了。。。。</a:t>
            </a:r>
            <a:endParaRPr lang="en-US" altLang="zh-CN" dirty="0"/>
          </a:p>
          <a:p>
            <a:r>
              <a:rPr lang="zh-CN" altLang="en-US" dirty="0"/>
              <a:t>其中包括两个部分，也是本文的两个创新点所在。</a:t>
            </a:r>
            <a:endParaRPr lang="en-US" altLang="zh-CN" dirty="0"/>
          </a:p>
          <a:p>
            <a:r>
              <a:rPr lang="zh-CN" altLang="en-US" dirty="0"/>
              <a:t>在并行性识别方面，本文构造了一个用于并行性识别的数据集，提出了一个基于深度学习的程序并行性识别方法，。。。</a:t>
            </a:r>
            <a:endParaRPr lang="en-US" altLang="zh-CN" dirty="0"/>
          </a:p>
          <a:p>
            <a:r>
              <a:rPr lang="zh-CN" altLang="en-US" dirty="0"/>
              <a:t>在并行程序开发方面，本文实现了</a:t>
            </a:r>
            <a:r>
              <a:rPr lang="en-US" altLang="zh-CN" dirty="0"/>
              <a:t>PML</a:t>
            </a:r>
            <a:r>
              <a:rPr lang="zh-CN" altLang="en-US" dirty="0"/>
              <a:t>和编程平台。。。。</a:t>
            </a:r>
            <a:endParaRPr lang="en-US" altLang="zh-CN" dirty="0"/>
          </a:p>
          <a:p>
            <a:r>
              <a:rPr lang="zh-CN" altLang="en-US" dirty="0"/>
              <a:t>接下来也将从这两个方面对论文主要工作进行介绍</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09606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首先时并行性识别方面，其中包括了数据集和识别模型两个部分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305012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数据对于深度学习任务来说至关重要。</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266341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在目前与程序并行性识别相关的研究中，所使用的数据集普遍存在。。。。的特点，因此目前并没有。。。</a:t>
            </a:r>
            <a:endParaRPr lang="en-US" altLang="zh-CN" dirty="0"/>
          </a:p>
          <a:p>
            <a:r>
              <a:rPr lang="zh-CN" altLang="en-US" dirty="0"/>
              <a:t>所以，需要构造一个数据量大、分类明确、数据格式合理的新数据集，我们希望它是一个。。。。</a:t>
            </a:r>
            <a:endParaRPr lang="en-US" altLang="zh-CN" dirty="0"/>
          </a:p>
          <a:p>
            <a:r>
              <a:rPr lang="zh-CN" altLang="en-US" dirty="0"/>
              <a:t>本文通过、、、、四个步骤，构造了一个新的数据集</a:t>
            </a:r>
            <a:r>
              <a:rPr lang="en-US" altLang="zh-CN" dirty="0"/>
              <a:t>GFCPD</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500776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在数据搜集方面，覆盖了、、、、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1597244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由于程序的并行潜力大多存在于循环片段中，为了识别源码中每一个循环片段的并行性，</a:t>
            </a:r>
            <a:endParaRPr lang="en-US" altLang="zh-CN" dirty="0"/>
          </a:p>
          <a:p>
            <a:r>
              <a:rPr lang="zh-CN" altLang="en-US" dirty="0"/>
              <a:t>数据提取将一份源码文件分解重构为若干个仅包含一个循环片段的新代码文件。</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706395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使用基于</a:t>
            </a:r>
            <a:r>
              <a:rPr lang="en-US" altLang="zh-CN" dirty="0"/>
              <a:t>LLVM IR</a:t>
            </a:r>
            <a:r>
              <a:rPr lang="zh-CN" altLang="en-US" dirty="0"/>
              <a:t>的程序上下文流图，作为数据表示格式</a:t>
            </a:r>
            <a:endParaRPr lang="en-US" altLang="zh-CN" dirty="0"/>
          </a:p>
          <a:p>
            <a:r>
              <a:rPr lang="zh-CN" altLang="en-US" dirty="0"/>
              <a:t>本文研究中，将</a:t>
            </a:r>
            <a:r>
              <a:rPr lang="en-US" altLang="zh-CN" dirty="0"/>
              <a:t>IR</a:t>
            </a:r>
            <a:r>
              <a:rPr lang="zh-CN" altLang="en-US" dirty="0"/>
              <a:t>中的一行作为一个节点来构造</a:t>
            </a:r>
            <a:r>
              <a:rPr lang="en-US" altLang="zh-CN" dirty="0"/>
              <a:t>XFG</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构造时遵循四条规则</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3621332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数据集明确分为可并行和不可并行两类，每一个数据均有</a:t>
            </a:r>
            <a:r>
              <a:rPr lang="en-US" altLang="zh-CN" dirty="0"/>
              <a:t>XFG</a:t>
            </a:r>
            <a:r>
              <a:rPr lang="zh-CN" altLang="en-US" dirty="0"/>
              <a:t>和</a:t>
            </a:r>
            <a:r>
              <a:rPr lang="en-US" altLang="zh-CN" dirty="0"/>
              <a:t>tag</a:t>
            </a:r>
            <a:r>
              <a:rPr lang="zh-CN" altLang="en-US" dirty="0"/>
              <a:t>两个属性。</a:t>
            </a:r>
            <a:endParaRPr lang="en-US" altLang="zh-CN" dirty="0"/>
          </a:p>
          <a:p>
            <a:r>
              <a:rPr lang="zh-CN" altLang="en-US" dirty="0"/>
              <a:t>数据集构造到此结束，为了保证通用性，没有做其他处理。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4178833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通过对相关的图数据集进行对比分析，我们希望</a:t>
            </a:r>
            <a:r>
              <a:rPr lang="en-US" altLang="zh-CN" dirty="0"/>
              <a:t>GFCPD</a:t>
            </a:r>
            <a:r>
              <a:rPr lang="zh-CN" altLang="en-US" dirty="0"/>
              <a:t>的数据特征不低于其平均水平。</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4054418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通过统计发现，异常。。。。</a:t>
            </a:r>
            <a:endParaRPr lang="en-US" altLang="zh-CN" dirty="0"/>
          </a:p>
          <a:p>
            <a:r>
              <a:rPr lang="zh-CN" altLang="en-US" dirty="0"/>
              <a:t>因此。。。</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2156875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1810171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考虑到构造数据集有很多人工因素，因此我们假设。。。</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19511533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p:cNvSpPr>
          <p:nvPr>
            <p:ph type="sldImg"/>
          </p:nvPr>
        </p:nvSpPr>
        <p:spPr/>
      </p:sp>
      <p:sp>
        <p:nvSpPr>
          <p:cNvPr id="43010" name="备注占位符 2"/>
          <p:cNvSpPr>
            <a:spLocks noGrp="1"/>
          </p:cNvSpPr>
          <p:nvPr>
            <p:ph type="body"/>
          </p:nvPr>
        </p:nvSpPr>
        <p:spPr/>
        <p:txBody>
          <a:bodyPr lIns="91440" tIns="45720" rIns="91440" bIns="45720" anchor="t"/>
          <a:lstStyle/>
          <a:p>
            <a:pPr lvl="0"/>
            <a:endParaRPr lang="zh-CN" altLang="en-US"/>
          </a:p>
        </p:txBody>
      </p:sp>
      <p:sp>
        <p:nvSpPr>
          <p:cNvPr id="43011"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lstStyle/>
          <a:p>
            <a:pPr lvl="0" indent="0" algn="r"/>
            <a:fld id="{9A0DB2DC-4C9A-4742-B13C-FB6460FD3503}" type="slidenum">
              <a:rPr lang="zh-CN" altLang="en-US" sz="1200">
                <a:latin typeface="Arial" panose="020B0604020202020204" pitchFamily="34" charset="0"/>
                <a:ea typeface="宋体" panose="02010600030101010101" pitchFamily="2" charset="-122"/>
              </a:rPr>
              <a:t>47</a:t>
            </a:fld>
            <a:endParaRPr lang="zh-CN" altLang="en-US" sz="120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81269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slideMaster" Target="../slideMasters/slideMaster1.xml"/><Relationship Id="rId5" Type="http://schemas.openxmlformats.org/officeDocument/2006/relationships/tags" Target="../tags/tag8.xml"/><Relationship Id="rId4"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Master" Target="../slideMasters/slideMaster1.xml"/><Relationship Id="rId5" Type="http://schemas.openxmlformats.org/officeDocument/2006/relationships/tags" Target="../tags/tag13.xml"/><Relationship Id="rId4" Type="http://schemas.openxmlformats.org/officeDocument/2006/relationships/tags" Target="../tags/tag1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flipH="1">
            <a:off x="1631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2"/>
            </p:custDataLst>
          </p:nvPr>
        </p:nvCxnSpPr>
        <p:spPr>
          <a:xfrm>
            <a:off x="1631585" y="2307814"/>
            <a:ext cx="0" cy="218290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618039" y="4500880"/>
            <a:ext cx="89612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4"/>
            </p:custDataLst>
          </p:nvPr>
        </p:nvCxnSpPr>
        <p:spPr>
          <a:xfrm flipH="1">
            <a:off x="7727585" y="2307814"/>
            <a:ext cx="28516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0572385" y="2317974"/>
            <a:ext cx="0" cy="2182906"/>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268279" y="2683891"/>
            <a:ext cx="7655443" cy="1089529"/>
          </a:xfrm>
        </p:spPr>
        <p:txBody>
          <a:bodyPr wrap="square" anchor="b">
            <a:normAutofit/>
          </a:bodyPr>
          <a:lstStyle>
            <a:lvl1pPr algn="ctr">
              <a:defRPr sz="5400"/>
            </a:lvl1pPr>
          </a:lstStyle>
          <a:p>
            <a:r>
              <a:rPr lang="zh-CN" altLang="en-US" dirty="0"/>
              <a:t>单击此处编辑标题</a:t>
            </a:r>
          </a:p>
        </p:txBody>
      </p:sp>
      <p:sp>
        <p:nvSpPr>
          <p:cNvPr id="3" name="副标题 2"/>
          <p:cNvSpPr>
            <a:spLocks noGrp="1"/>
          </p:cNvSpPr>
          <p:nvPr>
            <p:ph type="subTitle" idx="1"/>
          </p:nvPr>
        </p:nvSpPr>
        <p:spPr>
          <a:xfrm>
            <a:off x="2268279" y="3814695"/>
            <a:ext cx="7655443" cy="424732"/>
          </a:xfrm>
        </p:spPr>
        <p:txBody>
          <a:bodyPr wrap="square">
            <a:normAutofit/>
          </a:bodyPr>
          <a:lstStyle>
            <a:lvl1pPr marL="0" indent="0" algn="dist">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r>
              <a:rPr lang="zh-CN" altLang="en-US" dirty="0"/>
              <a:t>单击此处编辑标题</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a:r>
              <a:rPr lang="zh-CN" altLang="en-US" dirty="0"/>
              <a:t>单击此处编辑文本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172200" y="1825625"/>
            <a:ext cx="5181600" cy="4351338"/>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6"/>
            <a:ext cx="10515600" cy="1325563"/>
          </a:xfrm>
        </p:spPr>
        <p:txBody>
          <a:bodyPr>
            <a:normAutofit/>
          </a:bodyPr>
          <a:lstStyle/>
          <a:p>
            <a:r>
              <a:rPr lang="zh-CN" altLang="en-US"/>
              <a:t>单击此处编辑母版标题样式</a:t>
            </a:r>
          </a:p>
        </p:txBody>
      </p:sp>
      <p:sp>
        <p:nvSpPr>
          <p:cNvPr id="3" name="文本占位符 2"/>
          <p:cNvSpPr>
            <a:spLocks noGrp="1"/>
          </p:cNvSpPr>
          <p:nvPr>
            <p:ph type="body" idx="1"/>
          </p:nvPr>
        </p:nvSpPr>
        <p:spPr>
          <a:xfrm>
            <a:off x="839789" y="1744961"/>
            <a:ext cx="5157787"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4" name="内容占位符 3"/>
          <p:cNvSpPr>
            <a:spLocks noGrp="1"/>
          </p:cNvSpPr>
          <p:nvPr>
            <p:ph sz="half" idx="2"/>
          </p:nvPr>
        </p:nvSpPr>
        <p:spPr>
          <a:xfrm>
            <a:off x="839789" y="2615609"/>
            <a:ext cx="5157787"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4944" y="3048593"/>
            <a:ext cx="7755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4944" y="3048593"/>
            <a:ext cx="1" cy="121693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4944" y="4265528"/>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077" y="3048593"/>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0811" y="3048593"/>
            <a:ext cx="0" cy="1216935"/>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r>
              <a:rPr lang="zh-CN" altLang="en-US" dirty="0"/>
              <a:t>编辑标题</a:t>
            </a: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a:r>
              <a:rPr lang="zh-CN" altLang="en-US" dirty="0"/>
              <a:t>单击此处编辑文本</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9788" y="711200"/>
            <a:ext cx="42624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5352521" y="733425"/>
            <a:ext cx="61704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839788" y="2311400"/>
            <a:ext cx="42624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t>2020/5/6</a:t>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27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t>2020/5/6</a:t>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518389" y="3078832"/>
            <a:ext cx="9142523" cy="1089529"/>
          </a:xfrm>
        </p:spPr>
        <p:txBody>
          <a:bodyPr anchor="t" anchorCtr="0">
            <a:normAutofit/>
          </a:bodyPr>
          <a:lstStyle>
            <a:lvl1pPr algn="ctr">
              <a:defRPr sz="5400"/>
            </a:lvl1pPr>
          </a:lstStyle>
          <a:p>
            <a:pPr fontAlgn="auto"/>
            <a:r>
              <a:rPr lang="zh-CN" altLang="en-US" strike="noStrike" noProof="1"/>
              <a:t>单击此处编辑标题</a:t>
            </a:r>
          </a:p>
        </p:txBody>
      </p:sp>
      <p:sp>
        <p:nvSpPr>
          <p:cNvPr id="8" name="内容占位符 7"/>
          <p:cNvSpPr>
            <a:spLocks noGrp="1"/>
          </p:cNvSpPr>
          <p:nvPr>
            <p:ph sz="quarter" idx="13" hasCustomPrompt="1"/>
          </p:nvPr>
        </p:nvSpPr>
        <p:spPr>
          <a:xfrm>
            <a:off x="1517651" y="2221766"/>
            <a:ext cx="9156700" cy="830997"/>
          </a:xfrm>
        </p:spPr>
        <p:txBody>
          <a:bodyPr anchor="b" anchorCtr="0">
            <a:normAutofit/>
          </a:bodyPr>
          <a:lstStyle>
            <a:lvl1pPr marL="0" indent="0" algn="ctr">
              <a:buNone/>
              <a:defRPr sz="4000"/>
            </a:lvl1pPr>
          </a:lstStyle>
          <a:p>
            <a:pPr lvl="0" fontAlgn="auto"/>
            <a:r>
              <a:rPr lang="zh-CN" altLang="en-US" strike="noStrike" noProof="1"/>
              <a:t>单击此处编辑文本</a:t>
            </a:r>
          </a:p>
        </p:txBody>
      </p:sp>
      <p:sp>
        <p:nvSpPr>
          <p:cNvPr id="4" name="日期占位符 3"/>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2020/5/6</a:t>
            </a:fld>
            <a:endParaRPr lang="zh-CN" altLang="en-US" strike="noStrike" noProof="1"/>
          </a:p>
        </p:txBody>
      </p:sp>
      <p:sp>
        <p:nvSpPr>
          <p:cNvPr id="5" name="页脚占位符 4"/>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6" name="灯片编号占位符 5"/>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custDataLst>
              <p:tags r:id="rId1"/>
            </p:custDataLst>
          </p:nvPr>
        </p:nvCxnSpPr>
        <p:spPr>
          <a:xfrm flipH="1">
            <a:off x="2495551" y="3048000"/>
            <a:ext cx="774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495551" y="3048000"/>
            <a:ext cx="0" cy="1217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3"/>
            </p:custDataLst>
          </p:nvPr>
        </p:nvCxnSpPr>
        <p:spPr>
          <a:xfrm>
            <a:off x="2495551" y="4265613"/>
            <a:ext cx="71458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4"/>
            </p:custDataLst>
          </p:nvPr>
        </p:nvCxnSpPr>
        <p:spPr>
          <a:xfrm flipH="1">
            <a:off x="8811684" y="3048000"/>
            <a:ext cx="8297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5"/>
            </p:custDataLst>
          </p:nvPr>
        </p:nvCxnSpPr>
        <p:spPr>
          <a:xfrm>
            <a:off x="9641417" y="3048000"/>
            <a:ext cx="0" cy="1217613"/>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nvPr>
        </p:nvSpPr>
        <p:spPr>
          <a:xfrm>
            <a:off x="3322871" y="2251982"/>
            <a:ext cx="5430147" cy="1325563"/>
          </a:xfrm>
        </p:spPr>
        <p:txBody>
          <a:bodyPr anchor="b" anchorCtr="0">
            <a:normAutofit/>
          </a:bodyPr>
          <a:lstStyle>
            <a:lvl1pPr algn="ctr">
              <a:defRPr sz="6600"/>
            </a:lvl1pPr>
          </a:lstStyle>
          <a:p>
            <a:pPr fontAlgn="auto"/>
            <a:r>
              <a:rPr lang="zh-CN" altLang="en-US" strike="noStrike" noProof="1"/>
              <a:t>编辑标题</a:t>
            </a:r>
          </a:p>
        </p:txBody>
      </p:sp>
      <p:sp>
        <p:nvSpPr>
          <p:cNvPr id="12" name="内容占位符 11"/>
          <p:cNvSpPr>
            <a:spLocks noGrp="1"/>
          </p:cNvSpPr>
          <p:nvPr>
            <p:ph sz="quarter" idx="13" hasCustomPrompt="1"/>
          </p:nvPr>
        </p:nvSpPr>
        <p:spPr>
          <a:xfrm>
            <a:off x="4043321" y="3642633"/>
            <a:ext cx="4105359" cy="535531"/>
          </a:xfrm>
        </p:spPr>
        <p:txBody>
          <a:bodyPr>
            <a:normAutofit/>
          </a:bodyPr>
          <a:lstStyle>
            <a:lvl1pPr marL="0" indent="0" algn="dist">
              <a:buNone/>
              <a:defRPr/>
            </a:lvl1pPr>
          </a:lstStyle>
          <a:p>
            <a:pPr lvl="0" fontAlgn="auto"/>
            <a:r>
              <a:rPr lang="zh-CN" altLang="en-US" strike="noStrike" noProof="1"/>
              <a:t>单击此处编辑文本</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2020/5/6</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内容">
    <p:bg>
      <p:bgPr>
        <a:solidFill>
          <a:schemeClr val="bg1"/>
        </a:solidFill>
        <a:effectLst/>
      </p:bgPr>
    </p:bg>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4"/>
            <a:ext cx="10515600" cy="5558971"/>
          </a:xfrm>
        </p:spPr>
        <p:txBody>
          <a:bodyPr>
            <a:normAutofit/>
          </a:bodyPr>
          <a:lstStyle>
            <a:lvl1pPr>
              <a:defRPr sz="2400"/>
            </a:lvl1pPr>
            <a:lvl2pPr>
              <a:defRPr sz="2000"/>
            </a:lvl2pPr>
            <a:lvl3pPr>
              <a:defRPr sz="1800"/>
            </a:lvl3pPr>
            <a:lvl4pPr>
              <a:defRPr sz="1800"/>
            </a:lvl4pPr>
            <a:lvl5pPr>
              <a:defRPr sz="1800"/>
            </a:lvl5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3" name="日期占位符 2"/>
          <p:cNvSpPr>
            <a:spLocks noGrp="1"/>
          </p:cNvSpPr>
          <p:nvPr>
            <p:ph type="dt" sz="half" idx="10"/>
          </p:nvPr>
        </p:nvSpPr>
        <p:spPr>
          <a:xfrm>
            <a:off x="838200" y="6356350"/>
            <a:ext cx="2743200" cy="365125"/>
          </a:xfrm>
          <a:prstGeom prst="rect">
            <a:avLst/>
          </a:prstGeom>
        </p:spPr>
        <p:txBody>
          <a:bodyPr vert="horz" lIns="91440" tIns="45720" rIns="91440" bIns="45720" rtlCol="0" anchor="ctr">
            <a:normAutofit/>
          </a:bodyPr>
          <a:lstStyle>
            <a:lvl1pPr>
              <a:defRPr sz="1200"/>
            </a:lvl1pPr>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2020/5/6</a:t>
            </a:fld>
            <a:endParaRPr lang="zh-CN" altLang="en-US" strike="noStrike" noProof="1"/>
          </a:p>
        </p:txBody>
      </p:sp>
      <p:sp>
        <p:nvSpPr>
          <p:cNvPr id="4" name="页脚占位符 3"/>
          <p:cNvSpPr>
            <a:spLocks noGrp="1"/>
          </p:cNvSpPr>
          <p:nvPr>
            <p:ph type="ftr" sz="quarter" idx="11"/>
          </p:nvPr>
        </p:nvSpPr>
        <p:spPr>
          <a:xfrm>
            <a:off x="4038600" y="6356350"/>
            <a:ext cx="4114800" cy="365125"/>
          </a:xfrm>
          <a:prstGeom prst="rect">
            <a:avLst/>
          </a:prstGeom>
        </p:spPr>
        <p:txBody>
          <a:bodyPr vert="horz" lIns="91440" tIns="45720" rIns="91440" bIns="45720" rtlCol="0" anchor="ctr">
            <a:normAutofit/>
          </a:bodyPr>
          <a:lstStyle>
            <a:lvl1pPr>
              <a:defRPr sz="1200"/>
            </a:lvl1pPr>
          </a:lstStyle>
          <a:p>
            <a:pPr fontAlgn="base"/>
            <a:endParaRPr lang="zh-CN" altLang="en-US" strike="noStrike" noProof="1"/>
          </a:p>
        </p:txBody>
      </p:sp>
      <p:sp>
        <p:nvSpPr>
          <p:cNvPr id="5" name="灯片编号占位符 4"/>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lvl1pPr>
              <a:defRPr sz="1200"/>
            </a:lvl1pPr>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5"/>
            </p:custDataLst>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custDataLst>
              <p:tags r:id="rId16"/>
            </p:custDataLst>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normAutofit/>
          </a:bodyPr>
          <a:lstStyle>
            <a:lvl1pPr algn="l">
              <a:lnSpc>
                <a:spcPct val="120000"/>
              </a:lnSpc>
              <a:defRPr sz="1200">
                <a:solidFill>
                  <a:schemeClr val="bg1">
                    <a:lumMod val="50000"/>
                  </a:schemeClr>
                </a:solidFill>
              </a:defRPr>
            </a:lvl1pPr>
          </a:lstStyle>
          <a:p>
            <a:fld id="{760FBDFE-C587-4B4C-A407-44438C67B59E}" type="datetimeFigureOut">
              <a:rPr lang="zh-CN" altLang="en-US" smtClean="0"/>
              <a:t>2020/5/6</a:t>
            </a:fld>
            <a:endParaRPr lang="zh-CN" altLang="en-US"/>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normAutofit/>
          </a:bodyPr>
          <a:lstStyle>
            <a:lvl1pPr algn="ctr">
              <a:lnSpc>
                <a:spcPct val="120000"/>
              </a:lnSpc>
              <a:defRPr sz="1200">
                <a:solidFill>
                  <a:schemeClr val="bg1">
                    <a:lumMod val="50000"/>
                  </a:schemeClr>
                </a:solidFill>
              </a:defRPr>
            </a:lvl1pPr>
          </a:lstStyle>
          <a:p>
            <a:endParaRPr lang="zh-CN" altLang="en-US"/>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lIns="91440" tIns="45720" rIns="91440" bIns="45720" rtlCol="0" anchor="ctr">
            <a:normAutofit/>
          </a:bodyPr>
          <a:lstStyle>
            <a:lvl1pPr algn="r">
              <a:lnSpc>
                <a:spcPct val="120000"/>
              </a:lnSpc>
              <a:defRPr sz="1200">
                <a:solidFill>
                  <a:schemeClr val="bg1">
                    <a:lumMod val="50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51" r:id="rId11"/>
    <p:sldLayoutId id="2147483654" r:id="rId12"/>
    <p:sldLayoutId id="2147483658" r:id="rId13"/>
  </p:sldLayoutIdLst>
  <p:txStyles>
    <p:titleStyle>
      <a:lvl1pPr algn="l" defTabSz="685800" rtl="0" eaLnBrk="1" latinLnBrk="0" hangingPunct="1">
        <a:lnSpc>
          <a:spcPct val="120000"/>
        </a:lnSpc>
        <a:spcBef>
          <a:spcPct val="0"/>
        </a:spcBef>
        <a:buNone/>
        <a:defRPr sz="3600" kern="1200">
          <a:solidFill>
            <a:schemeClr val="tx1">
              <a:lumMod val="75000"/>
              <a:lumOff val="25000"/>
            </a:schemeClr>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lumMod val="75000"/>
              <a:lumOff val="25000"/>
            </a:schemeClr>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lumMod val="75000"/>
              <a:lumOff val="25000"/>
            </a:schemeClr>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1.xml"/><Relationship Id="rId7" Type="http://schemas.openxmlformats.org/officeDocument/2006/relationships/image" Target="../media/image1.jpe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22.xml"/></Relationships>
</file>

<file path=ppt/slides/_rels/slide2.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1.jpe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notesSlide" Target="../notesSlides/notesSlide2.xml"/><Relationship Id="rId5" Type="http://schemas.openxmlformats.org/officeDocument/2006/relationships/tags" Target="../tags/tag27.xml"/><Relationship Id="rId10" Type="http://schemas.openxmlformats.org/officeDocument/2006/relationships/slideLayout" Target="../slideLayouts/slideLayout2.xml"/><Relationship Id="rId4" Type="http://schemas.openxmlformats.org/officeDocument/2006/relationships/tags" Target="../tags/tag26.xml"/><Relationship Id="rId9" Type="http://schemas.openxmlformats.org/officeDocument/2006/relationships/tags" Target="../tags/tag3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notesSlide" Target="../notesSlides/notesSlide6.xml"/><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1.jpeg"/><Relationship Id="rId9" Type="http://schemas.microsoft.com/office/2007/relationships/diagramDrawing" Target="../diagrams/drawing1.xml"/><Relationship Id="rId14" Type="http://schemas.microsoft.com/office/2007/relationships/diagramDrawing" Target="../diagrams/drawing2.xml"/></Relationships>
</file>

<file path=ppt/slides/_rels/slide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2.xml"/><Relationship Id="rId5" Type="http://schemas.openxmlformats.org/officeDocument/2006/relationships/image" Target="../media/image2.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6" Type="http://schemas.openxmlformats.org/officeDocument/2006/relationships/image" Target="../media/image1.jpeg"/><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notesSlide" Target="../notesSlides/notesSlide10.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56.xml"/><Relationship Id="rId5" Type="http://schemas.openxmlformats.org/officeDocument/2006/relationships/image" Target="../media/image3.png"/><Relationship Id="rId4"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57.xml"/><Relationship Id="rId5" Type="http://schemas.openxmlformats.org/officeDocument/2006/relationships/image" Target="../media/image11.PNG"/><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tags" Target="../tags/tag6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1.jpe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34.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79.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1.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2.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tags" Target="../tags/tag84.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7.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notesSlide" Target="../notesSlides/notesSlide18.xml"/><Relationship Id="rId4"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p:cNvSpPr>
          <p:nvPr>
            <p:ph type="ctrTitle"/>
            <p:custDataLst>
              <p:tags r:id="rId2"/>
            </p:custDataLst>
          </p:nvPr>
        </p:nvSpPr>
        <p:spPr>
          <a:xfrm>
            <a:off x="2247169" y="3267760"/>
            <a:ext cx="7697658" cy="636991"/>
          </a:xfrm>
        </p:spPr>
        <p:txBody>
          <a:bodyPr vert="horz" wrap="square" lIns="90000" tIns="46800" rIns="90000" bIns="46800" anchor="ctr">
            <a:noAutofit/>
          </a:bodyPr>
          <a:lstStyle/>
          <a:p>
            <a:pPr defTabSz="914400">
              <a:buNone/>
            </a:pPr>
            <a:r>
              <a:rPr lang="zh-CN" altLang="en-US" sz="2800" kern="1200" dirty="0">
                <a:solidFill>
                  <a:schemeClr val="tx1"/>
                </a:solidFill>
                <a:latin typeface="+mj-lt"/>
                <a:ea typeface="+mj-ea"/>
                <a:cs typeface="+mj-cs"/>
              </a:rPr>
              <a:t>基于深度学习的程序并行化方法研究</a:t>
            </a:r>
          </a:p>
        </p:txBody>
      </p:sp>
      <p:sp>
        <p:nvSpPr>
          <p:cNvPr id="4" name="文本框 3"/>
          <p:cNvSpPr txBox="1"/>
          <p:nvPr>
            <p:custDataLst>
              <p:tags r:id="rId3"/>
            </p:custDataLst>
          </p:nvPr>
        </p:nvSpPr>
        <p:spPr>
          <a:xfrm>
            <a:off x="4646611" y="359548"/>
            <a:ext cx="2898775" cy="504190"/>
          </a:xfrm>
          <a:prstGeom prst="rect">
            <a:avLst/>
          </a:prstGeom>
          <a:noFill/>
        </p:spPr>
        <p:txBody>
          <a:bodyPr wrap="square" lIns="90000" tIns="46800" rIns="90000" bIns="46800" rtlCol="0" anchor="ctr" anchorCtr="0">
            <a:noAutofit/>
          </a:bodyPr>
          <a:lstStyle>
            <a:defPPr>
              <a:defRPr lang="en-US"/>
            </a:defPPr>
            <a:lvl1pPr algn="dist">
              <a:defRPr sz="4000">
                <a:solidFill>
                  <a:schemeClr val="tx1">
                    <a:lumMod val="75000"/>
                    <a:lumOff val="25000"/>
                  </a:schemeClr>
                </a:solidFill>
              </a:defRPr>
            </a:lvl1pPr>
          </a:lstStyle>
          <a:p>
            <a:pPr fontAlgn="base"/>
            <a:r>
              <a:rPr lang="zh-CN" altLang="en-US" sz="2800" noProof="1"/>
              <a:t>学位论文答辩</a:t>
            </a:r>
            <a:endParaRPr lang="zh-CN" altLang="en-US" sz="2800" strike="noStrike" noProof="1"/>
          </a:p>
        </p:txBody>
      </p:sp>
      <p:pic>
        <p:nvPicPr>
          <p:cNvPr id="9" name="图片 8">
            <a:extLst>
              <a:ext uri="{FF2B5EF4-FFF2-40B4-BE49-F238E27FC236}">
                <a16:creationId xmlns:a16="http://schemas.microsoft.com/office/drawing/2014/main" id="{4727CBA4-1760-4573-9CF9-8C65F31AB84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086906" y="1138967"/>
            <a:ext cx="2095130" cy="1971537"/>
          </a:xfrm>
          <a:prstGeom prst="rect">
            <a:avLst/>
          </a:prstGeom>
        </p:spPr>
      </p:pic>
      <p:sp>
        <p:nvSpPr>
          <p:cNvPr id="11" name="副标题 2">
            <a:extLst>
              <a:ext uri="{FF2B5EF4-FFF2-40B4-BE49-F238E27FC236}">
                <a16:creationId xmlns:a16="http://schemas.microsoft.com/office/drawing/2014/main" id="{CBCD8F28-FABE-4CFC-AD54-6CA98829334A}"/>
              </a:ext>
            </a:extLst>
          </p:cNvPr>
          <p:cNvSpPr txBox="1">
            <a:spLocks/>
          </p:cNvSpPr>
          <p:nvPr>
            <p:custDataLst>
              <p:tags r:id="rId4"/>
            </p:custDataLst>
          </p:nvPr>
        </p:nvSpPr>
        <p:spPr>
          <a:xfrm>
            <a:off x="2164812" y="4062007"/>
            <a:ext cx="7939317" cy="332440"/>
          </a:xfrm>
          <a:prstGeom prst="rect">
            <a:avLst/>
          </a:prstGeom>
          <a:noFill/>
          <a:ln w="9525">
            <a:noFill/>
          </a:ln>
        </p:spPr>
        <p:txBody>
          <a:bodyPr vert="horz" wrap="square" lIns="90000" tIns="46800" rIns="90000" bIns="46800" anchor="t">
            <a:noAutofit/>
          </a:bodyPr>
          <a:lstStyle>
            <a:lvl1pPr marL="0" indent="0" algn="dist" defTabSz="685800" rtl="0" eaLnBrk="1" latinLnBrk="0" hangingPunct="1">
              <a:lnSpc>
                <a:spcPct val="120000"/>
              </a:lnSpc>
              <a:spcBef>
                <a:spcPts val="75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342900" indent="0" algn="ctr" defTabSz="685800" rtl="0" eaLnBrk="1" latinLnBrk="0" hangingPunct="1">
              <a:lnSpc>
                <a:spcPct val="120000"/>
              </a:lnSpc>
              <a:spcBef>
                <a:spcPts val="375"/>
              </a:spcBef>
              <a:buFont typeface="Arial" panose="020B0604020202020204"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120000"/>
              </a:lnSpc>
              <a:spcBef>
                <a:spcPts val="375"/>
              </a:spcBef>
              <a:buFont typeface="Arial" panose="020B0604020202020204"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120000"/>
              </a:lnSpc>
              <a:spcBef>
                <a:spcPts val="375"/>
              </a:spcBef>
              <a:buFont typeface="Arial" panose="020B0604020202020204"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120000"/>
              </a:lnSpc>
              <a:spcBef>
                <a:spcPts val="375"/>
              </a:spcBef>
              <a:buFont typeface="Arial" panose="020B0604020202020204"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just">
              <a:lnSpc>
                <a:spcPct val="150000"/>
              </a:lnSpc>
            </a:pPr>
            <a:r>
              <a:rPr lang="zh-CN" altLang="en-US" sz="1600" dirty="0">
                <a:latin typeface="黑体" panose="02010609060101010101" charset="-122"/>
                <a:ea typeface="黑体" panose="02010609060101010101" charset="-122"/>
                <a:cs typeface="黑体" panose="02010609060101010101" charset="-122"/>
              </a:rPr>
              <a:t>答辩</a:t>
            </a:r>
            <a:r>
              <a:rPr lang="zh-CN" altLang="zh-CN" sz="1600" dirty="0">
                <a:latin typeface="黑体" panose="02010609060101010101" charset="-122"/>
                <a:ea typeface="黑体" panose="02010609060101010101" charset="-122"/>
                <a:cs typeface="黑体" panose="02010609060101010101" charset="-122"/>
              </a:rPr>
              <a:t>人：王世领</a:t>
            </a:r>
            <a:r>
              <a:rPr lang="zh-CN" altLang="en-US" sz="1600" dirty="0">
                <a:latin typeface="黑体" panose="02010609060101010101" charset="-122"/>
                <a:ea typeface="黑体" panose="02010609060101010101" charset="-122"/>
                <a:cs typeface="黑体" panose="02010609060101010101" charset="-122"/>
              </a:rPr>
              <a:t>（</a:t>
            </a:r>
            <a:r>
              <a:rPr lang="en-US" altLang="zh-CN" sz="1600" dirty="0">
                <a:latin typeface="黑体" panose="02010609060101010101" charset="-122"/>
                <a:ea typeface="黑体" panose="02010609060101010101" charset="-122"/>
                <a:cs typeface="黑体" panose="02010609060101010101" charset="-122"/>
              </a:rPr>
              <a:t>S1710W0844</a:t>
            </a:r>
            <a:r>
              <a:rPr lang="zh-CN" altLang="en-US" sz="1600" dirty="0">
                <a:latin typeface="黑体" panose="02010609060101010101" charset="-122"/>
                <a:ea typeface="黑体" panose="02010609060101010101" charset="-122"/>
                <a:cs typeface="黑体" panose="02010609060101010101" charset="-122"/>
              </a:rPr>
              <a:t>）              指导教师：彭蔓蔓 教授  文吉刚 高工</a:t>
            </a:r>
            <a:endParaRPr lang="zh-CN" altLang="zh-CN" sz="1600" dirty="0">
              <a:latin typeface="黑体" panose="02010609060101010101" charset="-122"/>
              <a:ea typeface="黑体" panose="02010609060101010101" charset="-122"/>
              <a:cs typeface="黑体" panose="02010609060101010101" charset="-122"/>
            </a:endParaRPr>
          </a:p>
        </p:txBody>
      </p:sp>
      <p:sp>
        <p:nvSpPr>
          <p:cNvPr id="6" name="矩形 5">
            <a:extLst>
              <a:ext uri="{FF2B5EF4-FFF2-40B4-BE49-F238E27FC236}">
                <a16:creationId xmlns:a16="http://schemas.microsoft.com/office/drawing/2014/main" id="{01CE8130-6A3B-4B1E-9CC6-8F000DFEE6A8}"/>
              </a:ext>
            </a:extLst>
          </p:cNvPr>
          <p:cNvSpPr/>
          <p:nvPr/>
        </p:nvSpPr>
        <p:spPr>
          <a:xfrm>
            <a:off x="5022628" y="6313786"/>
            <a:ext cx="2223686" cy="369332"/>
          </a:xfrm>
          <a:prstGeom prst="rect">
            <a:avLst/>
          </a:prstGeom>
        </p:spPr>
        <p:txBody>
          <a:bodyPr wrap="none">
            <a:spAutoFit/>
          </a:bodyPr>
          <a:lstStyle/>
          <a:p>
            <a:r>
              <a:rPr lang="en-US" altLang="zh-CN" noProof="1"/>
              <a:t>2020 </a:t>
            </a:r>
            <a:r>
              <a:rPr lang="zh-CN" altLang="en-US" noProof="1"/>
              <a:t>年 </a:t>
            </a:r>
            <a:r>
              <a:rPr lang="en-US" altLang="zh-CN" noProof="1"/>
              <a:t>05 </a:t>
            </a:r>
            <a:r>
              <a:rPr lang="zh-CN" altLang="en-US" noProof="1"/>
              <a:t>月 </a:t>
            </a:r>
            <a:r>
              <a:rPr lang="en-US" altLang="zh-CN" noProof="1"/>
              <a:t>06 </a:t>
            </a:r>
            <a:r>
              <a:rPr lang="zh-CN" altLang="en-US" noProof="1"/>
              <a:t>日</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93"/>
    </mc:Choice>
    <mc:Fallback xmlns="">
      <p:transition spd="slow" advTm="629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33" name="直接连接符 32">
            <a:extLst>
              <a:ext uri="{FF2B5EF4-FFF2-40B4-BE49-F238E27FC236}">
                <a16:creationId xmlns:a16="http://schemas.microsoft.com/office/drawing/2014/main" id="{3722B3D7-46D6-478F-A4E6-F8CA0A523433}"/>
              </a:ext>
            </a:extLst>
          </p:cNvPr>
          <p:cNvCxnSpPr/>
          <p:nvPr/>
        </p:nvCxnSpPr>
        <p:spPr>
          <a:xfrm>
            <a:off x="0" y="1119094"/>
            <a:ext cx="121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EEE18BE4-94AA-42EA-BC2E-89EA1983C009}"/>
              </a:ext>
            </a:extLst>
          </p:cNvPr>
          <p:cNvSpPr txBox="1"/>
          <p:nvPr/>
        </p:nvSpPr>
        <p:spPr>
          <a:xfrm>
            <a:off x="237066" y="300158"/>
            <a:ext cx="1045036" cy="584775"/>
          </a:xfrm>
          <a:prstGeom prst="rect">
            <a:avLst/>
          </a:prstGeom>
          <a:noFill/>
        </p:spPr>
        <p:txBody>
          <a:bodyPr wrap="square" rtlCol="0">
            <a:spAutoFit/>
          </a:bodyPr>
          <a:lstStyle/>
          <a:p>
            <a:r>
              <a:rPr lang="zh-CN" altLang="en-US" sz="3200" b="1" dirty="0">
                <a:latin typeface="+mn-ea"/>
              </a:rPr>
              <a:t>目录</a:t>
            </a:r>
          </a:p>
        </p:txBody>
      </p:sp>
      <p:grpSp>
        <p:nvGrpSpPr>
          <p:cNvPr id="5" name="组合 4">
            <a:extLst>
              <a:ext uri="{FF2B5EF4-FFF2-40B4-BE49-F238E27FC236}">
                <a16:creationId xmlns:a16="http://schemas.microsoft.com/office/drawing/2014/main" id="{97346797-9D9B-4ED1-9934-09826344EEB3}"/>
              </a:ext>
            </a:extLst>
          </p:cNvPr>
          <p:cNvGrpSpPr/>
          <p:nvPr/>
        </p:nvGrpSpPr>
        <p:grpSpPr>
          <a:xfrm>
            <a:off x="1453775" y="1461420"/>
            <a:ext cx="7119598" cy="4395268"/>
            <a:chOff x="1453775" y="1461420"/>
            <a:chExt cx="7119598" cy="4395268"/>
          </a:xfrm>
        </p:grpSpPr>
        <p:sp>
          <p:nvSpPr>
            <p:cNvPr id="64" name="矩形 63">
              <a:extLst>
                <a:ext uri="{FF2B5EF4-FFF2-40B4-BE49-F238E27FC236}">
                  <a16:creationId xmlns:a16="http://schemas.microsoft.com/office/drawing/2014/main" id="{75509FB5-0F43-4191-8FB2-9BE8E9C81D80}"/>
                </a:ext>
              </a:extLst>
            </p:cNvPr>
            <p:cNvSpPr/>
            <p:nvPr>
              <p:custDataLst>
                <p:tags r:id="rId1"/>
              </p:custDataLst>
            </p:nvPr>
          </p:nvSpPr>
          <p:spPr>
            <a:xfrm>
              <a:off x="2526912" y="1533164"/>
              <a:ext cx="2062022" cy="835243"/>
            </a:xfrm>
            <a:prstGeom prst="rect">
              <a:avLst/>
            </a:prstGeom>
            <a:solidFill>
              <a:srgbClr val="018BE9"/>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研究背景与意义</a:t>
              </a:r>
            </a:p>
          </p:txBody>
        </p:sp>
        <p:sp>
          <p:nvSpPr>
            <p:cNvPr id="65" name="文本框 64">
              <a:extLst>
                <a:ext uri="{FF2B5EF4-FFF2-40B4-BE49-F238E27FC236}">
                  <a16:creationId xmlns:a16="http://schemas.microsoft.com/office/drawing/2014/main" id="{1FCC89CE-4F7A-486C-8BD4-4ADD5DF5664B}"/>
                </a:ext>
              </a:extLst>
            </p:cNvPr>
            <p:cNvSpPr txBox="1"/>
            <p:nvPr>
              <p:custDataLst>
                <p:tags r:id="rId2"/>
              </p:custDataLst>
            </p:nvPr>
          </p:nvSpPr>
          <p:spPr>
            <a:xfrm>
              <a:off x="1453775" y="1538312"/>
              <a:ext cx="847365" cy="830095"/>
            </a:xfrm>
            <a:prstGeom prst="rect">
              <a:avLst/>
            </a:prstGeom>
            <a:noFill/>
          </p:spPr>
          <p:txBody>
            <a:bodyPr wrap="square" lIns="0" tIns="0" rIns="0" bIns="0" rtlCol="0" anchor="ctr" anchorCtr="1">
              <a:normAutofit fontScale="92500" lnSpcReduction="10000"/>
            </a:bodyPr>
            <a:lstStyle/>
            <a:p>
              <a:pPr algn="ctr"/>
              <a:r>
                <a:rPr lang="en-US" altLang="zh-CN" sz="6000" b="1" dirty="0">
                  <a:solidFill>
                    <a:srgbClr val="018BE9"/>
                  </a:solidFill>
                </a:rPr>
                <a:t>01</a:t>
              </a:r>
              <a:endParaRPr lang="zh-CN" altLang="en-US" sz="6000" b="1" dirty="0">
                <a:solidFill>
                  <a:srgbClr val="018BE9"/>
                </a:solidFill>
              </a:endParaRPr>
            </a:p>
          </p:txBody>
        </p:sp>
        <p:sp>
          <p:nvSpPr>
            <p:cNvPr id="66" name="矩形 65">
              <a:extLst>
                <a:ext uri="{FF2B5EF4-FFF2-40B4-BE49-F238E27FC236}">
                  <a16:creationId xmlns:a16="http://schemas.microsoft.com/office/drawing/2014/main" id="{9ACC9A5E-998F-49ED-83AF-D8871C7A5DA5}"/>
                </a:ext>
              </a:extLst>
            </p:cNvPr>
            <p:cNvSpPr/>
            <p:nvPr>
              <p:custDataLst>
                <p:tags r:id="rId3"/>
              </p:custDataLst>
            </p:nvPr>
          </p:nvSpPr>
          <p:spPr>
            <a:xfrm>
              <a:off x="5116753" y="1461420"/>
              <a:ext cx="3456620" cy="978729"/>
            </a:xfrm>
            <a:prstGeom prst="rect">
              <a:avLst/>
            </a:prstGeom>
          </p:spPr>
          <p:txBody>
            <a:bodyPr wrap="square">
              <a:noAutofit/>
            </a:bodyPr>
            <a:lstStyle/>
            <a:p>
              <a:pPr>
                <a:lnSpc>
                  <a:spcPct val="120000"/>
                </a:lnSpc>
              </a:pPr>
              <a:r>
                <a:rPr lang="en-US" altLang="zh-CN" sz="1600" dirty="0"/>
                <a:t>a) </a:t>
              </a:r>
              <a:r>
                <a:rPr lang="zh-CN" altLang="en-US" sz="1600" dirty="0"/>
                <a:t>研究背景</a:t>
              </a:r>
              <a:endParaRPr lang="en-US" altLang="zh-CN" sz="1600" dirty="0"/>
            </a:p>
            <a:p>
              <a:pPr>
                <a:lnSpc>
                  <a:spcPct val="120000"/>
                </a:lnSpc>
              </a:pPr>
              <a:r>
                <a:rPr lang="en-US" altLang="zh-CN" sz="1600" dirty="0"/>
                <a:t>b) </a:t>
              </a:r>
              <a:r>
                <a:rPr lang="zh-CN" altLang="en-US" sz="1600" dirty="0"/>
                <a:t>提出问题</a:t>
              </a:r>
              <a:endParaRPr lang="en-US" altLang="zh-CN" sz="1600" dirty="0"/>
            </a:p>
            <a:p>
              <a:pPr>
                <a:lnSpc>
                  <a:spcPct val="120000"/>
                </a:lnSpc>
              </a:pPr>
              <a:r>
                <a:rPr lang="en-US" altLang="zh-CN" sz="1600" dirty="0"/>
                <a:t>c) </a:t>
              </a:r>
              <a:r>
                <a:rPr lang="zh-CN" altLang="en-US" sz="1600" dirty="0"/>
                <a:t>解决方案</a:t>
              </a:r>
              <a:endParaRPr lang="en-US" altLang="zh-CN" sz="1600" dirty="0"/>
            </a:p>
          </p:txBody>
        </p:sp>
        <p:sp>
          <p:nvSpPr>
            <p:cNvPr id="68" name="矩形 67">
              <a:extLst>
                <a:ext uri="{FF2B5EF4-FFF2-40B4-BE49-F238E27FC236}">
                  <a16:creationId xmlns:a16="http://schemas.microsoft.com/office/drawing/2014/main" id="{B80AFDCD-CCEF-4D3B-8CC1-099FDFE77340}"/>
                </a:ext>
              </a:extLst>
            </p:cNvPr>
            <p:cNvSpPr/>
            <p:nvPr>
              <p:custDataLst>
                <p:tags r:id="rId4"/>
              </p:custDataLst>
            </p:nvPr>
          </p:nvSpPr>
          <p:spPr>
            <a:xfrm>
              <a:off x="2526911" y="3178339"/>
              <a:ext cx="2084061"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主要工作内容</a:t>
              </a:r>
            </a:p>
          </p:txBody>
        </p:sp>
        <p:sp>
          <p:nvSpPr>
            <p:cNvPr id="69" name="文本框 68">
              <a:extLst>
                <a:ext uri="{FF2B5EF4-FFF2-40B4-BE49-F238E27FC236}">
                  <a16:creationId xmlns:a16="http://schemas.microsoft.com/office/drawing/2014/main" id="{960EAC16-1D5F-4484-8072-20A5BD5F6A8B}"/>
                </a:ext>
              </a:extLst>
            </p:cNvPr>
            <p:cNvSpPr txBox="1"/>
            <p:nvPr>
              <p:custDataLst>
                <p:tags r:id="rId5"/>
              </p:custDataLst>
            </p:nvPr>
          </p:nvSpPr>
          <p:spPr>
            <a:xfrm>
              <a:off x="1453775" y="3183480"/>
              <a:ext cx="847365" cy="830102"/>
            </a:xfrm>
            <a:prstGeom prst="rect">
              <a:avLst/>
            </a:prstGeom>
            <a:noFill/>
          </p:spPr>
          <p:txBody>
            <a:bodyPr wrap="square" lIns="0" tIns="0" rIns="0" bIns="0" rtlCol="0" anchor="ctr" anchorCtr="1">
              <a:normAutofit fontScale="92500" lnSpcReduction="10000"/>
            </a:bodyPr>
            <a:lstStyle/>
            <a:p>
              <a:pPr algn="ctr"/>
              <a:r>
                <a:rPr lang="en-US" altLang="zh-CN" sz="6000" b="1" dirty="0">
                  <a:solidFill>
                    <a:srgbClr val="FFC000"/>
                  </a:solidFill>
                </a:rPr>
                <a:t>02</a:t>
              </a:r>
              <a:endParaRPr lang="zh-CN" altLang="en-US" sz="6000" b="1" dirty="0">
                <a:solidFill>
                  <a:srgbClr val="FFC000"/>
                </a:solidFill>
              </a:endParaRPr>
            </a:p>
          </p:txBody>
        </p:sp>
        <p:sp>
          <p:nvSpPr>
            <p:cNvPr id="70" name="矩形 69">
              <a:extLst>
                <a:ext uri="{FF2B5EF4-FFF2-40B4-BE49-F238E27FC236}">
                  <a16:creationId xmlns:a16="http://schemas.microsoft.com/office/drawing/2014/main" id="{D447BE99-21DB-4AB7-9D01-B34D47DF5D70}"/>
                </a:ext>
              </a:extLst>
            </p:cNvPr>
            <p:cNvSpPr/>
            <p:nvPr>
              <p:custDataLst>
                <p:tags r:id="rId6"/>
              </p:custDataLst>
            </p:nvPr>
          </p:nvSpPr>
          <p:spPr>
            <a:xfrm>
              <a:off x="5116753" y="3248738"/>
              <a:ext cx="3456620" cy="694443"/>
            </a:xfrm>
            <a:prstGeom prst="rect">
              <a:avLst/>
            </a:prstGeom>
          </p:spPr>
          <p:txBody>
            <a:bodyPr wrap="square">
              <a:noAutofit/>
            </a:bodyPr>
            <a:lstStyle/>
            <a:p>
              <a:pPr>
                <a:lnSpc>
                  <a:spcPct val="120000"/>
                </a:lnSpc>
              </a:pPr>
              <a:r>
                <a:rPr lang="en-US" altLang="zh-CN" sz="1600" dirty="0"/>
                <a:t>a) </a:t>
              </a:r>
              <a:r>
                <a:rPr lang="zh-CN" altLang="en-US" sz="1600" dirty="0"/>
                <a:t>并行性识别的深度学习方法</a:t>
              </a:r>
              <a:endParaRPr lang="en-US" altLang="zh-CN" sz="1600" dirty="0"/>
            </a:p>
            <a:p>
              <a:pPr>
                <a:lnSpc>
                  <a:spcPct val="120000"/>
                </a:lnSpc>
              </a:pPr>
              <a:r>
                <a:rPr lang="en-US" altLang="zh-CN" sz="1600" dirty="0"/>
                <a:t>b) PML</a:t>
              </a:r>
              <a:r>
                <a:rPr lang="zh-CN" altLang="en-US" sz="1600" dirty="0"/>
                <a:t>与并行编程辅助平台</a:t>
              </a:r>
            </a:p>
          </p:txBody>
        </p:sp>
        <p:sp>
          <p:nvSpPr>
            <p:cNvPr id="72" name="矩形 71">
              <a:extLst>
                <a:ext uri="{FF2B5EF4-FFF2-40B4-BE49-F238E27FC236}">
                  <a16:creationId xmlns:a16="http://schemas.microsoft.com/office/drawing/2014/main" id="{02D01FEA-F735-4522-B8F5-173C3BB75810}"/>
                </a:ext>
              </a:extLst>
            </p:cNvPr>
            <p:cNvSpPr/>
            <p:nvPr>
              <p:custDataLst>
                <p:tags r:id="rId7"/>
              </p:custDataLst>
            </p:nvPr>
          </p:nvSpPr>
          <p:spPr>
            <a:xfrm>
              <a:off x="2526911" y="5021445"/>
              <a:ext cx="2084061" cy="835243"/>
            </a:xfrm>
            <a:prstGeom prst="rect">
              <a:avLst/>
            </a:prstGeom>
            <a:solidFill>
              <a:srgbClr val="00B0F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总结与展望</a:t>
              </a:r>
            </a:p>
          </p:txBody>
        </p:sp>
        <p:sp>
          <p:nvSpPr>
            <p:cNvPr id="73" name="文本框 72">
              <a:extLst>
                <a:ext uri="{FF2B5EF4-FFF2-40B4-BE49-F238E27FC236}">
                  <a16:creationId xmlns:a16="http://schemas.microsoft.com/office/drawing/2014/main" id="{62864180-1947-49E7-8F4D-56614B77010F}"/>
                </a:ext>
              </a:extLst>
            </p:cNvPr>
            <p:cNvSpPr txBox="1"/>
            <p:nvPr>
              <p:custDataLst>
                <p:tags r:id="rId8"/>
              </p:custDataLst>
            </p:nvPr>
          </p:nvSpPr>
          <p:spPr>
            <a:xfrm>
              <a:off x="1453775" y="5021445"/>
              <a:ext cx="847365" cy="835243"/>
            </a:xfrm>
            <a:prstGeom prst="rect">
              <a:avLst/>
            </a:prstGeom>
            <a:noFill/>
          </p:spPr>
          <p:txBody>
            <a:bodyPr wrap="square" lIns="0" tIns="0" rIns="0" bIns="0" rtlCol="0" anchor="ctr" anchorCtr="1">
              <a:normAutofit fontScale="92500" lnSpcReduction="10000"/>
            </a:bodyPr>
            <a:lstStyle/>
            <a:p>
              <a:pPr algn="ctr"/>
              <a:r>
                <a:rPr lang="en-US" altLang="zh-CN" sz="6000" b="1" dirty="0">
                  <a:solidFill>
                    <a:srgbClr val="00B0F0"/>
                  </a:solidFill>
                </a:rPr>
                <a:t>03</a:t>
              </a:r>
              <a:endParaRPr lang="zh-CN" altLang="en-US" sz="6000" b="1" dirty="0">
                <a:solidFill>
                  <a:srgbClr val="00B0F0"/>
                </a:solidFill>
              </a:endParaRPr>
            </a:p>
          </p:txBody>
        </p:sp>
        <p:sp>
          <p:nvSpPr>
            <p:cNvPr id="74" name="矩形 73">
              <a:extLst>
                <a:ext uri="{FF2B5EF4-FFF2-40B4-BE49-F238E27FC236}">
                  <a16:creationId xmlns:a16="http://schemas.microsoft.com/office/drawing/2014/main" id="{8AF3FF93-2A18-48D1-80D5-98A79DFE5AC0}"/>
                </a:ext>
              </a:extLst>
            </p:cNvPr>
            <p:cNvSpPr/>
            <p:nvPr>
              <p:custDataLst>
                <p:tags r:id="rId9"/>
              </p:custDataLst>
            </p:nvPr>
          </p:nvSpPr>
          <p:spPr>
            <a:xfrm>
              <a:off x="5116753" y="5091844"/>
              <a:ext cx="3456620" cy="694443"/>
            </a:xfrm>
            <a:prstGeom prst="rect">
              <a:avLst/>
            </a:prstGeom>
          </p:spPr>
          <p:txBody>
            <a:bodyPr wrap="square">
              <a:noAutofit/>
            </a:bodyPr>
            <a:lstStyle/>
            <a:p>
              <a:pPr>
                <a:lnSpc>
                  <a:spcPct val="120000"/>
                </a:lnSpc>
              </a:pPr>
              <a:r>
                <a:rPr lang="en-US" altLang="zh-CN" sz="1600" dirty="0"/>
                <a:t>a) </a:t>
              </a:r>
              <a:r>
                <a:rPr lang="zh-CN" altLang="en-US" sz="1600" dirty="0"/>
                <a:t>总结</a:t>
              </a:r>
              <a:endParaRPr lang="en-US" altLang="zh-CN" sz="1600" dirty="0"/>
            </a:p>
            <a:p>
              <a:pPr>
                <a:lnSpc>
                  <a:spcPct val="120000"/>
                </a:lnSpc>
              </a:pPr>
              <a:r>
                <a:rPr lang="en-US" altLang="zh-CN" sz="1600" dirty="0"/>
                <a:t>b) </a:t>
              </a:r>
              <a:r>
                <a:rPr lang="zh-CN" altLang="en-US" sz="1600" dirty="0"/>
                <a:t>未来工作</a:t>
              </a:r>
              <a:endParaRPr lang="en-US" altLang="zh-CN" sz="1600" dirty="0"/>
            </a:p>
          </p:txBody>
        </p:sp>
      </p:grpSp>
      <p:sp>
        <p:nvSpPr>
          <p:cNvPr id="7" name="左大括号 6">
            <a:extLst>
              <a:ext uri="{FF2B5EF4-FFF2-40B4-BE49-F238E27FC236}">
                <a16:creationId xmlns:a16="http://schemas.microsoft.com/office/drawing/2014/main" id="{706050DD-25B6-4CC1-BC0E-0572F8C0794B}"/>
              </a:ext>
            </a:extLst>
          </p:cNvPr>
          <p:cNvSpPr/>
          <p:nvPr/>
        </p:nvSpPr>
        <p:spPr>
          <a:xfrm>
            <a:off x="4690533" y="1533164"/>
            <a:ext cx="211667" cy="83520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左大括号 74">
            <a:extLst>
              <a:ext uri="{FF2B5EF4-FFF2-40B4-BE49-F238E27FC236}">
                <a16:creationId xmlns:a16="http://schemas.microsoft.com/office/drawing/2014/main" id="{02A729E1-0C3C-4C5F-821A-99357947F6FE}"/>
              </a:ext>
            </a:extLst>
          </p:cNvPr>
          <p:cNvSpPr/>
          <p:nvPr/>
        </p:nvSpPr>
        <p:spPr>
          <a:xfrm>
            <a:off x="4690533" y="3248738"/>
            <a:ext cx="206087" cy="6944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7" name="左大括号 76">
            <a:extLst>
              <a:ext uri="{FF2B5EF4-FFF2-40B4-BE49-F238E27FC236}">
                <a16:creationId xmlns:a16="http://schemas.microsoft.com/office/drawing/2014/main" id="{873BF35E-EF17-4C91-B557-08251E40420B}"/>
              </a:ext>
            </a:extLst>
          </p:cNvPr>
          <p:cNvSpPr/>
          <p:nvPr/>
        </p:nvSpPr>
        <p:spPr>
          <a:xfrm>
            <a:off x="4690533" y="5091843"/>
            <a:ext cx="206087" cy="69444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356715115"/>
      </p:ext>
    </p:extLst>
  </p:cSld>
  <p:clrMapOvr>
    <a:masterClrMapping/>
  </p:clrMapOvr>
  <mc:AlternateContent xmlns:mc="http://schemas.openxmlformats.org/markup-compatibility/2006" xmlns:p14="http://schemas.microsoft.com/office/powerpoint/2010/main">
    <mc:Choice Requires="p14">
      <p:transition spd="slow" p14:dur="2000" advTm="7513"/>
    </mc:Choice>
    <mc:Fallback xmlns="">
      <p:transition spd="slow" advTm="751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595875" y="2526245"/>
            <a:ext cx="5000249" cy="1805510"/>
            <a:chOff x="1453775" y="1538312"/>
            <a:chExt cx="3122975"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018BE9"/>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研究背景与意义</a:t>
              </a: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453775" y="1538312"/>
              <a:ext cx="847365" cy="830095"/>
            </a:xfrm>
            <a:prstGeom prst="rect">
              <a:avLst/>
            </a:prstGeom>
            <a:noFill/>
          </p:spPr>
          <p:txBody>
            <a:bodyPr wrap="square" lIns="0" tIns="0" rIns="0" bIns="0" rtlCol="0" anchor="ctr" anchorCtr="1">
              <a:normAutofit/>
            </a:bodyPr>
            <a:lstStyle/>
            <a:p>
              <a:pPr algn="ctr"/>
              <a:r>
                <a:rPr lang="en-US" altLang="zh-CN" sz="6000" b="1" dirty="0">
                  <a:solidFill>
                    <a:srgbClr val="018BE9"/>
                  </a:solidFill>
                </a:rPr>
                <a:t>1</a:t>
              </a:r>
              <a:endParaRPr lang="zh-CN" altLang="en-US" sz="6000" b="1" dirty="0">
                <a:solidFill>
                  <a:srgbClr val="018BE9"/>
                </a:solidFill>
              </a:endParaRPr>
            </a:p>
          </p:txBody>
        </p:sp>
      </p:grpSp>
    </p:spTree>
    <p:extLst>
      <p:ext uri="{BB962C8B-B14F-4D97-AF65-F5344CB8AC3E}">
        <p14:creationId xmlns:p14="http://schemas.microsoft.com/office/powerpoint/2010/main" val="292046200"/>
      </p:ext>
    </p:extLst>
  </p:cSld>
  <p:clrMapOvr>
    <a:masterClrMapping/>
  </p:clrMapOvr>
  <mc:AlternateContent xmlns:mc="http://schemas.openxmlformats.org/markup-compatibility/2006" xmlns:p14="http://schemas.microsoft.com/office/powerpoint/2010/main">
    <mc:Choice Requires="p14">
      <p:transition spd="slow" p14:dur="2000" advTm="1746"/>
    </mc:Choice>
    <mc:Fallback xmlns="">
      <p:transition spd="slow" advTm="174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6" y="300158"/>
            <a:ext cx="3064934" cy="584775"/>
          </a:xfrm>
          <a:prstGeom prst="rect">
            <a:avLst/>
          </a:prstGeom>
          <a:noFill/>
        </p:spPr>
        <p:txBody>
          <a:bodyPr wrap="square" rtlCol="0">
            <a:spAutoFit/>
          </a:bodyPr>
          <a:lstStyle/>
          <a:p>
            <a:r>
              <a:rPr lang="zh-CN" altLang="en-US" sz="3200" b="1" dirty="0">
                <a:latin typeface="+mn-ea"/>
              </a:rPr>
              <a:t>研究背景</a:t>
            </a:r>
          </a:p>
        </p:txBody>
      </p:sp>
      <p:sp>
        <p:nvSpPr>
          <p:cNvPr id="2" name="文本框 1">
            <a:extLst>
              <a:ext uri="{FF2B5EF4-FFF2-40B4-BE49-F238E27FC236}">
                <a16:creationId xmlns:a16="http://schemas.microsoft.com/office/drawing/2014/main" id="{13E630D8-8C80-4621-A281-FBB8100B2D5D}"/>
              </a:ext>
            </a:extLst>
          </p:cNvPr>
          <p:cNvSpPr txBox="1"/>
          <p:nvPr/>
        </p:nvSpPr>
        <p:spPr>
          <a:xfrm>
            <a:off x="1586592" y="1771747"/>
            <a:ext cx="9018816" cy="2031325"/>
          </a:xfrm>
          <a:prstGeom prst="rect">
            <a:avLst/>
          </a:prstGeom>
          <a:noFill/>
        </p:spPr>
        <p:txBody>
          <a:bodyPr wrap="none" rtlCol="0">
            <a:spAutoFit/>
          </a:bodyPr>
          <a:lstStyle/>
          <a:p>
            <a:pPr marL="285750" indent="-285750">
              <a:buFont typeface="Wingdings" panose="05000000000000000000" pitchFamily="2" charset="2"/>
              <a:buChar char="n"/>
            </a:pPr>
            <a:r>
              <a:rPr lang="zh-CN" altLang="en-US" dirty="0"/>
              <a:t>多核技术为计算机的性能带来了巨大的潜在提升</a:t>
            </a:r>
            <a:r>
              <a:rPr lang="zh-CN" altLang="en-US" dirty="0">
                <a:solidFill>
                  <a:srgbClr val="009ED6"/>
                </a:solidFill>
              </a:rPr>
              <a:t>（大前提）</a:t>
            </a:r>
            <a:endParaRPr lang="en-US" altLang="zh-CN" dirty="0">
              <a:solidFill>
                <a:srgbClr val="009ED6"/>
              </a:solidFill>
            </a:endParaRPr>
          </a:p>
          <a:p>
            <a:pPr marL="285750" indent="-285750">
              <a:buFont typeface="Wingdings" panose="05000000000000000000" pitchFamily="2" charset="2"/>
              <a:buChar char="n"/>
            </a:pPr>
            <a:endParaRPr lang="en-US" altLang="zh-CN" dirty="0"/>
          </a:p>
          <a:p>
            <a:pPr marL="285750" indent="-285750">
              <a:buFont typeface="Wingdings" panose="05000000000000000000" pitchFamily="2" charset="2"/>
              <a:buChar char="n"/>
            </a:pPr>
            <a:r>
              <a:rPr lang="zh-CN" altLang="en-US" dirty="0"/>
              <a:t>并行化成为了新的发展趋势</a:t>
            </a:r>
            <a:r>
              <a:rPr lang="zh-CN" altLang="en-US" dirty="0">
                <a:solidFill>
                  <a:srgbClr val="009ED6"/>
                </a:solidFill>
              </a:rPr>
              <a:t>（发展趋势）</a:t>
            </a:r>
            <a:endParaRPr lang="en-US" altLang="zh-CN" dirty="0">
              <a:solidFill>
                <a:srgbClr val="009ED6"/>
              </a:solidFill>
            </a:endParaRPr>
          </a:p>
          <a:p>
            <a:pPr marL="285750" indent="-285750">
              <a:buFont typeface="Wingdings" panose="05000000000000000000" pitchFamily="2" charset="2"/>
              <a:buChar char="n"/>
            </a:pPr>
            <a:endParaRPr lang="en-US" altLang="zh-CN" dirty="0"/>
          </a:p>
          <a:p>
            <a:pPr marL="285750" indent="-285750">
              <a:buFont typeface="Wingdings" panose="05000000000000000000" pitchFamily="2" charset="2"/>
              <a:buChar char="n"/>
            </a:pPr>
            <a:r>
              <a:rPr lang="zh-CN" altLang="en-US" dirty="0"/>
              <a:t>并行化技术的相关研究活跃、高性能计算技术蓬勃发展</a:t>
            </a:r>
            <a:r>
              <a:rPr lang="zh-CN" altLang="en-US" dirty="0">
                <a:solidFill>
                  <a:srgbClr val="009ED6"/>
                </a:solidFill>
              </a:rPr>
              <a:t>（发展现状）</a:t>
            </a:r>
            <a:endParaRPr lang="en-US" altLang="zh-CN" dirty="0">
              <a:solidFill>
                <a:srgbClr val="009ED6"/>
              </a:solidFill>
            </a:endParaRPr>
          </a:p>
          <a:p>
            <a:pPr marL="285750" indent="-285750">
              <a:buFont typeface="Wingdings" panose="05000000000000000000" pitchFamily="2" charset="2"/>
              <a:buChar char="n"/>
            </a:pPr>
            <a:endParaRPr lang="en-US" altLang="zh-CN" dirty="0"/>
          </a:p>
          <a:p>
            <a:pPr marL="285750" indent="-285750">
              <a:buFont typeface="Wingdings" panose="05000000000000000000" pitchFamily="2" charset="2"/>
              <a:buChar char="n"/>
            </a:pPr>
            <a:r>
              <a:rPr lang="zh-CN" altLang="en-US" dirty="0"/>
              <a:t>并行化技术成为了科学计算相关领域提高数据处理效率的主要途径</a:t>
            </a:r>
            <a:r>
              <a:rPr lang="zh-CN" altLang="en-US" dirty="0">
                <a:solidFill>
                  <a:srgbClr val="009ED6"/>
                </a:solidFill>
              </a:rPr>
              <a:t>（主要应用对象）</a:t>
            </a:r>
          </a:p>
        </p:txBody>
      </p:sp>
    </p:spTree>
    <p:custDataLst>
      <p:tags r:id="rId1"/>
    </p:custDataLst>
    <p:extLst>
      <p:ext uri="{BB962C8B-B14F-4D97-AF65-F5344CB8AC3E}">
        <p14:creationId xmlns:p14="http://schemas.microsoft.com/office/powerpoint/2010/main" val="3451332158"/>
      </p:ext>
    </p:extLst>
  </p:cSld>
  <p:clrMapOvr>
    <a:masterClrMapping/>
  </p:clrMapOvr>
  <mc:AlternateContent xmlns:mc="http://schemas.openxmlformats.org/markup-compatibility/2006" xmlns:p14="http://schemas.microsoft.com/office/powerpoint/2010/main">
    <mc:Choice Requires="p14">
      <p:transition spd="slow" p14:dur="2000" advTm="21264"/>
    </mc:Choice>
    <mc:Fallback xmlns="">
      <p:transition spd="slow" advTm="212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6" y="300158"/>
            <a:ext cx="3064934" cy="584775"/>
          </a:xfrm>
          <a:prstGeom prst="rect">
            <a:avLst/>
          </a:prstGeom>
          <a:noFill/>
        </p:spPr>
        <p:txBody>
          <a:bodyPr wrap="square" rtlCol="0">
            <a:spAutoFit/>
          </a:bodyPr>
          <a:lstStyle/>
          <a:p>
            <a:r>
              <a:rPr lang="zh-CN" altLang="en-US" sz="3200" b="1" dirty="0">
                <a:latin typeface="+mn-ea"/>
              </a:rPr>
              <a:t>提出问题</a:t>
            </a:r>
          </a:p>
        </p:txBody>
      </p:sp>
      <p:sp>
        <p:nvSpPr>
          <p:cNvPr id="2" name="文本框 1">
            <a:extLst>
              <a:ext uri="{FF2B5EF4-FFF2-40B4-BE49-F238E27FC236}">
                <a16:creationId xmlns:a16="http://schemas.microsoft.com/office/drawing/2014/main" id="{13E630D8-8C80-4621-A281-FBB8100B2D5D}"/>
              </a:ext>
            </a:extLst>
          </p:cNvPr>
          <p:cNvSpPr txBox="1"/>
          <p:nvPr/>
        </p:nvSpPr>
        <p:spPr>
          <a:xfrm>
            <a:off x="956733" y="1267712"/>
            <a:ext cx="10334880" cy="461665"/>
          </a:xfrm>
          <a:prstGeom prst="rect">
            <a:avLst/>
          </a:prstGeom>
          <a:noFill/>
        </p:spPr>
        <p:txBody>
          <a:bodyPr wrap="none" rtlCol="0">
            <a:spAutoFit/>
          </a:bodyPr>
          <a:lstStyle/>
          <a:p>
            <a:r>
              <a:rPr lang="zh-CN" altLang="en-US" sz="2400" dirty="0">
                <a:solidFill>
                  <a:srgbClr val="FF0000"/>
                </a:solidFill>
              </a:rPr>
              <a:t>现有并行化技术是否能够满足科学计算相关领域的程序并行化工作需求？</a:t>
            </a:r>
          </a:p>
        </p:txBody>
      </p:sp>
      <p:grpSp>
        <p:nvGrpSpPr>
          <p:cNvPr id="25" name="组合 24">
            <a:extLst>
              <a:ext uri="{FF2B5EF4-FFF2-40B4-BE49-F238E27FC236}">
                <a16:creationId xmlns:a16="http://schemas.microsoft.com/office/drawing/2014/main" id="{8544103F-86B8-46EB-A4C3-617D1E2F3FFC}"/>
              </a:ext>
            </a:extLst>
          </p:cNvPr>
          <p:cNvGrpSpPr/>
          <p:nvPr/>
        </p:nvGrpSpPr>
        <p:grpSpPr>
          <a:xfrm>
            <a:off x="956733" y="2255324"/>
            <a:ext cx="10552040" cy="1156407"/>
            <a:chOff x="956733" y="4153035"/>
            <a:chExt cx="10552040" cy="1156407"/>
          </a:xfrm>
        </p:grpSpPr>
        <p:grpSp>
          <p:nvGrpSpPr>
            <p:cNvPr id="22" name="组合 21">
              <a:extLst>
                <a:ext uri="{FF2B5EF4-FFF2-40B4-BE49-F238E27FC236}">
                  <a16:creationId xmlns:a16="http://schemas.microsoft.com/office/drawing/2014/main" id="{38E612D4-26E8-4B40-A452-023A7967FF2E}"/>
                </a:ext>
              </a:extLst>
            </p:cNvPr>
            <p:cNvGrpSpPr/>
            <p:nvPr/>
          </p:nvGrpSpPr>
          <p:grpSpPr>
            <a:xfrm>
              <a:off x="956733" y="4153035"/>
              <a:ext cx="3566113" cy="1156407"/>
              <a:chOff x="956732" y="4153035"/>
              <a:chExt cx="3566113" cy="1156407"/>
            </a:xfrm>
          </p:grpSpPr>
          <p:sp>
            <p:nvSpPr>
              <p:cNvPr id="11" name="文本框 10">
                <a:extLst>
                  <a:ext uri="{FF2B5EF4-FFF2-40B4-BE49-F238E27FC236}">
                    <a16:creationId xmlns:a16="http://schemas.microsoft.com/office/drawing/2014/main" id="{404CB2A1-AB36-471D-81EF-52FB56C23B66}"/>
                  </a:ext>
                </a:extLst>
              </p:cNvPr>
              <p:cNvSpPr txBox="1"/>
              <p:nvPr/>
            </p:nvSpPr>
            <p:spPr>
              <a:xfrm>
                <a:off x="956732" y="4608504"/>
                <a:ext cx="1005403" cy="338554"/>
              </a:xfrm>
              <a:prstGeom prst="rect">
                <a:avLst/>
              </a:prstGeom>
              <a:noFill/>
            </p:spPr>
            <p:txBody>
              <a:bodyPr wrap="none" rtlCol="0">
                <a:spAutoFit/>
              </a:bodyPr>
              <a:lstStyle/>
              <a:p>
                <a:r>
                  <a:rPr lang="zh-CN" altLang="en-US" sz="1600" dirty="0"/>
                  <a:t>程序特征</a:t>
                </a:r>
              </a:p>
            </p:txBody>
          </p:sp>
          <p:sp>
            <p:nvSpPr>
              <p:cNvPr id="12" name="文本框 11">
                <a:extLst>
                  <a:ext uri="{FF2B5EF4-FFF2-40B4-BE49-F238E27FC236}">
                    <a16:creationId xmlns:a16="http://schemas.microsoft.com/office/drawing/2014/main" id="{DD626173-7DA2-43D7-9AC2-406D31B487A9}"/>
                  </a:ext>
                </a:extLst>
              </p:cNvPr>
              <p:cNvSpPr txBox="1"/>
              <p:nvPr/>
            </p:nvSpPr>
            <p:spPr>
              <a:xfrm>
                <a:off x="2491520" y="4153035"/>
                <a:ext cx="2031325" cy="1156407"/>
              </a:xfrm>
              <a:prstGeom prst="rect">
                <a:avLst/>
              </a:prstGeom>
              <a:noFill/>
            </p:spPr>
            <p:txBody>
              <a:bodyPr wrap="none" rtlCol="0">
                <a:spAutoFit/>
              </a:bodyPr>
              <a:lstStyle/>
              <a:p>
                <a:pPr>
                  <a:lnSpc>
                    <a:spcPct val="150000"/>
                  </a:lnSpc>
                </a:pPr>
                <a:r>
                  <a:rPr lang="zh-CN" altLang="en-US" sz="1600" dirty="0"/>
                  <a:t>结构复杂</a:t>
                </a:r>
                <a:endParaRPr lang="en-US" altLang="zh-CN" sz="1600" dirty="0"/>
              </a:p>
              <a:p>
                <a:pPr>
                  <a:lnSpc>
                    <a:spcPct val="150000"/>
                  </a:lnSpc>
                </a:pPr>
                <a:r>
                  <a:rPr lang="zh-CN" altLang="en-US" sz="1600" dirty="0"/>
                  <a:t>数据密集、计算量大</a:t>
                </a:r>
                <a:endParaRPr lang="en-US" altLang="zh-CN" sz="1600" dirty="0"/>
              </a:p>
              <a:p>
                <a:pPr>
                  <a:lnSpc>
                    <a:spcPct val="150000"/>
                  </a:lnSpc>
                </a:pPr>
                <a:r>
                  <a:rPr lang="zh-CN" altLang="en-US" sz="1600" dirty="0"/>
                  <a:t>执行周期长</a:t>
                </a:r>
                <a:endParaRPr lang="en-US" altLang="zh-CN" sz="1600" dirty="0"/>
              </a:p>
            </p:txBody>
          </p:sp>
          <p:sp>
            <p:nvSpPr>
              <p:cNvPr id="13" name="左大括号 12">
                <a:extLst>
                  <a:ext uri="{FF2B5EF4-FFF2-40B4-BE49-F238E27FC236}">
                    <a16:creationId xmlns:a16="http://schemas.microsoft.com/office/drawing/2014/main" id="{458DCDE9-D67A-4B0C-AB7D-473637F683A2}"/>
                  </a:ext>
                </a:extLst>
              </p:cNvPr>
              <p:cNvSpPr/>
              <p:nvPr/>
            </p:nvSpPr>
            <p:spPr>
              <a:xfrm>
                <a:off x="2167320" y="4246121"/>
                <a:ext cx="324200" cy="106332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623F04FE-2528-4D6E-BB89-E0BD3B1695B7}"/>
                </a:ext>
              </a:extLst>
            </p:cNvPr>
            <p:cNvGrpSpPr/>
            <p:nvPr/>
          </p:nvGrpSpPr>
          <p:grpSpPr>
            <a:xfrm>
              <a:off x="6096000" y="4153035"/>
              <a:ext cx="5412773" cy="1156407"/>
              <a:chOff x="6134369" y="4153035"/>
              <a:chExt cx="5412773" cy="1156407"/>
            </a:xfrm>
          </p:grpSpPr>
          <p:sp>
            <p:nvSpPr>
              <p:cNvPr id="19" name="文本框 18">
                <a:extLst>
                  <a:ext uri="{FF2B5EF4-FFF2-40B4-BE49-F238E27FC236}">
                    <a16:creationId xmlns:a16="http://schemas.microsoft.com/office/drawing/2014/main" id="{630A6AB3-2A31-4D68-A516-DCAD86CFC5F2}"/>
                  </a:ext>
                </a:extLst>
              </p:cNvPr>
              <p:cNvSpPr txBox="1"/>
              <p:nvPr/>
            </p:nvSpPr>
            <p:spPr>
              <a:xfrm>
                <a:off x="6134369" y="4608504"/>
                <a:ext cx="1210588" cy="338554"/>
              </a:xfrm>
              <a:prstGeom prst="rect">
                <a:avLst/>
              </a:prstGeom>
              <a:noFill/>
            </p:spPr>
            <p:txBody>
              <a:bodyPr wrap="none" rtlCol="0">
                <a:spAutoFit/>
              </a:bodyPr>
              <a:lstStyle/>
              <a:p>
                <a:r>
                  <a:rPr lang="zh-CN" altLang="en-US" sz="1600" dirty="0"/>
                  <a:t>并行化需求</a:t>
                </a:r>
              </a:p>
            </p:txBody>
          </p:sp>
          <p:sp>
            <p:nvSpPr>
              <p:cNvPr id="20" name="文本框 19">
                <a:extLst>
                  <a:ext uri="{FF2B5EF4-FFF2-40B4-BE49-F238E27FC236}">
                    <a16:creationId xmlns:a16="http://schemas.microsoft.com/office/drawing/2014/main" id="{8DF75D8A-461D-4389-A0C9-2F162AACB91C}"/>
                  </a:ext>
                </a:extLst>
              </p:cNvPr>
              <p:cNvSpPr txBox="1"/>
              <p:nvPr/>
            </p:nvSpPr>
            <p:spPr>
              <a:xfrm>
                <a:off x="7669157" y="4153035"/>
                <a:ext cx="3877985" cy="1156407"/>
              </a:xfrm>
              <a:prstGeom prst="rect">
                <a:avLst/>
              </a:prstGeom>
              <a:noFill/>
            </p:spPr>
            <p:txBody>
              <a:bodyPr wrap="none" rtlCol="0">
                <a:spAutoFit/>
              </a:bodyPr>
              <a:lstStyle/>
              <a:p>
                <a:pPr>
                  <a:lnSpc>
                    <a:spcPct val="150000"/>
                  </a:lnSpc>
                </a:pPr>
                <a:r>
                  <a:rPr lang="zh-CN" altLang="en-US" sz="1600" dirty="0"/>
                  <a:t>并行性识别工具</a:t>
                </a:r>
                <a:r>
                  <a:rPr lang="zh-CN" altLang="en-US" sz="1600" dirty="0">
                    <a:solidFill>
                      <a:srgbClr val="009ED6"/>
                    </a:solidFill>
                  </a:rPr>
                  <a:t>快速、准确</a:t>
                </a:r>
                <a:r>
                  <a:rPr lang="zh-CN" altLang="en-US" sz="1600" dirty="0"/>
                  <a:t>地识别并行性</a:t>
                </a:r>
                <a:endParaRPr lang="en-US" altLang="zh-CN" sz="1600" dirty="0"/>
              </a:p>
              <a:p>
                <a:pPr>
                  <a:lnSpc>
                    <a:spcPct val="150000"/>
                  </a:lnSpc>
                </a:pPr>
                <a:endParaRPr lang="en-US" altLang="zh-CN" sz="1600" dirty="0"/>
              </a:p>
              <a:p>
                <a:pPr>
                  <a:lnSpc>
                    <a:spcPct val="150000"/>
                  </a:lnSpc>
                </a:pPr>
                <a:r>
                  <a:rPr lang="zh-CN" altLang="en-US" sz="1600" dirty="0"/>
                  <a:t>多种编程模型</a:t>
                </a:r>
                <a:r>
                  <a:rPr lang="zh-CN" altLang="en-US" sz="1600" dirty="0">
                    <a:solidFill>
                      <a:srgbClr val="009ED6"/>
                    </a:solidFill>
                  </a:rPr>
                  <a:t>无障碍地</a:t>
                </a:r>
                <a:r>
                  <a:rPr lang="zh-CN" altLang="en-US" sz="1600" dirty="0"/>
                  <a:t>混合使用</a:t>
                </a:r>
                <a:endParaRPr lang="en-US" altLang="zh-CN" sz="1600" dirty="0"/>
              </a:p>
            </p:txBody>
          </p:sp>
          <p:sp>
            <p:nvSpPr>
              <p:cNvPr id="21" name="左大括号 20">
                <a:extLst>
                  <a:ext uri="{FF2B5EF4-FFF2-40B4-BE49-F238E27FC236}">
                    <a16:creationId xmlns:a16="http://schemas.microsoft.com/office/drawing/2014/main" id="{3AA9FD2F-FFA7-4D96-AB2D-843E4E5C6CD0}"/>
                  </a:ext>
                </a:extLst>
              </p:cNvPr>
              <p:cNvSpPr/>
              <p:nvPr/>
            </p:nvSpPr>
            <p:spPr>
              <a:xfrm>
                <a:off x="7344957" y="4246121"/>
                <a:ext cx="324200" cy="106332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nvGrpSpPr>
          <p:cNvPr id="26" name="组合 25">
            <a:extLst>
              <a:ext uri="{FF2B5EF4-FFF2-40B4-BE49-F238E27FC236}">
                <a16:creationId xmlns:a16="http://schemas.microsoft.com/office/drawing/2014/main" id="{6D01ABC2-6ADD-4E5B-BD46-8F8225F10267}"/>
              </a:ext>
            </a:extLst>
          </p:cNvPr>
          <p:cNvGrpSpPr/>
          <p:nvPr/>
        </p:nvGrpSpPr>
        <p:grpSpPr>
          <a:xfrm>
            <a:off x="573158" y="4204122"/>
            <a:ext cx="8604709" cy="1895071"/>
            <a:chOff x="573158" y="4050278"/>
            <a:chExt cx="8604709" cy="2628900"/>
          </a:xfrm>
        </p:grpSpPr>
        <p:sp>
          <p:nvSpPr>
            <p:cNvPr id="27" name="文本框 26">
              <a:extLst>
                <a:ext uri="{FF2B5EF4-FFF2-40B4-BE49-F238E27FC236}">
                  <a16:creationId xmlns:a16="http://schemas.microsoft.com/office/drawing/2014/main" id="{537DFF8C-9796-46A8-8B0F-08403F72865E}"/>
                </a:ext>
              </a:extLst>
            </p:cNvPr>
            <p:cNvSpPr txBox="1"/>
            <p:nvPr/>
          </p:nvSpPr>
          <p:spPr>
            <a:xfrm>
              <a:off x="573158" y="5188759"/>
              <a:ext cx="1620957" cy="469652"/>
            </a:xfrm>
            <a:prstGeom prst="rect">
              <a:avLst/>
            </a:prstGeom>
            <a:noFill/>
          </p:spPr>
          <p:txBody>
            <a:bodyPr wrap="none" rtlCol="0">
              <a:spAutoFit/>
            </a:bodyPr>
            <a:lstStyle/>
            <a:p>
              <a:r>
                <a:rPr lang="zh-CN" altLang="en-US" sz="1600" dirty="0"/>
                <a:t>现有并行化技术</a:t>
              </a:r>
            </a:p>
          </p:txBody>
        </p:sp>
        <p:sp>
          <p:nvSpPr>
            <p:cNvPr id="28" name="文本框 27">
              <a:extLst>
                <a:ext uri="{FF2B5EF4-FFF2-40B4-BE49-F238E27FC236}">
                  <a16:creationId xmlns:a16="http://schemas.microsoft.com/office/drawing/2014/main" id="{8FAF90B1-5D95-4A86-8DAD-AB51891F7529}"/>
                </a:ext>
              </a:extLst>
            </p:cNvPr>
            <p:cNvSpPr txBox="1"/>
            <p:nvPr/>
          </p:nvSpPr>
          <p:spPr>
            <a:xfrm>
              <a:off x="2516921" y="4050278"/>
              <a:ext cx="6660946" cy="2628900"/>
            </a:xfrm>
            <a:prstGeom prst="rect">
              <a:avLst/>
            </a:prstGeom>
            <a:noFill/>
          </p:spPr>
          <p:txBody>
            <a:bodyPr wrap="square" rtlCol="0">
              <a:spAutoFit/>
            </a:bodyPr>
            <a:lstStyle/>
            <a:p>
              <a:pPr>
                <a:lnSpc>
                  <a:spcPct val="150000"/>
                </a:lnSpc>
              </a:pPr>
              <a:r>
                <a:rPr lang="zh-CN" altLang="en-US" sz="1600" dirty="0"/>
                <a:t>并行性识别工具</a:t>
              </a:r>
              <a:r>
                <a:rPr lang="zh-CN" altLang="en-US" sz="1600" dirty="0">
                  <a:solidFill>
                    <a:srgbClr val="009ED6"/>
                  </a:solidFill>
                </a:rPr>
                <a:t>（因分析方法不同而存在时间、适用范围等限制）</a:t>
              </a:r>
              <a:endParaRPr lang="en-US" altLang="zh-CN" sz="1600" dirty="0">
                <a:solidFill>
                  <a:srgbClr val="009ED6"/>
                </a:solidFill>
              </a:endParaRPr>
            </a:p>
            <a:p>
              <a:pPr>
                <a:lnSpc>
                  <a:spcPct val="150000"/>
                </a:lnSpc>
              </a:pPr>
              <a:endParaRPr lang="en-US" altLang="zh-CN" sz="1600" dirty="0"/>
            </a:p>
            <a:p>
              <a:pPr>
                <a:lnSpc>
                  <a:spcPct val="150000"/>
                </a:lnSpc>
              </a:pPr>
              <a:r>
                <a:rPr lang="zh-CN" altLang="en-US" sz="1600" dirty="0"/>
                <a:t>并行编程模型</a:t>
              </a:r>
              <a:r>
                <a:rPr lang="zh-CN" altLang="en-US" sz="1600" dirty="0">
                  <a:solidFill>
                    <a:srgbClr val="009ED6"/>
                  </a:solidFill>
                </a:rPr>
                <a:t>（</a:t>
              </a:r>
              <a:r>
                <a:rPr lang="en-US" altLang="zh-CN" sz="1600" dirty="0">
                  <a:solidFill>
                    <a:srgbClr val="009ED6"/>
                  </a:solidFill>
                </a:rPr>
                <a:t>MPI</a:t>
              </a:r>
              <a:r>
                <a:rPr lang="zh-CN" altLang="en-US" sz="1600" dirty="0">
                  <a:solidFill>
                    <a:srgbClr val="009ED6"/>
                  </a:solidFill>
                </a:rPr>
                <a:t>、</a:t>
              </a:r>
              <a:r>
                <a:rPr lang="en-US" altLang="zh-CN" sz="1600" dirty="0">
                  <a:solidFill>
                    <a:srgbClr val="009ED6"/>
                  </a:solidFill>
                </a:rPr>
                <a:t>OpenMP</a:t>
              </a:r>
              <a:r>
                <a:rPr lang="zh-CN" altLang="en-US" sz="1600" dirty="0">
                  <a:solidFill>
                    <a:srgbClr val="009ED6"/>
                  </a:solidFill>
                </a:rPr>
                <a:t>、</a:t>
              </a:r>
              <a:r>
                <a:rPr lang="en-US" altLang="zh-CN" sz="1600" dirty="0">
                  <a:solidFill>
                    <a:srgbClr val="009ED6"/>
                  </a:solidFill>
                </a:rPr>
                <a:t>CUDA</a:t>
              </a:r>
              <a:r>
                <a:rPr lang="zh-CN" altLang="en-US" sz="1600" dirty="0">
                  <a:solidFill>
                    <a:srgbClr val="009ED6"/>
                  </a:solidFill>
                </a:rPr>
                <a:t>等没有统一的编程接口）</a:t>
              </a:r>
              <a:endParaRPr lang="en-US" altLang="zh-CN" sz="1600" dirty="0">
                <a:solidFill>
                  <a:srgbClr val="009ED6"/>
                </a:solidFill>
              </a:endParaRPr>
            </a:p>
            <a:p>
              <a:pPr>
                <a:lnSpc>
                  <a:spcPct val="150000"/>
                </a:lnSpc>
              </a:pPr>
              <a:endParaRPr lang="en-US" altLang="zh-CN" sz="1600" dirty="0"/>
            </a:p>
            <a:p>
              <a:pPr>
                <a:lnSpc>
                  <a:spcPct val="150000"/>
                </a:lnSpc>
              </a:pPr>
              <a:r>
                <a:rPr lang="zh-CN" altLang="en-US" sz="1600" dirty="0"/>
                <a:t>自动并行化技术</a:t>
              </a:r>
              <a:r>
                <a:rPr lang="zh-CN" altLang="en-US" sz="1600" dirty="0">
                  <a:solidFill>
                    <a:srgbClr val="009ED6"/>
                  </a:solidFill>
                </a:rPr>
                <a:t>（借助编译器优化，不可读且性能影响因素较多）</a:t>
              </a:r>
              <a:endParaRPr lang="en-US" altLang="zh-CN" sz="1600" dirty="0">
                <a:solidFill>
                  <a:srgbClr val="009ED6"/>
                </a:solidFill>
              </a:endParaRPr>
            </a:p>
          </p:txBody>
        </p:sp>
        <p:sp>
          <p:nvSpPr>
            <p:cNvPr id="29" name="左大括号 28">
              <a:extLst>
                <a:ext uri="{FF2B5EF4-FFF2-40B4-BE49-F238E27FC236}">
                  <a16:creationId xmlns:a16="http://schemas.microsoft.com/office/drawing/2014/main" id="{6E08C5DC-CB97-4B38-9262-F9E3F9FE44A0}"/>
                </a:ext>
              </a:extLst>
            </p:cNvPr>
            <p:cNvSpPr/>
            <p:nvPr/>
          </p:nvSpPr>
          <p:spPr>
            <a:xfrm>
              <a:off x="2167321" y="4202086"/>
              <a:ext cx="324200" cy="2443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ustDataLst>
      <p:tags r:id="rId1"/>
    </p:custDataLst>
    <p:extLst>
      <p:ext uri="{BB962C8B-B14F-4D97-AF65-F5344CB8AC3E}">
        <p14:creationId xmlns:p14="http://schemas.microsoft.com/office/powerpoint/2010/main" val="1982865227"/>
      </p:ext>
    </p:extLst>
  </p:cSld>
  <p:clrMapOvr>
    <a:masterClrMapping/>
  </p:clrMapOvr>
  <mc:AlternateContent xmlns:mc="http://schemas.openxmlformats.org/markup-compatibility/2006" xmlns:p14="http://schemas.microsoft.com/office/powerpoint/2010/main">
    <mc:Choice Requires="p14">
      <p:transition spd="slow" p14:dur="2000" advTm="13960"/>
    </mc:Choice>
    <mc:Fallback xmlns="">
      <p:transition spd="slow" advTm="139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6" y="300158"/>
            <a:ext cx="3064934" cy="584775"/>
          </a:xfrm>
          <a:prstGeom prst="rect">
            <a:avLst/>
          </a:prstGeom>
          <a:noFill/>
        </p:spPr>
        <p:txBody>
          <a:bodyPr wrap="square" rtlCol="0">
            <a:spAutoFit/>
          </a:bodyPr>
          <a:lstStyle/>
          <a:p>
            <a:r>
              <a:rPr lang="zh-CN" altLang="en-US" sz="3200" b="1" dirty="0">
                <a:latin typeface="+mn-ea"/>
              </a:rPr>
              <a:t>提出问题</a:t>
            </a:r>
          </a:p>
        </p:txBody>
      </p:sp>
      <p:sp>
        <p:nvSpPr>
          <p:cNvPr id="24" name="文本框 23">
            <a:extLst>
              <a:ext uri="{FF2B5EF4-FFF2-40B4-BE49-F238E27FC236}">
                <a16:creationId xmlns:a16="http://schemas.microsoft.com/office/drawing/2014/main" id="{EE265D50-9D5B-4E4C-826E-7F8209CE6DC3}"/>
              </a:ext>
            </a:extLst>
          </p:cNvPr>
          <p:cNvSpPr txBox="1"/>
          <p:nvPr/>
        </p:nvSpPr>
        <p:spPr>
          <a:xfrm>
            <a:off x="237066" y="2236061"/>
            <a:ext cx="9397124" cy="1477328"/>
          </a:xfrm>
          <a:prstGeom prst="rect">
            <a:avLst/>
          </a:prstGeom>
          <a:noFill/>
        </p:spPr>
        <p:txBody>
          <a:bodyPr wrap="none" rtlCol="0">
            <a:spAutoFit/>
          </a:bodyPr>
          <a:lstStyle/>
          <a:p>
            <a:r>
              <a:rPr lang="zh-CN" altLang="en-US" dirty="0"/>
              <a:t>其难度主要体现在两个方面：</a:t>
            </a:r>
            <a:endParaRPr lang="en-US" altLang="zh-CN" dirty="0"/>
          </a:p>
          <a:p>
            <a:endParaRPr lang="en-US" altLang="zh-CN" dirty="0"/>
          </a:p>
          <a:p>
            <a:r>
              <a:rPr lang="en-US" altLang="zh-CN" dirty="0"/>
              <a:t>1</a:t>
            </a:r>
            <a:r>
              <a:rPr lang="zh-CN" altLang="en-US" dirty="0"/>
              <a:t>、程序并行性识别：人工识别能力不足，识别工具局限性较大，应用成本高、识别难度大</a:t>
            </a:r>
            <a:endParaRPr lang="en-US" altLang="zh-CN" dirty="0"/>
          </a:p>
          <a:p>
            <a:endParaRPr lang="en-US" altLang="zh-CN" dirty="0"/>
          </a:p>
          <a:p>
            <a:r>
              <a:rPr lang="en-US" altLang="zh-CN" dirty="0"/>
              <a:t>2</a:t>
            </a:r>
            <a:r>
              <a:rPr lang="zh-CN" altLang="en-US" dirty="0"/>
              <a:t>、并行程序开发：并行编程模型的使用标准不统一，混合使用难度大</a:t>
            </a:r>
          </a:p>
        </p:txBody>
      </p:sp>
      <p:sp>
        <p:nvSpPr>
          <p:cNvPr id="30" name="文本框 29">
            <a:extLst>
              <a:ext uri="{FF2B5EF4-FFF2-40B4-BE49-F238E27FC236}">
                <a16:creationId xmlns:a16="http://schemas.microsoft.com/office/drawing/2014/main" id="{85BF4112-0639-4AB8-A818-CC327C4736BE}"/>
              </a:ext>
            </a:extLst>
          </p:cNvPr>
          <p:cNvSpPr txBox="1"/>
          <p:nvPr/>
        </p:nvSpPr>
        <p:spPr>
          <a:xfrm>
            <a:off x="237066" y="1473692"/>
            <a:ext cx="10110460" cy="369332"/>
          </a:xfrm>
          <a:prstGeom prst="rect">
            <a:avLst/>
          </a:prstGeom>
          <a:noFill/>
        </p:spPr>
        <p:txBody>
          <a:bodyPr wrap="none" rtlCol="0">
            <a:spAutoFit/>
          </a:bodyPr>
          <a:lstStyle/>
          <a:p>
            <a:r>
              <a:rPr lang="zh-CN" altLang="en-US" dirty="0"/>
              <a:t>对于相关领域（如能源勘探）的从业人员而言，熟练地进行并行程序开发仍然不是一项简单的工作</a:t>
            </a:r>
            <a:endParaRPr lang="en-US" altLang="zh-CN" dirty="0"/>
          </a:p>
        </p:txBody>
      </p:sp>
    </p:spTree>
    <p:extLst>
      <p:ext uri="{BB962C8B-B14F-4D97-AF65-F5344CB8AC3E}">
        <p14:creationId xmlns:p14="http://schemas.microsoft.com/office/powerpoint/2010/main" val="2667690319"/>
      </p:ext>
    </p:extLst>
  </p:cSld>
  <p:clrMapOvr>
    <a:masterClrMapping/>
  </p:clrMapOvr>
  <mc:AlternateContent xmlns:mc="http://schemas.openxmlformats.org/markup-compatibility/2006" xmlns:p14="http://schemas.microsoft.com/office/powerpoint/2010/main">
    <mc:Choice Requires="p14">
      <p:transition spd="slow" p14:dur="2000" advTm="12734"/>
    </mc:Choice>
    <mc:Fallback xmlns="">
      <p:transition spd="slow" advTm="1273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6" y="300158"/>
            <a:ext cx="3064934" cy="584775"/>
          </a:xfrm>
          <a:prstGeom prst="rect">
            <a:avLst/>
          </a:prstGeom>
          <a:noFill/>
        </p:spPr>
        <p:txBody>
          <a:bodyPr wrap="square" rtlCol="0">
            <a:spAutoFit/>
          </a:bodyPr>
          <a:lstStyle/>
          <a:p>
            <a:r>
              <a:rPr lang="zh-CN" altLang="en-US" sz="3200" b="1" dirty="0">
                <a:latin typeface="+mn-ea"/>
              </a:rPr>
              <a:t>解决方案</a:t>
            </a:r>
          </a:p>
        </p:txBody>
      </p:sp>
      <p:sp>
        <p:nvSpPr>
          <p:cNvPr id="2" name="文本框 1">
            <a:extLst>
              <a:ext uri="{FF2B5EF4-FFF2-40B4-BE49-F238E27FC236}">
                <a16:creationId xmlns:a16="http://schemas.microsoft.com/office/drawing/2014/main" id="{AB37650F-13E6-48E3-9FA0-DD02073D0BCF}"/>
              </a:ext>
            </a:extLst>
          </p:cNvPr>
          <p:cNvSpPr txBox="1"/>
          <p:nvPr/>
        </p:nvSpPr>
        <p:spPr>
          <a:xfrm>
            <a:off x="284152" y="1775121"/>
            <a:ext cx="11623695" cy="873957"/>
          </a:xfrm>
          <a:prstGeom prst="rect">
            <a:avLst/>
          </a:prstGeom>
          <a:noFill/>
        </p:spPr>
        <p:txBody>
          <a:bodyPr wrap="none" rtlCol="0">
            <a:spAutoFit/>
          </a:bodyPr>
          <a:lstStyle/>
          <a:p>
            <a:pPr>
              <a:lnSpc>
                <a:spcPct val="150000"/>
              </a:lnSpc>
            </a:pPr>
            <a:r>
              <a:rPr lang="en-US" altLang="zh-CN" dirty="0"/>
              <a:t>1</a:t>
            </a:r>
            <a:r>
              <a:rPr lang="zh-CN" altLang="en-US" dirty="0"/>
              <a:t>、构造数据集、建立深度学习模型，提出一种新的串行程序并行性识别方法，避免现有并行性分析工具的局限性</a:t>
            </a:r>
            <a:endParaRPr lang="en-US" altLang="zh-CN" dirty="0"/>
          </a:p>
          <a:p>
            <a:pPr>
              <a:lnSpc>
                <a:spcPct val="150000"/>
              </a:lnSpc>
            </a:pPr>
            <a:r>
              <a:rPr lang="en-US" altLang="zh-CN" dirty="0"/>
              <a:t>2</a:t>
            </a:r>
            <a:r>
              <a:rPr lang="zh-CN" altLang="en-US" dirty="0"/>
              <a:t>、实现</a:t>
            </a:r>
            <a:r>
              <a:rPr lang="en-US" altLang="zh-CN" dirty="0"/>
              <a:t>PML</a:t>
            </a:r>
            <a:r>
              <a:rPr lang="zh-CN" altLang="en-US" dirty="0"/>
              <a:t>、搭建编程平台，统一现有并行编程模型的编程标准，提供并行程序开发与调试环境</a:t>
            </a:r>
            <a:endParaRPr lang="en-US" altLang="zh-CN" dirty="0"/>
          </a:p>
        </p:txBody>
      </p:sp>
      <p:graphicFrame>
        <p:nvGraphicFramePr>
          <p:cNvPr id="3" name="图示 2">
            <a:extLst>
              <a:ext uri="{FF2B5EF4-FFF2-40B4-BE49-F238E27FC236}">
                <a16:creationId xmlns:a16="http://schemas.microsoft.com/office/drawing/2014/main" id="{D750BA31-3D28-45F4-B8AB-00633418FC2D}"/>
              </a:ext>
            </a:extLst>
          </p:cNvPr>
          <p:cNvGraphicFramePr/>
          <p:nvPr>
            <p:extLst>
              <p:ext uri="{D42A27DB-BD31-4B8C-83A1-F6EECF244321}">
                <p14:modId xmlns:p14="http://schemas.microsoft.com/office/powerpoint/2010/main" val="1520240307"/>
              </p:ext>
            </p:extLst>
          </p:nvPr>
        </p:nvGraphicFramePr>
        <p:xfrm>
          <a:off x="237066" y="2952934"/>
          <a:ext cx="6637869" cy="22968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7" name="图示 6">
            <a:extLst>
              <a:ext uri="{FF2B5EF4-FFF2-40B4-BE49-F238E27FC236}">
                <a16:creationId xmlns:a16="http://schemas.microsoft.com/office/drawing/2014/main" id="{4B81BAD6-E97B-4327-9446-08E07DF94045}"/>
              </a:ext>
            </a:extLst>
          </p:cNvPr>
          <p:cNvGraphicFramePr/>
          <p:nvPr>
            <p:extLst>
              <p:ext uri="{D42A27DB-BD31-4B8C-83A1-F6EECF244321}">
                <p14:modId xmlns:p14="http://schemas.microsoft.com/office/powerpoint/2010/main" val="614037514"/>
              </p:ext>
            </p:extLst>
          </p:nvPr>
        </p:nvGraphicFramePr>
        <p:xfrm>
          <a:off x="7297224" y="3048003"/>
          <a:ext cx="4563537" cy="220174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9" name="文本框 8">
            <a:extLst>
              <a:ext uri="{FF2B5EF4-FFF2-40B4-BE49-F238E27FC236}">
                <a16:creationId xmlns:a16="http://schemas.microsoft.com/office/drawing/2014/main" id="{39976727-9E4D-4665-B3DE-EE253DEE446A}"/>
              </a:ext>
            </a:extLst>
          </p:cNvPr>
          <p:cNvSpPr txBox="1"/>
          <p:nvPr/>
        </p:nvSpPr>
        <p:spPr>
          <a:xfrm>
            <a:off x="237066" y="1405789"/>
            <a:ext cx="7840608" cy="369332"/>
          </a:xfrm>
          <a:prstGeom prst="rect">
            <a:avLst/>
          </a:prstGeom>
          <a:noFill/>
        </p:spPr>
        <p:txBody>
          <a:bodyPr wrap="none" rtlCol="0">
            <a:spAutoFit/>
          </a:bodyPr>
          <a:lstStyle/>
          <a:p>
            <a:r>
              <a:rPr lang="zh-CN" altLang="en-US" dirty="0">
                <a:solidFill>
                  <a:srgbClr val="FF0000"/>
                </a:solidFill>
              </a:rPr>
              <a:t>提出了一套从程序的并行性识别到并行程序开发与调试的完整解决方案。</a:t>
            </a:r>
          </a:p>
        </p:txBody>
      </p:sp>
    </p:spTree>
    <p:custDataLst>
      <p:tags r:id="rId1"/>
    </p:custDataLst>
    <p:extLst>
      <p:ext uri="{BB962C8B-B14F-4D97-AF65-F5344CB8AC3E}">
        <p14:creationId xmlns:p14="http://schemas.microsoft.com/office/powerpoint/2010/main" val="3928289020"/>
      </p:ext>
    </p:extLst>
  </p:cSld>
  <p:clrMapOvr>
    <a:masterClrMapping/>
  </p:clrMapOvr>
  <mc:AlternateContent xmlns:mc="http://schemas.openxmlformats.org/markup-compatibility/2006" xmlns:p14="http://schemas.microsoft.com/office/powerpoint/2010/main">
    <mc:Choice Requires="p14">
      <p:transition spd="slow" p14:dur="2000" advTm="40545"/>
    </mc:Choice>
    <mc:Fallback xmlns="">
      <p:transition spd="slow" advTm="405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randombar(horizontal)">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3" grpId="0">
        <p:bldAsOne/>
      </p:bldGraphic>
      <p:bldGraphic spid="7" grpId="0">
        <p:bldAsOne/>
      </p:bldGraphic>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1838096" y="2526245"/>
            <a:ext cx="5000249" cy="1805510"/>
            <a:chOff x="1453775" y="1538312"/>
            <a:chExt cx="3122975" cy="867798"/>
          </a:xfrm>
        </p:grpSpPr>
        <p:sp>
          <p:nvSpPr>
            <p:cNvPr id="4" name="矩形 3">
              <a:extLst>
                <a:ext uri="{FF2B5EF4-FFF2-40B4-BE49-F238E27FC236}">
                  <a16:creationId xmlns:a16="http://schemas.microsoft.com/office/drawing/2014/main" id="{0D880657-C374-4E41-A898-33D6E759EDB2}"/>
                </a:ext>
              </a:extLst>
            </p:cNvPr>
            <p:cNvSpPr/>
            <p:nvPr>
              <p:custDataLst>
                <p:tags r:id="rId2"/>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并行性识别方面</a:t>
              </a:r>
            </a:p>
          </p:txBody>
        </p:sp>
        <p:sp>
          <p:nvSpPr>
            <p:cNvPr id="5" name="文本框 4">
              <a:extLst>
                <a:ext uri="{FF2B5EF4-FFF2-40B4-BE49-F238E27FC236}">
                  <a16:creationId xmlns:a16="http://schemas.microsoft.com/office/drawing/2014/main" id="{386774D1-64BA-4936-9A35-D6A584D21087}"/>
                </a:ext>
              </a:extLst>
            </p:cNvPr>
            <p:cNvSpPr txBox="1"/>
            <p:nvPr>
              <p:custDataLst>
                <p:tags r:id="rId3"/>
              </p:custDataLst>
            </p:nvPr>
          </p:nvSpPr>
          <p:spPr>
            <a:xfrm>
              <a:off x="1453775" y="1538312"/>
              <a:ext cx="847365"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2.1</a:t>
              </a:r>
              <a:endParaRPr lang="zh-CN" altLang="en-US" sz="6000" b="1" dirty="0">
                <a:solidFill>
                  <a:srgbClr val="FFC000"/>
                </a:solidFill>
              </a:endParaRPr>
            </a:p>
          </p:txBody>
        </p:sp>
      </p:grpSp>
      <p:sp>
        <p:nvSpPr>
          <p:cNvPr id="11" name="矩形 10">
            <a:extLst>
              <a:ext uri="{FF2B5EF4-FFF2-40B4-BE49-F238E27FC236}">
                <a16:creationId xmlns:a16="http://schemas.microsoft.com/office/drawing/2014/main" id="{16DC3CB3-9E8C-4E69-A7BF-6F343D28BBE6}"/>
              </a:ext>
            </a:extLst>
          </p:cNvPr>
          <p:cNvSpPr/>
          <p:nvPr>
            <p:custDataLst>
              <p:tags r:id="rId1"/>
            </p:custDataLst>
          </p:nvPr>
        </p:nvSpPr>
        <p:spPr>
          <a:xfrm>
            <a:off x="7442703" y="2768423"/>
            <a:ext cx="3456620" cy="694443"/>
          </a:xfrm>
          <a:prstGeom prst="rect">
            <a:avLst/>
          </a:prstGeom>
        </p:spPr>
        <p:txBody>
          <a:bodyPr wrap="square">
            <a:noAutofit/>
          </a:bodyPr>
          <a:lstStyle/>
          <a:p>
            <a:pPr marL="342900" indent="-342900">
              <a:lnSpc>
                <a:spcPct val="120000"/>
              </a:lnSpc>
              <a:buAutoNum type="alphaLcParenR"/>
            </a:pPr>
            <a:r>
              <a:rPr lang="zh-CN" altLang="en-US" sz="1600" dirty="0"/>
              <a:t>数据集</a:t>
            </a:r>
            <a:r>
              <a:rPr lang="en-US" altLang="zh-CN" sz="1600" dirty="0"/>
              <a:t>GFCPD</a:t>
            </a:r>
          </a:p>
          <a:p>
            <a:pPr marL="342900" indent="-342900">
              <a:lnSpc>
                <a:spcPct val="120000"/>
              </a:lnSpc>
              <a:buAutoNum type="alphaLcParenR"/>
            </a:pPr>
            <a:endParaRPr lang="en-US" altLang="zh-CN" sz="1600" dirty="0"/>
          </a:p>
          <a:p>
            <a:pPr marL="342900" indent="-342900">
              <a:lnSpc>
                <a:spcPct val="120000"/>
              </a:lnSpc>
              <a:buAutoNum type="alphaLcParenR"/>
            </a:pPr>
            <a:endParaRPr lang="en-US" altLang="zh-CN" sz="1600" dirty="0"/>
          </a:p>
          <a:p>
            <a:pPr marL="342900" indent="-342900">
              <a:lnSpc>
                <a:spcPct val="120000"/>
              </a:lnSpc>
              <a:buAutoNum type="alphaLcParenR"/>
            </a:pPr>
            <a:r>
              <a:rPr lang="zh-CN" altLang="en-US" sz="1600" dirty="0"/>
              <a:t>基于</a:t>
            </a:r>
            <a:r>
              <a:rPr lang="en-US" altLang="zh-CN" sz="1600" dirty="0"/>
              <a:t>DGCNN</a:t>
            </a:r>
            <a:r>
              <a:rPr lang="zh-CN" altLang="en-US" sz="1600" dirty="0"/>
              <a:t>的识别模型</a:t>
            </a:r>
          </a:p>
        </p:txBody>
      </p:sp>
      <p:sp>
        <p:nvSpPr>
          <p:cNvPr id="12" name="左大括号 11">
            <a:extLst>
              <a:ext uri="{FF2B5EF4-FFF2-40B4-BE49-F238E27FC236}">
                <a16:creationId xmlns:a16="http://schemas.microsoft.com/office/drawing/2014/main" id="{2D4F26DA-14B3-4645-9BED-F854D425FD62}"/>
              </a:ext>
            </a:extLst>
          </p:cNvPr>
          <p:cNvSpPr/>
          <p:nvPr/>
        </p:nvSpPr>
        <p:spPr>
          <a:xfrm>
            <a:off x="7011604" y="2720532"/>
            <a:ext cx="337440" cy="1416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806139690"/>
      </p:ext>
    </p:extLst>
  </p:cSld>
  <p:clrMapOvr>
    <a:masterClrMapping/>
  </p:clrMapOvr>
  <mc:AlternateContent xmlns:mc="http://schemas.openxmlformats.org/markup-compatibility/2006" xmlns:p14="http://schemas.microsoft.com/office/powerpoint/2010/main">
    <mc:Choice Requires="p14">
      <p:transition spd="slow" p14:dur="2000" advTm="6715"/>
    </mc:Choice>
    <mc:Fallback xmlns="">
      <p:transition spd="slow" advTm="671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404796" y="2526245"/>
            <a:ext cx="5382407" cy="1805510"/>
            <a:chOff x="1215093" y="1538312"/>
            <a:chExt cx="3361657"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数据集</a:t>
              </a:r>
              <a:r>
                <a:rPr lang="en-US" altLang="zh-CN" sz="2000" dirty="0">
                  <a:latin typeface="Arial" panose="020B0604020202020204" pitchFamily="34" charset="0"/>
                  <a:ea typeface="黑体" panose="02010609060101010101" charset="-122"/>
                  <a:cs typeface="+mn-ea"/>
                </a:rPr>
                <a:t>GFCPD</a:t>
              </a:r>
              <a:endParaRPr lang="zh-CN" altLang="en-US" sz="2000" dirty="0">
                <a:latin typeface="Arial" panose="020B0604020202020204" pitchFamily="34" charset="0"/>
                <a:ea typeface="黑体" panose="02010609060101010101" charset="-122"/>
                <a:cs typeface="+mn-ea"/>
              </a:endParaRP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215093" y="1538312"/>
              <a:ext cx="1086047"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2.1.1</a:t>
              </a:r>
              <a:endParaRPr lang="zh-CN" altLang="en-US" sz="6000" b="1" dirty="0">
                <a:solidFill>
                  <a:srgbClr val="FFC000"/>
                </a:solidFill>
              </a:endParaRPr>
            </a:p>
          </p:txBody>
        </p:sp>
      </p:grpSp>
    </p:spTree>
    <p:extLst>
      <p:ext uri="{BB962C8B-B14F-4D97-AF65-F5344CB8AC3E}">
        <p14:creationId xmlns:p14="http://schemas.microsoft.com/office/powerpoint/2010/main" val="2280534977"/>
      </p:ext>
    </p:extLst>
  </p:cSld>
  <p:clrMapOvr>
    <a:masterClrMapping/>
  </p:clrMapOvr>
  <mc:AlternateContent xmlns:mc="http://schemas.openxmlformats.org/markup-compatibility/2006" xmlns:p14="http://schemas.microsoft.com/office/powerpoint/2010/main">
    <mc:Choice Requires="p14">
      <p:transition spd="slow" p14:dur="2000" advTm="3145"/>
    </mc:Choice>
    <mc:Fallback xmlns="">
      <p:transition spd="slow" advTm="314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457268"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grpSp>
        <p:nvGrpSpPr>
          <p:cNvPr id="14" name="组合 13">
            <a:extLst>
              <a:ext uri="{FF2B5EF4-FFF2-40B4-BE49-F238E27FC236}">
                <a16:creationId xmlns:a16="http://schemas.microsoft.com/office/drawing/2014/main" id="{8AFF6482-29D0-4595-AEFB-CE553E92D18A}"/>
              </a:ext>
            </a:extLst>
          </p:cNvPr>
          <p:cNvGrpSpPr/>
          <p:nvPr/>
        </p:nvGrpSpPr>
        <p:grpSpPr>
          <a:xfrm>
            <a:off x="237065" y="1782556"/>
            <a:ext cx="3809056" cy="2656487"/>
            <a:chOff x="237065" y="1782556"/>
            <a:chExt cx="3809056" cy="2656487"/>
          </a:xfrm>
        </p:grpSpPr>
        <p:sp>
          <p:nvSpPr>
            <p:cNvPr id="2" name="文本框 1">
              <a:extLst>
                <a:ext uri="{FF2B5EF4-FFF2-40B4-BE49-F238E27FC236}">
                  <a16:creationId xmlns:a16="http://schemas.microsoft.com/office/drawing/2014/main" id="{BA124CA8-F0C7-44CF-8A02-A4610E0574D2}"/>
                </a:ext>
              </a:extLst>
            </p:cNvPr>
            <p:cNvSpPr txBox="1"/>
            <p:nvPr/>
          </p:nvSpPr>
          <p:spPr>
            <a:xfrm>
              <a:off x="237065" y="1782556"/>
              <a:ext cx="3809056" cy="1525739"/>
            </a:xfrm>
            <a:prstGeom prst="rect">
              <a:avLst/>
            </a:prstGeom>
            <a:noFill/>
          </p:spPr>
          <p:txBody>
            <a:bodyPr wrap="none" rtlCol="0">
              <a:spAutoFit/>
            </a:bodyPr>
            <a:lstStyle/>
            <a:p>
              <a:pPr>
                <a:lnSpc>
                  <a:spcPct val="150000"/>
                </a:lnSpc>
              </a:pPr>
              <a:r>
                <a:rPr lang="zh-CN" altLang="en-US" sz="1600" dirty="0"/>
                <a:t>现有的数据集：</a:t>
              </a:r>
              <a:endParaRPr lang="en-US" altLang="zh-CN" sz="1600" dirty="0"/>
            </a:p>
            <a:p>
              <a:pPr>
                <a:lnSpc>
                  <a:spcPct val="150000"/>
                </a:lnSpc>
              </a:pPr>
              <a:r>
                <a:rPr lang="en-US" altLang="zh-CN" sz="1600" dirty="0"/>
                <a:t>1</a:t>
              </a:r>
              <a:r>
                <a:rPr lang="zh-CN" altLang="en-US" sz="1600" dirty="0"/>
                <a:t>、数据量小</a:t>
              </a:r>
              <a:endParaRPr lang="en-US" altLang="zh-CN" sz="1600" dirty="0"/>
            </a:p>
            <a:p>
              <a:pPr>
                <a:lnSpc>
                  <a:spcPct val="150000"/>
                </a:lnSpc>
              </a:pPr>
              <a:r>
                <a:rPr lang="en-US" altLang="zh-CN" sz="1600" dirty="0"/>
                <a:t>2</a:t>
              </a:r>
              <a:r>
                <a:rPr lang="zh-CN" altLang="en-US" sz="1600" dirty="0"/>
                <a:t>、对于是否可以并行没有明确的划分</a:t>
              </a:r>
              <a:endParaRPr lang="en-US" altLang="zh-CN" sz="1600" dirty="0"/>
            </a:p>
            <a:p>
              <a:pPr>
                <a:lnSpc>
                  <a:spcPct val="150000"/>
                </a:lnSpc>
              </a:pPr>
              <a:r>
                <a:rPr lang="en-US" altLang="zh-CN" sz="1600" dirty="0"/>
                <a:t>3</a:t>
              </a:r>
              <a:r>
                <a:rPr lang="zh-CN" altLang="en-US" sz="1600" dirty="0"/>
                <a:t>、没有合适的数据格式作为模型的输入</a:t>
              </a:r>
            </a:p>
          </p:txBody>
        </p:sp>
        <p:sp>
          <p:nvSpPr>
            <p:cNvPr id="9" name="文本框 8">
              <a:extLst>
                <a:ext uri="{FF2B5EF4-FFF2-40B4-BE49-F238E27FC236}">
                  <a16:creationId xmlns:a16="http://schemas.microsoft.com/office/drawing/2014/main" id="{6FC950DC-DD44-4788-9605-41CEBB47DAC7}"/>
                </a:ext>
              </a:extLst>
            </p:cNvPr>
            <p:cNvSpPr txBox="1"/>
            <p:nvPr/>
          </p:nvSpPr>
          <p:spPr>
            <a:xfrm>
              <a:off x="237066" y="3854268"/>
              <a:ext cx="3639051" cy="584775"/>
            </a:xfrm>
            <a:prstGeom prst="rect">
              <a:avLst/>
            </a:prstGeom>
            <a:noFill/>
          </p:spPr>
          <p:txBody>
            <a:bodyPr wrap="square" rtlCol="0">
              <a:spAutoFit/>
            </a:bodyPr>
            <a:lstStyle/>
            <a:p>
              <a:r>
                <a:rPr lang="zh-CN" altLang="en-US" sz="1600" dirty="0">
                  <a:solidFill>
                    <a:srgbClr val="FF0000"/>
                  </a:solidFill>
                </a:rPr>
                <a:t>并没有合适的数据集可以直接用于基于深度学习的串行程序并行性识别的研究</a:t>
              </a:r>
            </a:p>
          </p:txBody>
        </p:sp>
      </p:grpSp>
      <p:grpSp>
        <p:nvGrpSpPr>
          <p:cNvPr id="15" name="组合 14">
            <a:extLst>
              <a:ext uri="{FF2B5EF4-FFF2-40B4-BE49-F238E27FC236}">
                <a16:creationId xmlns:a16="http://schemas.microsoft.com/office/drawing/2014/main" id="{E43240F1-13B9-49E4-8CDA-BD449670019A}"/>
              </a:ext>
            </a:extLst>
          </p:cNvPr>
          <p:cNvGrpSpPr/>
          <p:nvPr/>
        </p:nvGrpSpPr>
        <p:grpSpPr>
          <a:xfrm>
            <a:off x="8315885" y="1782556"/>
            <a:ext cx="3639051" cy="2656487"/>
            <a:chOff x="5200149" y="1782556"/>
            <a:chExt cx="3639051" cy="2656487"/>
          </a:xfrm>
        </p:grpSpPr>
        <p:sp>
          <p:nvSpPr>
            <p:cNvPr id="7" name="文本框 6">
              <a:extLst>
                <a:ext uri="{FF2B5EF4-FFF2-40B4-BE49-F238E27FC236}">
                  <a16:creationId xmlns:a16="http://schemas.microsoft.com/office/drawing/2014/main" id="{18041B62-F952-4910-83BC-3A97389843C1}"/>
                </a:ext>
              </a:extLst>
            </p:cNvPr>
            <p:cNvSpPr txBox="1"/>
            <p:nvPr/>
          </p:nvSpPr>
          <p:spPr>
            <a:xfrm>
              <a:off x="5200150" y="1782556"/>
              <a:ext cx="2760692" cy="1525739"/>
            </a:xfrm>
            <a:prstGeom prst="rect">
              <a:avLst/>
            </a:prstGeom>
            <a:noFill/>
          </p:spPr>
          <p:txBody>
            <a:bodyPr wrap="none" rtlCol="0">
              <a:spAutoFit/>
            </a:bodyPr>
            <a:lstStyle/>
            <a:p>
              <a:pPr>
                <a:lnSpc>
                  <a:spcPct val="150000"/>
                </a:lnSpc>
              </a:pPr>
              <a:r>
                <a:rPr lang="zh-CN" altLang="en-US" sz="1600" dirty="0"/>
                <a:t>新的数据集：</a:t>
              </a:r>
              <a:endParaRPr lang="en-US" altLang="zh-CN" sz="1600" dirty="0"/>
            </a:p>
            <a:p>
              <a:pPr>
                <a:lnSpc>
                  <a:spcPct val="150000"/>
                </a:lnSpc>
              </a:pPr>
              <a:r>
                <a:rPr lang="en-US" altLang="zh-CN" sz="1600" dirty="0"/>
                <a:t>1</a:t>
              </a:r>
              <a:r>
                <a:rPr lang="zh-CN" altLang="en-US" sz="1600" dirty="0"/>
                <a:t>、数据量满足模型训练需求</a:t>
              </a:r>
              <a:endParaRPr lang="en-US" altLang="zh-CN" sz="1600" dirty="0"/>
            </a:p>
            <a:p>
              <a:pPr>
                <a:lnSpc>
                  <a:spcPct val="150000"/>
                </a:lnSpc>
              </a:pPr>
              <a:r>
                <a:rPr lang="en-US" altLang="zh-CN" sz="1600" dirty="0"/>
                <a:t>2</a:t>
              </a:r>
              <a:r>
                <a:rPr lang="zh-CN" altLang="en-US" sz="1600" dirty="0"/>
                <a:t>、明确的分类标签</a:t>
              </a:r>
              <a:endParaRPr lang="en-US" altLang="zh-CN" sz="1600" dirty="0"/>
            </a:p>
            <a:p>
              <a:pPr>
                <a:lnSpc>
                  <a:spcPct val="150000"/>
                </a:lnSpc>
              </a:pPr>
              <a:r>
                <a:rPr lang="en-US" altLang="zh-CN" sz="1600" dirty="0"/>
                <a:t>3</a:t>
              </a:r>
              <a:r>
                <a:rPr lang="zh-CN" altLang="en-US" sz="1600" dirty="0"/>
                <a:t>、合适的数据表示格式</a:t>
              </a:r>
            </a:p>
          </p:txBody>
        </p:sp>
        <p:sp>
          <p:nvSpPr>
            <p:cNvPr id="11" name="文本框 10">
              <a:extLst>
                <a:ext uri="{FF2B5EF4-FFF2-40B4-BE49-F238E27FC236}">
                  <a16:creationId xmlns:a16="http://schemas.microsoft.com/office/drawing/2014/main" id="{1A7D7353-91D1-49E2-AD5F-0EB78E039309}"/>
                </a:ext>
              </a:extLst>
            </p:cNvPr>
            <p:cNvSpPr txBox="1"/>
            <p:nvPr/>
          </p:nvSpPr>
          <p:spPr>
            <a:xfrm>
              <a:off x="5200149" y="3854268"/>
              <a:ext cx="3639051" cy="584775"/>
            </a:xfrm>
            <a:prstGeom prst="rect">
              <a:avLst/>
            </a:prstGeom>
            <a:noFill/>
          </p:spPr>
          <p:txBody>
            <a:bodyPr wrap="square" rtlCol="0">
              <a:spAutoFit/>
            </a:bodyPr>
            <a:lstStyle/>
            <a:p>
              <a:r>
                <a:rPr lang="zh-CN" altLang="en-US" sz="1600" dirty="0">
                  <a:solidFill>
                    <a:srgbClr val="FF0000"/>
                  </a:solidFill>
                </a:rPr>
                <a:t>数据范围覆盖全面、数据格式统一合理的通用数据集</a:t>
              </a:r>
            </a:p>
          </p:txBody>
        </p:sp>
      </p:grpSp>
      <p:cxnSp>
        <p:nvCxnSpPr>
          <p:cNvPr id="18" name="直接箭头连接符 17">
            <a:extLst>
              <a:ext uri="{FF2B5EF4-FFF2-40B4-BE49-F238E27FC236}">
                <a16:creationId xmlns:a16="http://schemas.microsoft.com/office/drawing/2014/main" id="{ABB6309F-F43A-4100-BB48-F16DDC3EAD49}"/>
              </a:ext>
            </a:extLst>
          </p:cNvPr>
          <p:cNvCxnSpPr>
            <a:cxnSpLocks/>
          </p:cNvCxnSpPr>
          <p:nvPr/>
        </p:nvCxnSpPr>
        <p:spPr>
          <a:xfrm>
            <a:off x="4301067" y="3031067"/>
            <a:ext cx="664632" cy="0"/>
          </a:xfrm>
          <a:prstGeom prst="straightConnector1">
            <a:avLst/>
          </a:prstGeom>
          <a:ln w="5715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A5FFB81-087A-435E-BEFE-44800DDB267A}"/>
              </a:ext>
            </a:extLst>
          </p:cNvPr>
          <p:cNvCxnSpPr>
            <a:cxnSpLocks/>
          </p:cNvCxnSpPr>
          <p:nvPr/>
        </p:nvCxnSpPr>
        <p:spPr>
          <a:xfrm>
            <a:off x="7357534" y="3022601"/>
            <a:ext cx="664632" cy="0"/>
          </a:xfrm>
          <a:prstGeom prst="straightConnector1">
            <a:avLst/>
          </a:prstGeom>
          <a:ln w="57150">
            <a:solidFill>
              <a:srgbClr val="44B36E"/>
            </a:solidFill>
            <a:tailEnd type="triangle"/>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7F35856F-8A53-4106-BD17-7F979976F60A}"/>
              </a:ext>
            </a:extLst>
          </p:cNvPr>
          <p:cNvPicPr>
            <a:picLocks noChangeAspect="1"/>
          </p:cNvPicPr>
          <p:nvPr/>
        </p:nvPicPr>
        <p:blipFill>
          <a:blip r:embed="rId5"/>
          <a:stretch>
            <a:fillRect/>
          </a:stretch>
        </p:blipFill>
        <p:spPr>
          <a:xfrm>
            <a:off x="5259419" y="1474658"/>
            <a:ext cx="1730625" cy="4759219"/>
          </a:xfrm>
          <a:prstGeom prst="rect">
            <a:avLst/>
          </a:prstGeom>
        </p:spPr>
      </p:pic>
    </p:spTree>
    <p:custDataLst>
      <p:tags r:id="rId1"/>
    </p:custDataLst>
    <p:extLst>
      <p:ext uri="{BB962C8B-B14F-4D97-AF65-F5344CB8AC3E}">
        <p14:creationId xmlns:p14="http://schemas.microsoft.com/office/powerpoint/2010/main" val="1653572872"/>
      </p:ext>
    </p:extLst>
  </p:cSld>
  <p:clrMapOvr>
    <a:masterClrMapping/>
  </p:clrMapOvr>
  <mc:AlternateContent xmlns:mc="http://schemas.openxmlformats.org/markup-compatibility/2006" xmlns:p14="http://schemas.microsoft.com/office/powerpoint/2010/main">
    <mc:Choice Requires="p14">
      <p:transition spd="slow" p14:dur="2000" advTm="44315"/>
    </mc:Choice>
    <mc:Fallback xmlns="">
      <p:transition spd="slow" advTm="443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
        <p:nvSpPr>
          <p:cNvPr id="2" name="文本框 1">
            <a:extLst>
              <a:ext uri="{FF2B5EF4-FFF2-40B4-BE49-F238E27FC236}">
                <a16:creationId xmlns:a16="http://schemas.microsoft.com/office/drawing/2014/main" id="{BBA1DBB3-906B-4A7B-B331-A3F15ED1EAAC}"/>
              </a:ext>
            </a:extLst>
          </p:cNvPr>
          <p:cNvSpPr txBox="1"/>
          <p:nvPr/>
        </p:nvSpPr>
        <p:spPr>
          <a:xfrm>
            <a:off x="330200" y="1353256"/>
            <a:ext cx="139653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数据搜集</a:t>
            </a:r>
          </a:p>
        </p:txBody>
      </p:sp>
      <p:grpSp>
        <p:nvGrpSpPr>
          <p:cNvPr id="9" name="组合 8">
            <a:extLst>
              <a:ext uri="{FF2B5EF4-FFF2-40B4-BE49-F238E27FC236}">
                <a16:creationId xmlns:a16="http://schemas.microsoft.com/office/drawing/2014/main" id="{8368BC84-6CD0-47EA-9270-4134AC231D9C}"/>
              </a:ext>
            </a:extLst>
          </p:cNvPr>
          <p:cNvGrpSpPr/>
          <p:nvPr/>
        </p:nvGrpSpPr>
        <p:grpSpPr>
          <a:xfrm>
            <a:off x="1482811" y="1956749"/>
            <a:ext cx="9226378" cy="1002530"/>
            <a:chOff x="291909" y="2168479"/>
            <a:chExt cx="11090022" cy="2228042"/>
          </a:xfrm>
        </p:grpSpPr>
        <p:grpSp>
          <p:nvGrpSpPr>
            <p:cNvPr id="10" name="组合 9">
              <a:extLst>
                <a:ext uri="{FF2B5EF4-FFF2-40B4-BE49-F238E27FC236}">
                  <a16:creationId xmlns:a16="http://schemas.microsoft.com/office/drawing/2014/main" id="{12550BE4-3E9F-4FB5-8C04-38E0CE540864}"/>
                </a:ext>
              </a:extLst>
            </p:cNvPr>
            <p:cNvGrpSpPr/>
            <p:nvPr>
              <p:custDataLst>
                <p:tags r:id="rId2"/>
              </p:custDataLst>
            </p:nvPr>
          </p:nvGrpSpPr>
          <p:grpSpPr>
            <a:xfrm>
              <a:off x="291909" y="2168479"/>
              <a:ext cx="3456620" cy="2228041"/>
              <a:chOff x="544629" y="2854914"/>
              <a:chExt cx="3456620" cy="2228041"/>
            </a:xfrm>
          </p:grpSpPr>
          <p:sp>
            <p:nvSpPr>
              <p:cNvPr id="19" name="矩形 18">
                <a:extLst>
                  <a:ext uri="{FF2B5EF4-FFF2-40B4-BE49-F238E27FC236}">
                    <a16:creationId xmlns:a16="http://schemas.microsoft.com/office/drawing/2014/main" id="{B22B60CD-DCB0-4BBC-9D9B-62C68E827BF0}"/>
                  </a:ext>
                </a:extLst>
              </p:cNvPr>
              <p:cNvSpPr/>
              <p:nvPr>
                <p:custDataLst>
                  <p:tags r:id="rId11"/>
                </p:custDataLst>
              </p:nvPr>
            </p:nvSpPr>
            <p:spPr>
              <a:xfrm>
                <a:off x="1917188" y="3052845"/>
                <a:ext cx="2084061" cy="835243"/>
              </a:xfrm>
              <a:prstGeom prst="rect">
                <a:avLst/>
              </a:prstGeom>
              <a:solidFill>
                <a:srgbClr val="018BE9"/>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基准测试程序</a:t>
                </a:r>
              </a:p>
            </p:txBody>
          </p:sp>
          <p:sp>
            <p:nvSpPr>
              <p:cNvPr id="20" name="文本框 19">
                <a:extLst>
                  <a:ext uri="{FF2B5EF4-FFF2-40B4-BE49-F238E27FC236}">
                    <a16:creationId xmlns:a16="http://schemas.microsoft.com/office/drawing/2014/main" id="{D3642586-87FC-428B-8AD9-96290B03CF88}"/>
                  </a:ext>
                </a:extLst>
              </p:cNvPr>
              <p:cNvSpPr txBox="1"/>
              <p:nvPr>
                <p:custDataLst>
                  <p:tags r:id="rId12"/>
                </p:custDataLst>
              </p:nvPr>
            </p:nvSpPr>
            <p:spPr>
              <a:xfrm>
                <a:off x="544629"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018BE9"/>
                    </a:solidFill>
                  </a:rPr>
                  <a:t>01</a:t>
                </a:r>
                <a:endParaRPr lang="zh-CN" altLang="en-US" sz="8000" b="1" dirty="0">
                  <a:solidFill>
                    <a:srgbClr val="018BE9"/>
                  </a:solidFill>
                </a:endParaRPr>
              </a:p>
            </p:txBody>
          </p:sp>
          <p:sp>
            <p:nvSpPr>
              <p:cNvPr id="21" name="矩形 20">
                <a:extLst>
                  <a:ext uri="{FF2B5EF4-FFF2-40B4-BE49-F238E27FC236}">
                    <a16:creationId xmlns:a16="http://schemas.microsoft.com/office/drawing/2014/main" id="{8AA09DE0-F307-47AA-85BE-76B87FFC51CE}"/>
                  </a:ext>
                </a:extLst>
              </p:cNvPr>
              <p:cNvSpPr/>
              <p:nvPr>
                <p:custDataLst>
                  <p:tags r:id="rId13"/>
                </p:custDataLst>
              </p:nvPr>
            </p:nvSpPr>
            <p:spPr>
              <a:xfrm>
                <a:off x="544629" y="4104226"/>
                <a:ext cx="3456620" cy="978729"/>
              </a:xfrm>
              <a:prstGeom prst="rect">
                <a:avLst/>
              </a:prstGeom>
            </p:spPr>
            <p:txBody>
              <a:bodyPr wrap="square">
                <a:noAutofit/>
              </a:bodyPr>
              <a:lstStyle/>
              <a:p>
                <a:pPr>
                  <a:lnSpc>
                    <a:spcPct val="120000"/>
                  </a:lnSpc>
                </a:pPr>
                <a:r>
                  <a:rPr lang="zh-CN" altLang="en-US" sz="1400" dirty="0"/>
                  <a:t>现有研究中常用的数据集，包括了</a:t>
                </a:r>
                <a:r>
                  <a:rPr lang="en-US" altLang="zh-CN" sz="1400" dirty="0"/>
                  <a:t>Livermore</a:t>
                </a:r>
                <a:r>
                  <a:rPr lang="zh-CN" altLang="en-US" sz="1400" dirty="0"/>
                  <a:t>和</a:t>
                </a:r>
                <a:r>
                  <a:rPr lang="en-US" altLang="zh-CN" sz="1400" dirty="0"/>
                  <a:t>NPB</a:t>
                </a:r>
                <a:r>
                  <a:rPr lang="zh-CN" altLang="en-US" sz="1400" dirty="0"/>
                  <a:t>两部分</a:t>
                </a:r>
                <a:endParaRPr lang="en-US" altLang="zh-CN" sz="1400" dirty="0"/>
              </a:p>
            </p:txBody>
          </p:sp>
        </p:grpSp>
        <p:grpSp>
          <p:nvGrpSpPr>
            <p:cNvPr id="11" name="组合 10">
              <a:extLst>
                <a:ext uri="{FF2B5EF4-FFF2-40B4-BE49-F238E27FC236}">
                  <a16:creationId xmlns:a16="http://schemas.microsoft.com/office/drawing/2014/main" id="{98A835E5-35AD-40F3-A059-2F5E34CF7078}"/>
                </a:ext>
              </a:extLst>
            </p:cNvPr>
            <p:cNvGrpSpPr/>
            <p:nvPr>
              <p:custDataLst>
                <p:tags r:id="rId3"/>
              </p:custDataLst>
            </p:nvPr>
          </p:nvGrpSpPr>
          <p:grpSpPr>
            <a:xfrm>
              <a:off x="4108610" y="2168479"/>
              <a:ext cx="3456620" cy="2228042"/>
              <a:chOff x="4977291" y="2854914"/>
              <a:chExt cx="3456620" cy="2228042"/>
            </a:xfrm>
          </p:grpSpPr>
          <p:sp>
            <p:nvSpPr>
              <p:cNvPr id="16" name="矩形 15">
                <a:extLst>
                  <a:ext uri="{FF2B5EF4-FFF2-40B4-BE49-F238E27FC236}">
                    <a16:creationId xmlns:a16="http://schemas.microsoft.com/office/drawing/2014/main" id="{51C7D33D-8644-4C0A-920C-691B20082DBB}"/>
                  </a:ext>
                </a:extLst>
              </p:cNvPr>
              <p:cNvSpPr/>
              <p:nvPr>
                <p:custDataLst>
                  <p:tags r:id="rId8"/>
                </p:custDataLst>
              </p:nvPr>
            </p:nvSpPr>
            <p:spPr>
              <a:xfrm>
                <a:off x="6349850" y="3052845"/>
                <a:ext cx="2084061"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fontScale="92500"/>
              </a:bodyPr>
              <a:lstStyle/>
              <a:p>
                <a:pPr algn="ctr"/>
                <a:r>
                  <a:rPr lang="zh-CN" altLang="en-US" dirty="0">
                    <a:latin typeface="Arial" panose="020B0604020202020204" pitchFamily="34" charset="0"/>
                    <a:ea typeface="黑体" panose="02010609060101010101" charset="-122"/>
                    <a:cs typeface="+mn-ea"/>
                  </a:rPr>
                  <a:t>数学运算程序库</a:t>
                </a:r>
              </a:p>
            </p:txBody>
          </p:sp>
          <p:sp>
            <p:nvSpPr>
              <p:cNvPr id="17" name="文本框 16">
                <a:extLst>
                  <a:ext uri="{FF2B5EF4-FFF2-40B4-BE49-F238E27FC236}">
                    <a16:creationId xmlns:a16="http://schemas.microsoft.com/office/drawing/2014/main" id="{818437E5-BAB9-4B93-ACC9-5F12BE58187D}"/>
                  </a:ext>
                </a:extLst>
              </p:cNvPr>
              <p:cNvSpPr txBox="1"/>
              <p:nvPr>
                <p:custDataLst>
                  <p:tags r:id="rId9"/>
                </p:custDataLst>
              </p:nvPr>
            </p:nvSpPr>
            <p:spPr>
              <a:xfrm>
                <a:off x="4977291"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FFC000"/>
                    </a:solidFill>
                  </a:rPr>
                  <a:t>02</a:t>
                </a:r>
                <a:endParaRPr lang="zh-CN" altLang="en-US" sz="8000" b="1" dirty="0">
                  <a:solidFill>
                    <a:srgbClr val="FFC000"/>
                  </a:solidFill>
                </a:endParaRPr>
              </a:p>
            </p:txBody>
          </p:sp>
          <p:sp>
            <p:nvSpPr>
              <p:cNvPr id="18" name="矩形 17">
                <a:extLst>
                  <a:ext uri="{FF2B5EF4-FFF2-40B4-BE49-F238E27FC236}">
                    <a16:creationId xmlns:a16="http://schemas.microsoft.com/office/drawing/2014/main" id="{A6986440-ABD6-4F3D-97A1-DADEAA7CEA51}"/>
                  </a:ext>
                </a:extLst>
              </p:cNvPr>
              <p:cNvSpPr/>
              <p:nvPr>
                <p:custDataLst>
                  <p:tags r:id="rId10"/>
                </p:custDataLst>
              </p:nvPr>
            </p:nvSpPr>
            <p:spPr>
              <a:xfrm>
                <a:off x="4977291" y="4104227"/>
                <a:ext cx="3456620" cy="978729"/>
              </a:xfrm>
              <a:prstGeom prst="rect">
                <a:avLst/>
              </a:prstGeom>
            </p:spPr>
            <p:txBody>
              <a:bodyPr wrap="square">
                <a:noAutofit/>
              </a:bodyPr>
              <a:lstStyle/>
              <a:p>
                <a:pPr>
                  <a:lnSpc>
                    <a:spcPct val="120000"/>
                  </a:lnSpc>
                </a:pPr>
                <a:r>
                  <a:rPr lang="zh-CN" altLang="en-US" sz="1400" dirty="0"/>
                  <a:t>支持线性代数、矩阵运算、矢量运算和数值分析的</a:t>
                </a:r>
                <a:r>
                  <a:rPr lang="en-US" altLang="zh-CN" sz="1400" dirty="0"/>
                  <a:t>GMP</a:t>
                </a:r>
                <a:r>
                  <a:rPr lang="zh-CN" altLang="en-US" sz="1400" dirty="0"/>
                  <a:t>、</a:t>
                </a:r>
                <a:r>
                  <a:rPr lang="en-US" altLang="zh-CN" sz="1400" dirty="0"/>
                  <a:t>BLAS</a:t>
                </a:r>
                <a:r>
                  <a:rPr lang="zh-CN" altLang="en-US" sz="1400" dirty="0"/>
                  <a:t>等</a:t>
                </a:r>
              </a:p>
            </p:txBody>
          </p:sp>
        </p:grpSp>
        <p:grpSp>
          <p:nvGrpSpPr>
            <p:cNvPr id="12" name="组合 11">
              <a:extLst>
                <a:ext uri="{FF2B5EF4-FFF2-40B4-BE49-F238E27FC236}">
                  <a16:creationId xmlns:a16="http://schemas.microsoft.com/office/drawing/2014/main" id="{EA447A4C-E9B6-433A-8B33-E7983FD63762}"/>
                </a:ext>
              </a:extLst>
            </p:cNvPr>
            <p:cNvGrpSpPr/>
            <p:nvPr>
              <p:custDataLst>
                <p:tags r:id="rId4"/>
              </p:custDataLst>
            </p:nvPr>
          </p:nvGrpSpPr>
          <p:grpSpPr>
            <a:xfrm>
              <a:off x="7925311" y="2168479"/>
              <a:ext cx="3456620" cy="2228041"/>
              <a:chOff x="8735380" y="2854914"/>
              <a:chExt cx="3456620" cy="2228041"/>
            </a:xfrm>
          </p:grpSpPr>
          <p:sp>
            <p:nvSpPr>
              <p:cNvPr id="13" name="矩形 12">
                <a:extLst>
                  <a:ext uri="{FF2B5EF4-FFF2-40B4-BE49-F238E27FC236}">
                    <a16:creationId xmlns:a16="http://schemas.microsoft.com/office/drawing/2014/main" id="{99EF01CE-C58F-4254-AE63-4B91AA69879E}"/>
                  </a:ext>
                </a:extLst>
              </p:cNvPr>
              <p:cNvSpPr/>
              <p:nvPr>
                <p:custDataLst>
                  <p:tags r:id="rId5"/>
                </p:custDataLst>
              </p:nvPr>
            </p:nvSpPr>
            <p:spPr>
              <a:xfrm>
                <a:off x="10107939" y="3052845"/>
                <a:ext cx="2084061" cy="835243"/>
              </a:xfrm>
              <a:prstGeom prst="rect">
                <a:avLst/>
              </a:prstGeom>
              <a:solidFill>
                <a:srgbClr val="00B0F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dirty="0">
                    <a:latin typeface="Arial" panose="020B0604020202020204" pitchFamily="34" charset="0"/>
                    <a:ea typeface="黑体" panose="02010609060101010101" charset="-122"/>
                    <a:cs typeface="+mn-ea"/>
                  </a:rPr>
                  <a:t>其他一般程序</a:t>
                </a:r>
              </a:p>
            </p:txBody>
          </p:sp>
          <p:sp>
            <p:nvSpPr>
              <p:cNvPr id="14" name="文本框 13">
                <a:extLst>
                  <a:ext uri="{FF2B5EF4-FFF2-40B4-BE49-F238E27FC236}">
                    <a16:creationId xmlns:a16="http://schemas.microsoft.com/office/drawing/2014/main" id="{DB1AA939-3BC0-469F-85A5-98777F735DCE}"/>
                  </a:ext>
                </a:extLst>
              </p:cNvPr>
              <p:cNvSpPr txBox="1"/>
              <p:nvPr>
                <p:custDataLst>
                  <p:tags r:id="rId6"/>
                </p:custDataLst>
              </p:nvPr>
            </p:nvSpPr>
            <p:spPr>
              <a:xfrm>
                <a:off x="8735380" y="2854914"/>
                <a:ext cx="1322798" cy="1231106"/>
              </a:xfrm>
              <a:prstGeom prst="rect">
                <a:avLst/>
              </a:prstGeom>
              <a:noFill/>
            </p:spPr>
            <p:txBody>
              <a:bodyPr wrap="square" lIns="0" tIns="0" rIns="0" bIns="0" rtlCol="0" anchor="ctr" anchorCtr="1">
                <a:normAutofit fontScale="55000" lnSpcReduction="20000"/>
              </a:bodyPr>
              <a:lstStyle/>
              <a:p>
                <a:pPr algn="ctr"/>
                <a:r>
                  <a:rPr lang="en-US" altLang="zh-CN" sz="8000" b="1" dirty="0">
                    <a:solidFill>
                      <a:srgbClr val="00B0F0"/>
                    </a:solidFill>
                  </a:rPr>
                  <a:t>03</a:t>
                </a:r>
                <a:endParaRPr lang="zh-CN" altLang="en-US" sz="8000" b="1" dirty="0">
                  <a:solidFill>
                    <a:srgbClr val="00B0F0"/>
                  </a:solidFill>
                </a:endParaRPr>
              </a:p>
            </p:txBody>
          </p:sp>
          <p:sp>
            <p:nvSpPr>
              <p:cNvPr id="15" name="矩形 14">
                <a:extLst>
                  <a:ext uri="{FF2B5EF4-FFF2-40B4-BE49-F238E27FC236}">
                    <a16:creationId xmlns:a16="http://schemas.microsoft.com/office/drawing/2014/main" id="{B910F9BD-9C7B-4FC8-9094-3423AC12E59B}"/>
                  </a:ext>
                </a:extLst>
              </p:cNvPr>
              <p:cNvSpPr/>
              <p:nvPr>
                <p:custDataLst>
                  <p:tags r:id="rId7"/>
                </p:custDataLst>
              </p:nvPr>
            </p:nvSpPr>
            <p:spPr>
              <a:xfrm>
                <a:off x="8735380" y="4104226"/>
                <a:ext cx="3456620" cy="978729"/>
              </a:xfrm>
              <a:prstGeom prst="rect">
                <a:avLst/>
              </a:prstGeom>
            </p:spPr>
            <p:txBody>
              <a:bodyPr wrap="square">
                <a:noAutofit/>
              </a:bodyPr>
              <a:lstStyle/>
              <a:p>
                <a:pPr>
                  <a:lnSpc>
                    <a:spcPct val="120000"/>
                  </a:lnSpc>
                </a:pPr>
                <a:r>
                  <a:rPr lang="zh-CN" altLang="en-US" sz="1400" dirty="0"/>
                  <a:t>经典并行例程、矩阵操作、图和树的相关算法、动态规划相关算法等</a:t>
                </a:r>
                <a:endParaRPr lang="en-US" altLang="zh-CN" sz="1400" dirty="0"/>
              </a:p>
            </p:txBody>
          </p:sp>
        </p:grpSp>
      </p:grpSp>
      <p:sp>
        <p:nvSpPr>
          <p:cNvPr id="7" name="矩形 6">
            <a:extLst>
              <a:ext uri="{FF2B5EF4-FFF2-40B4-BE49-F238E27FC236}">
                <a16:creationId xmlns:a16="http://schemas.microsoft.com/office/drawing/2014/main" id="{425E8352-84C5-4954-82B7-BA898AEC2941}"/>
              </a:ext>
            </a:extLst>
          </p:cNvPr>
          <p:cNvSpPr/>
          <p:nvPr/>
        </p:nvSpPr>
        <p:spPr>
          <a:xfrm>
            <a:off x="330200" y="4347303"/>
            <a:ext cx="11264622" cy="369332"/>
          </a:xfrm>
          <a:prstGeom prst="rect">
            <a:avLst/>
          </a:prstGeom>
        </p:spPr>
        <p:txBody>
          <a:bodyPr wrap="none">
            <a:spAutoFit/>
          </a:bodyPr>
          <a:lstStyle/>
          <a:p>
            <a:r>
              <a:rPr lang="zh-CN" altLang="en-US" dirty="0">
                <a:solidFill>
                  <a:srgbClr val="FF0000"/>
                </a:solidFill>
              </a:rPr>
              <a:t>数据范围覆盖全面：覆盖了现有研究中常用的数据集、高性能计算常用数学库和实际问题中常用的算法原型</a:t>
            </a:r>
          </a:p>
        </p:txBody>
      </p:sp>
    </p:spTree>
    <p:custDataLst>
      <p:tags r:id="rId1"/>
    </p:custDataLst>
    <p:extLst>
      <p:ext uri="{BB962C8B-B14F-4D97-AF65-F5344CB8AC3E}">
        <p14:creationId xmlns:p14="http://schemas.microsoft.com/office/powerpoint/2010/main" val="746170535"/>
      </p:ext>
    </p:extLst>
  </p:cSld>
  <p:clrMapOvr>
    <a:masterClrMapping/>
  </p:clrMapOvr>
  <mc:AlternateContent xmlns:mc="http://schemas.openxmlformats.org/markup-compatibility/2006" xmlns:p14="http://schemas.microsoft.com/office/powerpoint/2010/main">
    <mc:Choice Requires="p14">
      <p:transition spd="slow" p14:dur="2000" advTm="12232"/>
    </mc:Choice>
    <mc:Fallback xmlns="">
      <p:transition spd="slow" advTm="122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139653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数据提取</a:t>
            </a:r>
          </a:p>
        </p:txBody>
      </p:sp>
      <p:pic>
        <p:nvPicPr>
          <p:cNvPr id="2" name="图片 1">
            <a:extLst>
              <a:ext uri="{FF2B5EF4-FFF2-40B4-BE49-F238E27FC236}">
                <a16:creationId xmlns:a16="http://schemas.microsoft.com/office/drawing/2014/main" id="{7721B5DF-D1EE-45AD-8B24-DBB071B6FFE7}"/>
              </a:ext>
            </a:extLst>
          </p:cNvPr>
          <p:cNvPicPr>
            <a:picLocks noChangeAspect="1"/>
          </p:cNvPicPr>
          <p:nvPr/>
        </p:nvPicPr>
        <p:blipFill>
          <a:blip r:embed="rId5"/>
          <a:stretch>
            <a:fillRect/>
          </a:stretch>
        </p:blipFill>
        <p:spPr>
          <a:xfrm>
            <a:off x="749068" y="1956749"/>
            <a:ext cx="3646680" cy="4568296"/>
          </a:xfrm>
          <a:prstGeom prst="rect">
            <a:avLst/>
          </a:prstGeom>
        </p:spPr>
      </p:pic>
      <p:sp>
        <p:nvSpPr>
          <p:cNvPr id="14" name="文本框 13">
            <a:extLst>
              <a:ext uri="{FF2B5EF4-FFF2-40B4-BE49-F238E27FC236}">
                <a16:creationId xmlns:a16="http://schemas.microsoft.com/office/drawing/2014/main" id="{E02AF31C-C4B8-440E-8F47-8123FEC97715}"/>
              </a:ext>
            </a:extLst>
          </p:cNvPr>
          <p:cNvSpPr txBox="1"/>
          <p:nvPr/>
        </p:nvSpPr>
        <p:spPr>
          <a:xfrm>
            <a:off x="4800599" y="4240897"/>
            <a:ext cx="4878259" cy="2031325"/>
          </a:xfrm>
          <a:prstGeom prst="rect">
            <a:avLst/>
          </a:prstGeom>
          <a:noFill/>
        </p:spPr>
        <p:txBody>
          <a:bodyPr wrap="none" rtlCol="0">
            <a:spAutoFit/>
          </a:bodyPr>
          <a:lstStyle/>
          <a:p>
            <a:r>
              <a:rPr lang="zh-CN" altLang="en-US" dirty="0">
                <a:solidFill>
                  <a:srgbClr val="FF0000"/>
                </a:solidFill>
              </a:rPr>
              <a:t>输入：一份源代码文件</a:t>
            </a:r>
            <a:endParaRPr lang="en-US" altLang="zh-CN" dirty="0">
              <a:solidFill>
                <a:srgbClr val="FF0000"/>
              </a:solidFill>
            </a:endParaRPr>
          </a:p>
          <a:p>
            <a:r>
              <a:rPr lang="zh-CN" altLang="en-US" dirty="0">
                <a:solidFill>
                  <a:srgbClr val="FF0000"/>
                </a:solidFill>
              </a:rPr>
              <a:t>输出：只包含一个循环的新代码文件集合</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PS</a:t>
            </a:r>
            <a:r>
              <a:rPr lang="zh-CN" altLang="en-US" dirty="0">
                <a:solidFill>
                  <a:srgbClr val="FF0000"/>
                </a:solidFill>
              </a:rPr>
              <a:t>：</a:t>
            </a:r>
            <a:endParaRPr lang="en-US" altLang="zh-CN" dirty="0">
              <a:solidFill>
                <a:srgbClr val="FF0000"/>
              </a:solidFill>
            </a:endParaRPr>
          </a:p>
          <a:p>
            <a:r>
              <a:rPr lang="zh-CN" altLang="en-US" dirty="0">
                <a:solidFill>
                  <a:srgbClr val="FF0000"/>
                </a:solidFill>
              </a:rPr>
              <a:t>若一个源程序文件提取后包含多个循环片段，</a:t>
            </a:r>
            <a:endParaRPr lang="en-US" altLang="zh-CN" dirty="0">
              <a:solidFill>
                <a:srgbClr val="FF0000"/>
              </a:solidFill>
            </a:endParaRPr>
          </a:p>
          <a:p>
            <a:r>
              <a:rPr lang="zh-CN" altLang="en-US" dirty="0">
                <a:solidFill>
                  <a:srgbClr val="FF0000"/>
                </a:solidFill>
              </a:rPr>
              <a:t>那么则将其重构为多个新代码文件</a:t>
            </a:r>
            <a:endParaRPr lang="en-US" altLang="zh-CN" dirty="0">
              <a:solidFill>
                <a:srgbClr val="FF0000"/>
              </a:solidFill>
            </a:endParaRPr>
          </a:p>
          <a:p>
            <a:endParaRPr lang="zh-CN" altLang="en-US" dirty="0">
              <a:solidFill>
                <a:srgbClr val="FF0000"/>
              </a:solidFill>
            </a:endParaRPr>
          </a:p>
        </p:txBody>
      </p:sp>
      <p:sp>
        <p:nvSpPr>
          <p:cNvPr id="15" name="文本框 14">
            <a:extLst>
              <a:ext uri="{FF2B5EF4-FFF2-40B4-BE49-F238E27FC236}">
                <a16:creationId xmlns:a16="http://schemas.microsoft.com/office/drawing/2014/main" id="{B8A978D6-0E2B-4DDC-9A4B-0DB22163F4C5}"/>
              </a:ext>
            </a:extLst>
          </p:cNvPr>
          <p:cNvSpPr txBox="1"/>
          <p:nvPr/>
        </p:nvSpPr>
        <p:spPr>
          <a:xfrm>
            <a:off x="4800599" y="2299922"/>
            <a:ext cx="6206068" cy="1200329"/>
          </a:xfrm>
          <a:prstGeom prst="rect">
            <a:avLst/>
          </a:prstGeom>
          <a:noFill/>
        </p:spPr>
        <p:txBody>
          <a:bodyPr wrap="square" rtlCol="0">
            <a:spAutoFit/>
          </a:bodyPr>
          <a:lstStyle/>
          <a:p>
            <a:r>
              <a:rPr lang="en-US" altLang="zh-CN" dirty="0"/>
              <a:t>1. </a:t>
            </a:r>
            <a:r>
              <a:rPr lang="zh-CN" altLang="en-US" dirty="0"/>
              <a:t>保留原程序中的头文件引用、宏定义和变量的声明等内容</a:t>
            </a:r>
            <a:endParaRPr lang="en-US" altLang="zh-CN" dirty="0"/>
          </a:p>
          <a:p>
            <a:r>
              <a:rPr lang="en-US" altLang="zh-CN" dirty="0"/>
              <a:t>2. </a:t>
            </a:r>
            <a:r>
              <a:rPr lang="zh-CN" altLang="en-US" dirty="0"/>
              <a:t>每段重构后的新程序中有且仅有一个循环片段</a:t>
            </a:r>
            <a:endParaRPr lang="en-US" altLang="zh-CN" dirty="0"/>
          </a:p>
          <a:p>
            <a:r>
              <a:rPr lang="en-US" altLang="zh-CN" dirty="0"/>
              <a:t>3. </a:t>
            </a:r>
            <a:r>
              <a:rPr lang="zh-CN" altLang="en-US" dirty="0"/>
              <a:t>保留原程序中的函数调用逻辑</a:t>
            </a:r>
            <a:endParaRPr lang="en-US" altLang="zh-CN" dirty="0"/>
          </a:p>
          <a:p>
            <a:r>
              <a:rPr lang="en-US" altLang="zh-CN" dirty="0"/>
              <a:t>4. </a:t>
            </a:r>
            <a:r>
              <a:rPr lang="zh-CN" altLang="en-US" dirty="0"/>
              <a:t>最大程度保留原程序语义</a:t>
            </a:r>
            <a:endParaRPr lang="en-US" altLang="zh-CN" dirty="0"/>
          </a:p>
        </p:txBody>
      </p:sp>
      <p:sp>
        <p:nvSpPr>
          <p:cNvPr id="16" name="文本框 15">
            <a:extLst>
              <a:ext uri="{FF2B5EF4-FFF2-40B4-BE49-F238E27FC236}">
                <a16:creationId xmlns:a16="http://schemas.microsoft.com/office/drawing/2014/main" id="{8F4BA017-A7B2-407B-882D-54604781A377}"/>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custDataLst>
      <p:tags r:id="rId1"/>
    </p:custDataLst>
    <p:extLst>
      <p:ext uri="{BB962C8B-B14F-4D97-AF65-F5344CB8AC3E}">
        <p14:creationId xmlns:p14="http://schemas.microsoft.com/office/powerpoint/2010/main" val="4233535018"/>
      </p:ext>
    </p:extLst>
  </p:cSld>
  <p:clrMapOvr>
    <a:masterClrMapping/>
  </p:clrMapOvr>
  <mc:AlternateContent xmlns:mc="http://schemas.openxmlformats.org/markup-compatibility/2006" xmlns:p14="http://schemas.microsoft.com/office/powerpoint/2010/main">
    <mc:Choice Requires="p14">
      <p:transition spd="slow" p14:dur="2000" advTm="21439"/>
    </mc:Choice>
    <mc:Fallback xmlns="">
      <p:transition spd="slow" advTm="2143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3602268"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数据提取 </a:t>
            </a:r>
            <a:r>
              <a:rPr lang="en-US" altLang="zh-CN" dirty="0"/>
              <a:t>—— </a:t>
            </a:r>
            <a:r>
              <a:rPr lang="zh-CN" altLang="en-US" dirty="0"/>
              <a:t>循环提取与重构</a:t>
            </a:r>
          </a:p>
        </p:txBody>
      </p:sp>
      <p:pic>
        <p:nvPicPr>
          <p:cNvPr id="3" name="图片 2">
            <a:extLst>
              <a:ext uri="{FF2B5EF4-FFF2-40B4-BE49-F238E27FC236}">
                <a16:creationId xmlns:a16="http://schemas.microsoft.com/office/drawing/2014/main" id="{CC1F90DC-74A5-48FD-9ACB-1C9922FE90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065" y="2616200"/>
            <a:ext cx="5547809" cy="2243664"/>
          </a:xfrm>
          <a:prstGeom prst="rect">
            <a:avLst/>
          </a:prstGeom>
        </p:spPr>
      </p:pic>
      <p:pic>
        <p:nvPicPr>
          <p:cNvPr id="9" name="图片 8">
            <a:extLst>
              <a:ext uri="{FF2B5EF4-FFF2-40B4-BE49-F238E27FC236}">
                <a16:creationId xmlns:a16="http://schemas.microsoft.com/office/drawing/2014/main" id="{59EC4147-EEE6-4248-983C-6F3C250C57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6334" y="1119094"/>
            <a:ext cx="4378134" cy="5669342"/>
          </a:xfrm>
          <a:prstGeom prst="rect">
            <a:avLst/>
          </a:prstGeom>
        </p:spPr>
      </p:pic>
      <p:sp>
        <p:nvSpPr>
          <p:cNvPr id="12" name="文本框 11">
            <a:extLst>
              <a:ext uri="{FF2B5EF4-FFF2-40B4-BE49-F238E27FC236}">
                <a16:creationId xmlns:a16="http://schemas.microsoft.com/office/drawing/2014/main" id="{61863DD3-63AE-4BCB-AE99-5215FE61E41A}"/>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3523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9097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数据提取 </a:t>
            </a:r>
            <a:r>
              <a:rPr lang="en-US" altLang="zh-CN" dirty="0"/>
              <a:t>—— </a:t>
            </a:r>
            <a:r>
              <a:rPr lang="zh-CN" altLang="en-US" dirty="0"/>
              <a:t>编译检验</a:t>
            </a:r>
          </a:p>
        </p:txBody>
      </p:sp>
      <p:sp>
        <p:nvSpPr>
          <p:cNvPr id="10" name="文本框 9">
            <a:extLst>
              <a:ext uri="{FF2B5EF4-FFF2-40B4-BE49-F238E27FC236}">
                <a16:creationId xmlns:a16="http://schemas.microsoft.com/office/drawing/2014/main" id="{1198C024-853A-4066-AB01-EBAE5FFF2FCA}"/>
              </a:ext>
            </a:extLst>
          </p:cNvPr>
          <p:cNvSpPr txBox="1"/>
          <p:nvPr/>
        </p:nvSpPr>
        <p:spPr>
          <a:xfrm>
            <a:off x="330200" y="2064963"/>
            <a:ext cx="6647974" cy="923330"/>
          </a:xfrm>
          <a:prstGeom prst="rect">
            <a:avLst/>
          </a:prstGeom>
          <a:noFill/>
        </p:spPr>
        <p:txBody>
          <a:bodyPr wrap="none" rtlCol="0">
            <a:spAutoFit/>
          </a:bodyPr>
          <a:lstStyle/>
          <a:p>
            <a:r>
              <a:rPr lang="zh-CN" altLang="en-US" dirty="0"/>
              <a:t>编译目标：</a:t>
            </a:r>
            <a:r>
              <a:rPr lang="en-US" altLang="zh-CN" dirty="0"/>
              <a:t>LLVM IR</a:t>
            </a:r>
            <a:r>
              <a:rPr lang="zh-CN" altLang="en-US" dirty="0"/>
              <a:t>（一种语言无关的中间表示形式）</a:t>
            </a:r>
            <a:endParaRPr lang="en-US" altLang="zh-CN" dirty="0"/>
          </a:p>
          <a:p>
            <a:endParaRPr lang="en-US" altLang="zh-CN" dirty="0"/>
          </a:p>
          <a:p>
            <a:r>
              <a:rPr lang="zh-CN" altLang="en-US" dirty="0"/>
              <a:t>编译要求：保留程序原始特征，尽量降低编译器优化带来的影响</a:t>
            </a:r>
            <a:endParaRPr lang="en-US" altLang="zh-CN" dirty="0"/>
          </a:p>
        </p:txBody>
      </p:sp>
      <p:pic>
        <p:nvPicPr>
          <p:cNvPr id="5" name="图片 4">
            <a:extLst>
              <a:ext uri="{FF2B5EF4-FFF2-40B4-BE49-F238E27FC236}">
                <a16:creationId xmlns:a16="http://schemas.microsoft.com/office/drawing/2014/main" id="{356FFD0F-EC74-4FAA-AF87-AD763DFB09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4035" y="3330668"/>
            <a:ext cx="6443930" cy="3036466"/>
          </a:xfrm>
          <a:prstGeom prst="rect">
            <a:avLst/>
          </a:prstGeom>
        </p:spPr>
      </p:pic>
      <p:sp>
        <p:nvSpPr>
          <p:cNvPr id="12" name="矩形 11">
            <a:extLst>
              <a:ext uri="{FF2B5EF4-FFF2-40B4-BE49-F238E27FC236}">
                <a16:creationId xmlns:a16="http://schemas.microsoft.com/office/drawing/2014/main" id="{F129A916-3E1A-4439-84BC-ED724B7A06A2}"/>
              </a:ext>
            </a:extLst>
          </p:cNvPr>
          <p:cNvSpPr/>
          <p:nvPr/>
        </p:nvSpPr>
        <p:spPr>
          <a:xfrm>
            <a:off x="6570134" y="3810001"/>
            <a:ext cx="2573867" cy="5503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D890DA71-DAF8-4610-AF5C-0A754F9655E2}"/>
              </a:ext>
            </a:extLst>
          </p:cNvPr>
          <p:cNvCxnSpPr>
            <a:stCxn id="12" idx="3"/>
          </p:cNvCxnSpPr>
          <p:nvPr/>
        </p:nvCxnSpPr>
        <p:spPr>
          <a:xfrm flipV="1">
            <a:off x="9144001" y="3708400"/>
            <a:ext cx="567266" cy="37676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38E11F02-5A43-4432-85C4-13A18255AC13}"/>
              </a:ext>
            </a:extLst>
          </p:cNvPr>
          <p:cNvSpPr txBox="1"/>
          <p:nvPr/>
        </p:nvSpPr>
        <p:spPr>
          <a:xfrm>
            <a:off x="9711267" y="3527452"/>
            <a:ext cx="877163" cy="369332"/>
          </a:xfrm>
          <a:prstGeom prst="rect">
            <a:avLst/>
          </a:prstGeom>
          <a:noFill/>
        </p:spPr>
        <p:txBody>
          <a:bodyPr wrap="none" rtlCol="0">
            <a:spAutoFit/>
          </a:bodyPr>
          <a:lstStyle/>
          <a:p>
            <a:r>
              <a:rPr lang="zh-CN" altLang="en-US" dirty="0">
                <a:solidFill>
                  <a:srgbClr val="FF0000"/>
                </a:solidFill>
              </a:rPr>
              <a:t>基本块</a:t>
            </a:r>
          </a:p>
        </p:txBody>
      </p:sp>
      <p:sp>
        <p:nvSpPr>
          <p:cNvPr id="16" name="文本框 15">
            <a:extLst>
              <a:ext uri="{FF2B5EF4-FFF2-40B4-BE49-F238E27FC236}">
                <a16:creationId xmlns:a16="http://schemas.microsoft.com/office/drawing/2014/main" id="{305787FB-4A2C-4BB4-B4D7-855E7E6CB5F2}"/>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41527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9097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数据提取 </a:t>
            </a:r>
            <a:r>
              <a:rPr lang="en-US" altLang="zh-CN" dirty="0"/>
              <a:t>—— </a:t>
            </a:r>
            <a:r>
              <a:rPr lang="zh-CN" altLang="en-US" dirty="0"/>
              <a:t>循环提取</a:t>
            </a:r>
          </a:p>
        </p:txBody>
      </p:sp>
      <p:pic>
        <p:nvPicPr>
          <p:cNvPr id="4" name="图片 3">
            <a:extLst>
              <a:ext uri="{FF2B5EF4-FFF2-40B4-BE49-F238E27FC236}">
                <a16:creationId xmlns:a16="http://schemas.microsoft.com/office/drawing/2014/main" id="{09895767-1920-4D21-96A0-A0E1D1560A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2541" y="1956749"/>
            <a:ext cx="5948993" cy="4297509"/>
          </a:xfrm>
          <a:prstGeom prst="rect">
            <a:avLst/>
          </a:prstGeom>
        </p:spPr>
      </p:pic>
      <p:pic>
        <p:nvPicPr>
          <p:cNvPr id="10" name="图片 9">
            <a:extLst>
              <a:ext uri="{FF2B5EF4-FFF2-40B4-BE49-F238E27FC236}">
                <a16:creationId xmlns:a16="http://schemas.microsoft.com/office/drawing/2014/main" id="{6D11485A-0880-4125-8A10-587DBCA14F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0339" y="3014134"/>
            <a:ext cx="5583545" cy="2258116"/>
          </a:xfrm>
          <a:prstGeom prst="rect">
            <a:avLst/>
          </a:prstGeom>
        </p:spPr>
      </p:pic>
      <p:sp>
        <p:nvSpPr>
          <p:cNvPr id="12" name="文本框 11">
            <a:extLst>
              <a:ext uri="{FF2B5EF4-FFF2-40B4-BE49-F238E27FC236}">
                <a16:creationId xmlns:a16="http://schemas.microsoft.com/office/drawing/2014/main" id="{EA098213-AC3A-4A5B-A64D-1B60F4960336}"/>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1184606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9097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数据提取 </a:t>
            </a:r>
            <a:r>
              <a:rPr lang="en-US" altLang="zh-CN" dirty="0"/>
              <a:t>—— </a:t>
            </a:r>
            <a:r>
              <a:rPr lang="zh-CN" altLang="en-US" dirty="0"/>
              <a:t>代码重构</a:t>
            </a:r>
          </a:p>
        </p:txBody>
      </p:sp>
      <p:pic>
        <p:nvPicPr>
          <p:cNvPr id="9" name="图片 8">
            <a:extLst>
              <a:ext uri="{FF2B5EF4-FFF2-40B4-BE49-F238E27FC236}">
                <a16:creationId xmlns:a16="http://schemas.microsoft.com/office/drawing/2014/main" id="{5A4A447C-42AB-4B13-8AB1-D938B8D994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46334" y="1119094"/>
            <a:ext cx="4378134" cy="5669342"/>
          </a:xfrm>
          <a:prstGeom prst="rect">
            <a:avLst/>
          </a:prstGeom>
        </p:spPr>
      </p:pic>
      <p:pic>
        <p:nvPicPr>
          <p:cNvPr id="3" name="图片 2">
            <a:extLst>
              <a:ext uri="{FF2B5EF4-FFF2-40B4-BE49-F238E27FC236}">
                <a16:creationId xmlns:a16="http://schemas.microsoft.com/office/drawing/2014/main" id="{501D82A2-5E8D-43D1-A93F-720268056F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0200" y="1722588"/>
            <a:ext cx="5445891" cy="5033108"/>
          </a:xfrm>
          <a:prstGeom prst="rect">
            <a:avLst/>
          </a:prstGeom>
        </p:spPr>
      </p:pic>
      <p:sp>
        <p:nvSpPr>
          <p:cNvPr id="12" name="文本框 11">
            <a:extLst>
              <a:ext uri="{FF2B5EF4-FFF2-40B4-BE49-F238E27FC236}">
                <a16:creationId xmlns:a16="http://schemas.microsoft.com/office/drawing/2014/main" id="{4A5B5093-C18A-4931-A338-FB0A65DB72A5}"/>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24426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51222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数据标注 </a:t>
            </a:r>
            <a:r>
              <a:rPr lang="en-US" altLang="zh-CN" dirty="0"/>
              <a:t>—— Pluto</a:t>
            </a:r>
            <a:endParaRPr lang="zh-CN" altLang="en-US" dirty="0"/>
          </a:p>
        </p:txBody>
      </p:sp>
      <p:pic>
        <p:nvPicPr>
          <p:cNvPr id="3" name="图片 2">
            <a:extLst>
              <a:ext uri="{FF2B5EF4-FFF2-40B4-BE49-F238E27FC236}">
                <a16:creationId xmlns:a16="http://schemas.microsoft.com/office/drawing/2014/main" id="{6747F5B4-5A47-447F-A750-D4A8B09BF9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200" y="1956749"/>
            <a:ext cx="7258428" cy="4405771"/>
          </a:xfrm>
          <a:prstGeom prst="rect">
            <a:avLst/>
          </a:prstGeom>
        </p:spPr>
      </p:pic>
      <p:sp>
        <p:nvSpPr>
          <p:cNvPr id="4" name="文本框 3">
            <a:extLst>
              <a:ext uri="{FF2B5EF4-FFF2-40B4-BE49-F238E27FC236}">
                <a16:creationId xmlns:a16="http://schemas.microsoft.com/office/drawing/2014/main" id="{C9BF6D9F-218F-4189-989E-DE05D310E8ED}"/>
              </a:ext>
            </a:extLst>
          </p:cNvPr>
          <p:cNvSpPr txBox="1"/>
          <p:nvPr/>
        </p:nvSpPr>
        <p:spPr>
          <a:xfrm>
            <a:off x="7687733" y="1956749"/>
            <a:ext cx="3583032" cy="1477328"/>
          </a:xfrm>
          <a:prstGeom prst="rect">
            <a:avLst/>
          </a:prstGeom>
          <a:noFill/>
        </p:spPr>
        <p:txBody>
          <a:bodyPr wrap="none" rtlCol="0">
            <a:spAutoFit/>
          </a:bodyPr>
          <a:lstStyle/>
          <a:p>
            <a:r>
              <a:rPr lang="en-US" altLang="zh-CN" dirty="0">
                <a:solidFill>
                  <a:srgbClr val="FF0000"/>
                </a:solidFill>
              </a:rPr>
              <a:t>Pluto</a:t>
            </a:r>
            <a:r>
              <a:rPr lang="zh-CN" altLang="en-US" dirty="0">
                <a:solidFill>
                  <a:srgbClr val="FF0000"/>
                </a:solidFill>
              </a:rPr>
              <a:t>：</a:t>
            </a:r>
            <a:endParaRPr lang="en-US" altLang="zh-CN" dirty="0">
              <a:solidFill>
                <a:srgbClr val="FF0000"/>
              </a:solidFill>
            </a:endParaRPr>
          </a:p>
          <a:p>
            <a:endParaRPr lang="en-US" altLang="zh-CN" dirty="0"/>
          </a:p>
          <a:p>
            <a:r>
              <a:rPr lang="zh-CN" altLang="en-US" dirty="0"/>
              <a:t>基于</a:t>
            </a:r>
            <a:r>
              <a:rPr lang="en-US" altLang="zh-CN" dirty="0"/>
              <a:t>Polyhedral</a:t>
            </a:r>
            <a:r>
              <a:rPr lang="zh-CN" altLang="en-US" dirty="0"/>
              <a:t>模型的编译器架构</a:t>
            </a:r>
            <a:endParaRPr lang="en-US" altLang="zh-CN" dirty="0"/>
          </a:p>
          <a:p>
            <a:endParaRPr lang="en-US" altLang="zh-CN" dirty="0"/>
          </a:p>
          <a:p>
            <a:r>
              <a:rPr lang="zh-CN" altLang="en-US" dirty="0"/>
              <a:t>支持并行性识别和源到源转换</a:t>
            </a:r>
            <a:endParaRPr lang="en-US" altLang="zh-CN" dirty="0"/>
          </a:p>
        </p:txBody>
      </p:sp>
      <p:sp>
        <p:nvSpPr>
          <p:cNvPr id="10" name="文本框 9">
            <a:extLst>
              <a:ext uri="{FF2B5EF4-FFF2-40B4-BE49-F238E27FC236}">
                <a16:creationId xmlns:a16="http://schemas.microsoft.com/office/drawing/2014/main" id="{2583C8D1-62B0-4961-ADCA-79EA6096A092}"/>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
        <p:nvSpPr>
          <p:cNvPr id="2" name="矩形 1">
            <a:extLst>
              <a:ext uri="{FF2B5EF4-FFF2-40B4-BE49-F238E27FC236}">
                <a16:creationId xmlns:a16="http://schemas.microsoft.com/office/drawing/2014/main" id="{BD8AC8F9-DBD9-40C3-8538-E13F149CE218}"/>
              </a:ext>
            </a:extLst>
          </p:cNvPr>
          <p:cNvSpPr/>
          <p:nvPr/>
        </p:nvSpPr>
        <p:spPr>
          <a:xfrm>
            <a:off x="7687733" y="4343507"/>
            <a:ext cx="4088631" cy="646331"/>
          </a:xfrm>
          <a:prstGeom prst="rect">
            <a:avLst/>
          </a:prstGeom>
        </p:spPr>
        <p:txBody>
          <a:bodyPr wrap="square">
            <a:spAutoFit/>
          </a:bodyPr>
          <a:lstStyle/>
          <a:p>
            <a:r>
              <a:rPr lang="zh-CN" altLang="en-US" dirty="0">
                <a:solidFill>
                  <a:srgbClr val="009ED6"/>
                </a:solidFill>
              </a:rPr>
              <a:t>存在对程序语句数学表示的限制，因此</a:t>
            </a:r>
            <a:endParaRPr lang="en-US" altLang="zh-CN" dirty="0">
              <a:solidFill>
                <a:srgbClr val="009ED6"/>
              </a:solidFill>
            </a:endParaRPr>
          </a:p>
          <a:p>
            <a:r>
              <a:rPr lang="zh-CN" altLang="en-US" dirty="0">
                <a:solidFill>
                  <a:srgbClr val="009ED6"/>
                </a:solidFill>
              </a:rPr>
              <a:t>不能完成所有数据的标注工作</a:t>
            </a:r>
          </a:p>
        </p:txBody>
      </p:sp>
    </p:spTree>
    <p:extLst>
      <p:ext uri="{BB962C8B-B14F-4D97-AF65-F5344CB8AC3E}">
        <p14:creationId xmlns:p14="http://schemas.microsoft.com/office/powerpoint/2010/main" val="232897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678938"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数据标注 </a:t>
            </a:r>
            <a:r>
              <a:rPr lang="en-US" altLang="zh-CN" dirty="0"/>
              <a:t>—— Others</a:t>
            </a:r>
            <a:endParaRPr lang="zh-CN" altLang="en-US" dirty="0"/>
          </a:p>
        </p:txBody>
      </p:sp>
      <p:sp>
        <p:nvSpPr>
          <p:cNvPr id="2" name="文本框 1">
            <a:extLst>
              <a:ext uri="{FF2B5EF4-FFF2-40B4-BE49-F238E27FC236}">
                <a16:creationId xmlns:a16="http://schemas.microsoft.com/office/drawing/2014/main" id="{B93982C3-990E-4D2C-BAAB-2D565266C79A}"/>
              </a:ext>
            </a:extLst>
          </p:cNvPr>
          <p:cNvSpPr txBox="1"/>
          <p:nvPr/>
        </p:nvSpPr>
        <p:spPr>
          <a:xfrm>
            <a:off x="1024467" y="2266298"/>
            <a:ext cx="5147563" cy="369332"/>
          </a:xfrm>
          <a:prstGeom prst="rect">
            <a:avLst/>
          </a:prstGeom>
          <a:noFill/>
        </p:spPr>
        <p:txBody>
          <a:bodyPr wrap="none" rtlCol="0">
            <a:spAutoFit/>
          </a:bodyPr>
          <a:lstStyle/>
          <a:p>
            <a:r>
              <a:rPr lang="en-US" altLang="zh-CN" dirty="0"/>
              <a:t>1</a:t>
            </a:r>
            <a:r>
              <a:rPr lang="zh-CN" altLang="en-US" dirty="0"/>
              <a:t>、无差别加上</a:t>
            </a:r>
            <a:r>
              <a:rPr lang="en-US" altLang="zh-CN" dirty="0"/>
              <a:t>OpenMP</a:t>
            </a:r>
            <a:r>
              <a:rPr lang="zh-CN" altLang="en-US" dirty="0"/>
              <a:t>并行标识并记录执行时间</a:t>
            </a:r>
          </a:p>
        </p:txBody>
      </p:sp>
      <p:sp>
        <p:nvSpPr>
          <p:cNvPr id="10" name="文本框 9">
            <a:extLst>
              <a:ext uri="{FF2B5EF4-FFF2-40B4-BE49-F238E27FC236}">
                <a16:creationId xmlns:a16="http://schemas.microsoft.com/office/drawing/2014/main" id="{CABDE095-5221-48FA-99A7-D41DEFAA4CD6}"/>
              </a:ext>
            </a:extLst>
          </p:cNvPr>
          <p:cNvSpPr txBox="1"/>
          <p:nvPr/>
        </p:nvSpPr>
        <p:spPr>
          <a:xfrm>
            <a:off x="1024467" y="2899939"/>
            <a:ext cx="5574026" cy="369332"/>
          </a:xfrm>
          <a:prstGeom prst="rect">
            <a:avLst/>
          </a:prstGeom>
          <a:noFill/>
        </p:spPr>
        <p:txBody>
          <a:bodyPr wrap="none" rtlCol="0">
            <a:spAutoFit/>
          </a:bodyPr>
          <a:lstStyle/>
          <a:p>
            <a:r>
              <a:rPr lang="en-US" altLang="zh-CN" dirty="0"/>
              <a:t>2</a:t>
            </a:r>
            <a:r>
              <a:rPr lang="zh-CN" altLang="en-US" dirty="0"/>
              <a:t>、使用</a:t>
            </a:r>
            <a:r>
              <a:rPr lang="en-US" altLang="zh-CN" dirty="0"/>
              <a:t>Intel® Advisor XE</a:t>
            </a:r>
            <a:r>
              <a:rPr lang="zh-CN" altLang="en-US" dirty="0"/>
              <a:t>等其他工具进行并行性分析</a:t>
            </a:r>
          </a:p>
        </p:txBody>
      </p:sp>
      <p:cxnSp>
        <p:nvCxnSpPr>
          <p:cNvPr id="11" name="直接箭头连接符 10">
            <a:extLst>
              <a:ext uri="{FF2B5EF4-FFF2-40B4-BE49-F238E27FC236}">
                <a16:creationId xmlns:a16="http://schemas.microsoft.com/office/drawing/2014/main" id="{3F108FE0-C7F3-45C6-95F1-7CBA5F432DF6}"/>
              </a:ext>
            </a:extLst>
          </p:cNvPr>
          <p:cNvCxnSpPr>
            <a:stCxn id="2" idx="3"/>
          </p:cNvCxnSpPr>
          <p:nvPr/>
        </p:nvCxnSpPr>
        <p:spPr>
          <a:xfrm>
            <a:off x="6172030" y="2450964"/>
            <a:ext cx="796037"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F76ADEB-32AE-4B99-81E8-0F058F78A0B0}"/>
              </a:ext>
            </a:extLst>
          </p:cNvPr>
          <p:cNvCxnSpPr/>
          <p:nvPr/>
        </p:nvCxnSpPr>
        <p:spPr>
          <a:xfrm>
            <a:off x="6510697" y="3086669"/>
            <a:ext cx="796037"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881B1B18-1925-4F82-8D0C-4F6F7773E6E2}"/>
              </a:ext>
            </a:extLst>
          </p:cNvPr>
          <p:cNvSpPr txBox="1"/>
          <p:nvPr/>
        </p:nvSpPr>
        <p:spPr>
          <a:xfrm>
            <a:off x="6968067" y="2266298"/>
            <a:ext cx="774571" cy="369332"/>
          </a:xfrm>
          <a:prstGeom prst="rect">
            <a:avLst/>
          </a:prstGeom>
          <a:noFill/>
        </p:spPr>
        <p:txBody>
          <a:bodyPr wrap="none" rtlCol="0">
            <a:spAutoFit/>
          </a:bodyPr>
          <a:lstStyle/>
          <a:p>
            <a:r>
              <a:rPr lang="zh-CN" altLang="en-US" dirty="0"/>
              <a:t>结果</a:t>
            </a:r>
            <a:r>
              <a:rPr lang="en-US" altLang="zh-CN" dirty="0"/>
              <a:t>1</a:t>
            </a:r>
            <a:endParaRPr lang="zh-CN" altLang="en-US" dirty="0"/>
          </a:p>
        </p:txBody>
      </p:sp>
      <p:sp>
        <p:nvSpPr>
          <p:cNvPr id="14" name="文本框 13">
            <a:extLst>
              <a:ext uri="{FF2B5EF4-FFF2-40B4-BE49-F238E27FC236}">
                <a16:creationId xmlns:a16="http://schemas.microsoft.com/office/drawing/2014/main" id="{D971C35B-C4B7-4934-ABC6-A8416CF1F28F}"/>
              </a:ext>
            </a:extLst>
          </p:cNvPr>
          <p:cNvSpPr txBox="1"/>
          <p:nvPr/>
        </p:nvSpPr>
        <p:spPr>
          <a:xfrm>
            <a:off x="7306734" y="2902003"/>
            <a:ext cx="774571" cy="369332"/>
          </a:xfrm>
          <a:prstGeom prst="rect">
            <a:avLst/>
          </a:prstGeom>
          <a:noFill/>
        </p:spPr>
        <p:txBody>
          <a:bodyPr wrap="none" rtlCol="0">
            <a:spAutoFit/>
          </a:bodyPr>
          <a:lstStyle/>
          <a:p>
            <a:r>
              <a:rPr lang="zh-CN" altLang="en-US" dirty="0"/>
              <a:t>结果</a:t>
            </a:r>
            <a:r>
              <a:rPr lang="en-US" altLang="zh-CN" dirty="0"/>
              <a:t>2</a:t>
            </a:r>
            <a:endParaRPr lang="zh-CN" altLang="en-US" dirty="0"/>
          </a:p>
        </p:txBody>
      </p:sp>
      <p:sp>
        <p:nvSpPr>
          <p:cNvPr id="15" name="文本框 14">
            <a:extLst>
              <a:ext uri="{FF2B5EF4-FFF2-40B4-BE49-F238E27FC236}">
                <a16:creationId xmlns:a16="http://schemas.microsoft.com/office/drawing/2014/main" id="{59120702-FDE4-4E7A-ABAD-68FFC9456F44}"/>
              </a:ext>
            </a:extLst>
          </p:cNvPr>
          <p:cNvSpPr txBox="1"/>
          <p:nvPr/>
        </p:nvSpPr>
        <p:spPr>
          <a:xfrm>
            <a:off x="1024467" y="3533580"/>
            <a:ext cx="5096267" cy="369332"/>
          </a:xfrm>
          <a:prstGeom prst="rect">
            <a:avLst/>
          </a:prstGeom>
          <a:noFill/>
        </p:spPr>
        <p:txBody>
          <a:bodyPr wrap="none" rtlCol="0">
            <a:spAutoFit/>
          </a:bodyPr>
          <a:lstStyle/>
          <a:p>
            <a:r>
              <a:rPr lang="en-US" altLang="zh-CN" dirty="0"/>
              <a:t>3</a:t>
            </a:r>
            <a:r>
              <a:rPr lang="zh-CN" altLang="en-US" dirty="0"/>
              <a:t>、对比结果</a:t>
            </a:r>
            <a:r>
              <a:rPr lang="en-US" altLang="zh-CN" dirty="0"/>
              <a:t>1</a:t>
            </a:r>
            <a:r>
              <a:rPr lang="zh-CN" altLang="en-US" dirty="0"/>
              <a:t>与结果</a:t>
            </a:r>
            <a:r>
              <a:rPr lang="en-US" altLang="zh-CN" dirty="0"/>
              <a:t>2</a:t>
            </a:r>
            <a:r>
              <a:rPr lang="zh-CN" altLang="en-US" dirty="0"/>
              <a:t>，确定能否并行或者舍弃</a:t>
            </a:r>
          </a:p>
        </p:txBody>
      </p:sp>
      <p:sp>
        <p:nvSpPr>
          <p:cNvPr id="16" name="文本框 15">
            <a:extLst>
              <a:ext uri="{FF2B5EF4-FFF2-40B4-BE49-F238E27FC236}">
                <a16:creationId xmlns:a16="http://schemas.microsoft.com/office/drawing/2014/main" id="{9F01B205-878D-4CD6-9CA4-6B4028FDF551}"/>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48219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FD9476F-3954-49C9-9CFC-09D3832796FA}"/>
              </a:ext>
            </a:extLst>
          </p:cNvPr>
          <p:cNvSpPr txBox="1"/>
          <p:nvPr/>
        </p:nvSpPr>
        <p:spPr>
          <a:xfrm>
            <a:off x="330200" y="1353256"/>
            <a:ext cx="244810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数据标注 </a:t>
            </a:r>
            <a:r>
              <a:rPr lang="en-US" altLang="zh-CN" dirty="0"/>
              <a:t>—— </a:t>
            </a:r>
            <a:r>
              <a:rPr lang="zh-CN" altLang="en-US" dirty="0"/>
              <a:t>结果</a:t>
            </a:r>
          </a:p>
        </p:txBody>
      </p:sp>
      <p:sp>
        <p:nvSpPr>
          <p:cNvPr id="3" name="矩形 2">
            <a:extLst>
              <a:ext uri="{FF2B5EF4-FFF2-40B4-BE49-F238E27FC236}">
                <a16:creationId xmlns:a16="http://schemas.microsoft.com/office/drawing/2014/main" id="{29E39B76-89AA-42FF-8A83-487EF5DA132D}"/>
              </a:ext>
            </a:extLst>
          </p:cNvPr>
          <p:cNvSpPr/>
          <p:nvPr/>
        </p:nvSpPr>
        <p:spPr>
          <a:xfrm>
            <a:off x="2641600" y="2332078"/>
            <a:ext cx="6908800" cy="359222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1572535B-467B-4F23-A5FE-4FAF058C08C9}"/>
              </a:ext>
            </a:extLst>
          </p:cNvPr>
          <p:cNvCxnSpPr>
            <a:stCxn id="3" idx="0"/>
            <a:endCxn id="3" idx="2"/>
          </p:cNvCxnSpPr>
          <p:nvPr/>
        </p:nvCxnSpPr>
        <p:spPr>
          <a:xfrm>
            <a:off x="6096000" y="2332078"/>
            <a:ext cx="0" cy="3592225"/>
          </a:xfrm>
          <a:prstGeom prst="line">
            <a:avLst/>
          </a:prstGeom>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F6F95C2B-7B77-4617-AF62-F7CEBF613431}"/>
              </a:ext>
            </a:extLst>
          </p:cNvPr>
          <p:cNvSpPr txBox="1"/>
          <p:nvPr/>
        </p:nvSpPr>
        <p:spPr>
          <a:xfrm>
            <a:off x="2641600" y="2332078"/>
            <a:ext cx="877163" cy="369332"/>
          </a:xfrm>
          <a:prstGeom prst="rect">
            <a:avLst/>
          </a:prstGeom>
          <a:noFill/>
        </p:spPr>
        <p:txBody>
          <a:bodyPr wrap="none" rtlCol="0">
            <a:spAutoFit/>
          </a:bodyPr>
          <a:lstStyle/>
          <a:p>
            <a:r>
              <a:rPr lang="zh-CN" altLang="en-US" dirty="0"/>
              <a:t>可并行</a:t>
            </a:r>
          </a:p>
        </p:txBody>
      </p:sp>
      <p:sp>
        <p:nvSpPr>
          <p:cNvPr id="18" name="文本框 17">
            <a:extLst>
              <a:ext uri="{FF2B5EF4-FFF2-40B4-BE49-F238E27FC236}">
                <a16:creationId xmlns:a16="http://schemas.microsoft.com/office/drawing/2014/main" id="{62D24A53-EF8D-46B4-9CEC-9927C0A65D1B}"/>
              </a:ext>
            </a:extLst>
          </p:cNvPr>
          <p:cNvSpPr txBox="1"/>
          <p:nvPr/>
        </p:nvSpPr>
        <p:spPr>
          <a:xfrm>
            <a:off x="6092630" y="2332078"/>
            <a:ext cx="1133644" cy="369332"/>
          </a:xfrm>
          <a:prstGeom prst="rect">
            <a:avLst/>
          </a:prstGeom>
          <a:noFill/>
        </p:spPr>
        <p:txBody>
          <a:bodyPr wrap="none" rtlCol="0">
            <a:spAutoFit/>
          </a:bodyPr>
          <a:lstStyle/>
          <a:p>
            <a:r>
              <a:rPr lang="zh-CN" altLang="en-US" dirty="0"/>
              <a:t>不可并行</a:t>
            </a:r>
          </a:p>
        </p:txBody>
      </p:sp>
      <p:grpSp>
        <p:nvGrpSpPr>
          <p:cNvPr id="24" name="组合 23">
            <a:extLst>
              <a:ext uri="{FF2B5EF4-FFF2-40B4-BE49-F238E27FC236}">
                <a16:creationId xmlns:a16="http://schemas.microsoft.com/office/drawing/2014/main" id="{17208F25-6872-4966-83A7-9A94A8D9D826}"/>
              </a:ext>
            </a:extLst>
          </p:cNvPr>
          <p:cNvGrpSpPr/>
          <p:nvPr/>
        </p:nvGrpSpPr>
        <p:grpSpPr>
          <a:xfrm>
            <a:off x="2971800" y="2980267"/>
            <a:ext cx="2819399" cy="558800"/>
            <a:chOff x="2971800" y="2980267"/>
            <a:chExt cx="2819399" cy="558800"/>
          </a:xfrm>
        </p:grpSpPr>
        <p:sp>
          <p:nvSpPr>
            <p:cNvPr id="19" name="矩形 18">
              <a:extLst>
                <a:ext uri="{FF2B5EF4-FFF2-40B4-BE49-F238E27FC236}">
                  <a16:creationId xmlns:a16="http://schemas.microsoft.com/office/drawing/2014/main" id="{4406C96F-12A7-48DD-A861-FF5AD6D4A7EB}"/>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7E2627A5-3301-40A0-9E88-B09315BE2240}"/>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21" name="矩形 20">
              <a:extLst>
                <a:ext uri="{FF2B5EF4-FFF2-40B4-BE49-F238E27FC236}">
                  <a16:creationId xmlns:a16="http://schemas.microsoft.com/office/drawing/2014/main" id="{FE355AF3-477E-4218-8A1C-D45E52CA2936}"/>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25" name="组合 24">
            <a:extLst>
              <a:ext uri="{FF2B5EF4-FFF2-40B4-BE49-F238E27FC236}">
                <a16:creationId xmlns:a16="http://schemas.microsoft.com/office/drawing/2014/main" id="{C03A01DF-3DB2-479C-9B48-4261D3698BA3}"/>
              </a:ext>
            </a:extLst>
          </p:cNvPr>
          <p:cNvGrpSpPr/>
          <p:nvPr/>
        </p:nvGrpSpPr>
        <p:grpSpPr>
          <a:xfrm>
            <a:off x="2959101" y="3754056"/>
            <a:ext cx="2819399" cy="558800"/>
            <a:chOff x="2971800" y="2980267"/>
            <a:chExt cx="2819399" cy="558800"/>
          </a:xfrm>
        </p:grpSpPr>
        <p:sp>
          <p:nvSpPr>
            <p:cNvPr id="26" name="矩形 25">
              <a:extLst>
                <a:ext uri="{FF2B5EF4-FFF2-40B4-BE49-F238E27FC236}">
                  <a16:creationId xmlns:a16="http://schemas.microsoft.com/office/drawing/2014/main" id="{FBFC39CE-3E00-457B-A057-508AE51697D8}"/>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14EE98B3-4703-487A-96C7-CA8917D52BFE}"/>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28" name="矩形 27">
              <a:extLst>
                <a:ext uri="{FF2B5EF4-FFF2-40B4-BE49-F238E27FC236}">
                  <a16:creationId xmlns:a16="http://schemas.microsoft.com/office/drawing/2014/main" id="{9FF107E7-6292-4D36-B1FC-AA4028481923}"/>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29" name="组合 28">
            <a:extLst>
              <a:ext uri="{FF2B5EF4-FFF2-40B4-BE49-F238E27FC236}">
                <a16:creationId xmlns:a16="http://schemas.microsoft.com/office/drawing/2014/main" id="{C7309028-F426-465F-BA12-9AB77382BFFA}"/>
              </a:ext>
            </a:extLst>
          </p:cNvPr>
          <p:cNvGrpSpPr/>
          <p:nvPr/>
        </p:nvGrpSpPr>
        <p:grpSpPr>
          <a:xfrm>
            <a:off x="6544734" y="2980267"/>
            <a:ext cx="2819399" cy="558800"/>
            <a:chOff x="2971800" y="2980267"/>
            <a:chExt cx="2819399" cy="558800"/>
          </a:xfrm>
        </p:grpSpPr>
        <p:sp>
          <p:nvSpPr>
            <p:cNvPr id="30" name="矩形 29">
              <a:extLst>
                <a:ext uri="{FF2B5EF4-FFF2-40B4-BE49-F238E27FC236}">
                  <a16:creationId xmlns:a16="http://schemas.microsoft.com/office/drawing/2014/main" id="{1F437272-201F-4F88-AEB4-D719A25ADB80}"/>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6681D64F-4C96-4FDE-BC0D-894635030190}"/>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32" name="矩形 31">
              <a:extLst>
                <a:ext uri="{FF2B5EF4-FFF2-40B4-BE49-F238E27FC236}">
                  <a16:creationId xmlns:a16="http://schemas.microsoft.com/office/drawing/2014/main" id="{9A506442-F198-4F29-8640-7537FADA7466}"/>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33" name="组合 32">
            <a:extLst>
              <a:ext uri="{FF2B5EF4-FFF2-40B4-BE49-F238E27FC236}">
                <a16:creationId xmlns:a16="http://schemas.microsoft.com/office/drawing/2014/main" id="{0DB62148-B20A-467F-94F0-BD5A84AAF360}"/>
              </a:ext>
            </a:extLst>
          </p:cNvPr>
          <p:cNvGrpSpPr/>
          <p:nvPr/>
        </p:nvGrpSpPr>
        <p:grpSpPr>
          <a:xfrm>
            <a:off x="6540502" y="3792524"/>
            <a:ext cx="2819399" cy="558800"/>
            <a:chOff x="2971800" y="2980267"/>
            <a:chExt cx="2819399" cy="558800"/>
          </a:xfrm>
        </p:grpSpPr>
        <p:sp>
          <p:nvSpPr>
            <p:cNvPr id="34" name="矩形 33">
              <a:extLst>
                <a:ext uri="{FF2B5EF4-FFF2-40B4-BE49-F238E27FC236}">
                  <a16:creationId xmlns:a16="http://schemas.microsoft.com/office/drawing/2014/main" id="{D5F0B9E7-2C3F-4A9A-AA6F-68D3264F3030}"/>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E6E18231-FCA1-4B00-A0EC-7ECAEBACC9E6}"/>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36" name="矩形 35">
              <a:extLst>
                <a:ext uri="{FF2B5EF4-FFF2-40B4-BE49-F238E27FC236}">
                  <a16:creationId xmlns:a16="http://schemas.microsoft.com/office/drawing/2014/main" id="{A630F40F-2CB0-4F31-ACBF-C33AA39E9CEF}"/>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37" name="文本框 36">
            <a:extLst>
              <a:ext uri="{FF2B5EF4-FFF2-40B4-BE49-F238E27FC236}">
                <a16:creationId xmlns:a16="http://schemas.microsoft.com/office/drawing/2014/main" id="{F58D95C9-398B-4F19-8301-12227EFEC8EF}"/>
              </a:ext>
            </a:extLst>
          </p:cNvPr>
          <p:cNvSpPr txBox="1"/>
          <p:nvPr/>
        </p:nvSpPr>
        <p:spPr>
          <a:xfrm>
            <a:off x="4207934" y="4511507"/>
            <a:ext cx="461665" cy="553998"/>
          </a:xfrm>
          <a:prstGeom prst="rect">
            <a:avLst/>
          </a:prstGeom>
          <a:noFill/>
        </p:spPr>
        <p:txBody>
          <a:bodyPr vert="eaVert" wrap="none" rtlCol="0">
            <a:spAutoFit/>
          </a:bodyPr>
          <a:lstStyle/>
          <a:p>
            <a:r>
              <a:rPr lang="en-US" altLang="zh-CN" dirty="0"/>
              <a:t>……</a:t>
            </a:r>
            <a:endParaRPr lang="zh-CN" altLang="en-US" dirty="0"/>
          </a:p>
        </p:txBody>
      </p:sp>
      <p:grpSp>
        <p:nvGrpSpPr>
          <p:cNvPr id="38" name="组合 37">
            <a:extLst>
              <a:ext uri="{FF2B5EF4-FFF2-40B4-BE49-F238E27FC236}">
                <a16:creationId xmlns:a16="http://schemas.microsoft.com/office/drawing/2014/main" id="{6C799ABF-3D71-4262-A71F-DE923BCE6697}"/>
              </a:ext>
            </a:extLst>
          </p:cNvPr>
          <p:cNvGrpSpPr/>
          <p:nvPr/>
        </p:nvGrpSpPr>
        <p:grpSpPr>
          <a:xfrm>
            <a:off x="2971800" y="5168770"/>
            <a:ext cx="2819399" cy="558800"/>
            <a:chOff x="2971800" y="2980267"/>
            <a:chExt cx="2819399" cy="558800"/>
          </a:xfrm>
        </p:grpSpPr>
        <p:sp>
          <p:nvSpPr>
            <p:cNvPr id="39" name="矩形 38">
              <a:extLst>
                <a:ext uri="{FF2B5EF4-FFF2-40B4-BE49-F238E27FC236}">
                  <a16:creationId xmlns:a16="http://schemas.microsoft.com/office/drawing/2014/main" id="{32355E67-B943-4468-B8B8-25BE1ECB4D10}"/>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E8B9933B-D8E0-4669-B072-E8EF405A89D6}"/>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41" name="矩形 40">
              <a:extLst>
                <a:ext uri="{FF2B5EF4-FFF2-40B4-BE49-F238E27FC236}">
                  <a16:creationId xmlns:a16="http://schemas.microsoft.com/office/drawing/2014/main" id="{C6C74D26-9691-45D6-84DD-3F2C87F27182}"/>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42" name="文本框 41">
            <a:extLst>
              <a:ext uri="{FF2B5EF4-FFF2-40B4-BE49-F238E27FC236}">
                <a16:creationId xmlns:a16="http://schemas.microsoft.com/office/drawing/2014/main" id="{A027392F-17F7-4D11-999B-1396ED980BAC}"/>
              </a:ext>
            </a:extLst>
          </p:cNvPr>
          <p:cNvSpPr txBox="1"/>
          <p:nvPr/>
        </p:nvSpPr>
        <p:spPr>
          <a:xfrm>
            <a:off x="7776636" y="4511507"/>
            <a:ext cx="461665" cy="553998"/>
          </a:xfrm>
          <a:prstGeom prst="rect">
            <a:avLst/>
          </a:prstGeom>
          <a:noFill/>
        </p:spPr>
        <p:txBody>
          <a:bodyPr vert="eaVert" wrap="none" rtlCol="0">
            <a:spAutoFit/>
          </a:bodyPr>
          <a:lstStyle/>
          <a:p>
            <a:r>
              <a:rPr lang="en-US" altLang="zh-CN" dirty="0"/>
              <a:t>……</a:t>
            </a:r>
            <a:endParaRPr lang="zh-CN" altLang="en-US" dirty="0"/>
          </a:p>
        </p:txBody>
      </p:sp>
      <p:grpSp>
        <p:nvGrpSpPr>
          <p:cNvPr id="44" name="组合 43">
            <a:extLst>
              <a:ext uri="{FF2B5EF4-FFF2-40B4-BE49-F238E27FC236}">
                <a16:creationId xmlns:a16="http://schemas.microsoft.com/office/drawing/2014/main" id="{33EAD7BD-360D-4305-9B8E-F1F2DCE80A06}"/>
              </a:ext>
            </a:extLst>
          </p:cNvPr>
          <p:cNvGrpSpPr/>
          <p:nvPr/>
        </p:nvGrpSpPr>
        <p:grpSpPr>
          <a:xfrm>
            <a:off x="6540501" y="5168770"/>
            <a:ext cx="2819399" cy="558800"/>
            <a:chOff x="2971800" y="2980267"/>
            <a:chExt cx="2819399" cy="558800"/>
          </a:xfrm>
        </p:grpSpPr>
        <p:sp>
          <p:nvSpPr>
            <p:cNvPr id="45" name="矩形 44">
              <a:extLst>
                <a:ext uri="{FF2B5EF4-FFF2-40B4-BE49-F238E27FC236}">
                  <a16:creationId xmlns:a16="http://schemas.microsoft.com/office/drawing/2014/main" id="{B0C03E55-085F-4AC6-B2B8-87348C4305E7}"/>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A7842935-1243-41E7-A539-3BCE968B8F19}"/>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IR</a:t>
              </a:r>
              <a:endParaRPr lang="zh-CN" altLang="en-US" dirty="0"/>
            </a:p>
          </p:txBody>
        </p:sp>
        <p:sp>
          <p:nvSpPr>
            <p:cNvPr id="47" name="矩形 46">
              <a:extLst>
                <a:ext uri="{FF2B5EF4-FFF2-40B4-BE49-F238E27FC236}">
                  <a16:creationId xmlns:a16="http://schemas.microsoft.com/office/drawing/2014/main" id="{352D60E8-DDA8-4E4D-A075-99EF4D17E2EA}"/>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48" name="文本框 47">
            <a:extLst>
              <a:ext uri="{FF2B5EF4-FFF2-40B4-BE49-F238E27FC236}">
                <a16:creationId xmlns:a16="http://schemas.microsoft.com/office/drawing/2014/main" id="{C3A40165-5B1E-4324-A50E-307DA18BE0C0}"/>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344105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8" grpId="0"/>
      <p:bldP spid="37"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4076757"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数据表示 </a:t>
            </a:r>
            <a:r>
              <a:rPr lang="en-US" altLang="zh-CN" dirty="0"/>
              <a:t>—— </a:t>
            </a:r>
            <a:r>
              <a:rPr lang="zh-CN" altLang="en-US" dirty="0"/>
              <a:t>上下文流图（</a:t>
            </a:r>
            <a:r>
              <a:rPr lang="en-US" altLang="zh-CN" dirty="0"/>
              <a:t>XFG</a:t>
            </a:r>
            <a:r>
              <a:rPr lang="zh-CN" altLang="en-US" dirty="0"/>
              <a:t>）</a:t>
            </a:r>
          </a:p>
        </p:txBody>
      </p:sp>
      <p:pic>
        <p:nvPicPr>
          <p:cNvPr id="3" name="图片 2">
            <a:extLst>
              <a:ext uri="{FF2B5EF4-FFF2-40B4-BE49-F238E27FC236}">
                <a16:creationId xmlns:a16="http://schemas.microsoft.com/office/drawing/2014/main" id="{FF36CE3B-F7B8-40FB-9C33-2F5A0840A8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7066" y="2125489"/>
            <a:ext cx="7780701" cy="3050283"/>
          </a:xfrm>
          <a:prstGeom prst="rect">
            <a:avLst/>
          </a:prstGeom>
        </p:spPr>
      </p:pic>
      <p:sp>
        <p:nvSpPr>
          <p:cNvPr id="9" name="文本框 8">
            <a:extLst>
              <a:ext uri="{FF2B5EF4-FFF2-40B4-BE49-F238E27FC236}">
                <a16:creationId xmlns:a16="http://schemas.microsoft.com/office/drawing/2014/main" id="{5FF1F8E9-5FB8-4840-98EA-0FC1C475720B}"/>
              </a:ext>
            </a:extLst>
          </p:cNvPr>
          <p:cNvSpPr txBox="1"/>
          <p:nvPr/>
        </p:nvSpPr>
        <p:spPr>
          <a:xfrm>
            <a:off x="8017767" y="2004027"/>
            <a:ext cx="4215960" cy="3293209"/>
          </a:xfrm>
          <a:prstGeom prst="rect">
            <a:avLst/>
          </a:prstGeom>
          <a:noFill/>
        </p:spPr>
        <p:txBody>
          <a:bodyPr wrap="square" rtlCol="0">
            <a:spAutoFit/>
          </a:bodyPr>
          <a:lstStyle/>
          <a:p>
            <a:pPr marL="342900" indent="-342900">
              <a:buAutoNum type="arabicParenBoth"/>
            </a:pPr>
            <a:r>
              <a:rPr lang="zh-CN" altLang="en-US" sz="1600" dirty="0"/>
              <a:t>一个基本块内的数据依赖关系必须全部用边进行连接；</a:t>
            </a:r>
            <a:endParaRPr lang="en-US" altLang="zh-CN" sz="1600" dirty="0"/>
          </a:p>
          <a:p>
            <a:pPr marL="342900" indent="-342900">
              <a:buAutoNum type="arabicParenBoth"/>
            </a:pPr>
            <a:endParaRPr lang="en-US" altLang="zh-CN" sz="1600" dirty="0"/>
          </a:p>
          <a:p>
            <a:r>
              <a:rPr lang="en-US" altLang="zh-CN" sz="1600" dirty="0"/>
              <a:t>(2) </a:t>
            </a:r>
            <a:r>
              <a:rPr lang="zh-CN" altLang="en-US" sz="1600" dirty="0"/>
              <a:t>基本块与基本块之间的依赖关系必须使用边将基本块标识符相连接；</a:t>
            </a:r>
            <a:endParaRPr lang="en-US" altLang="zh-CN" sz="1600" dirty="0"/>
          </a:p>
          <a:p>
            <a:endParaRPr lang="en-US" altLang="zh-CN" sz="1600" dirty="0"/>
          </a:p>
          <a:p>
            <a:r>
              <a:rPr lang="en-US" altLang="zh-CN" sz="1600" dirty="0"/>
              <a:t>(3) </a:t>
            </a:r>
            <a:r>
              <a:rPr lang="zh-CN" altLang="en-US" sz="1600" dirty="0"/>
              <a:t>没有父级数据流入的基本块，与图的根节点相连；</a:t>
            </a:r>
            <a:endParaRPr lang="en-US" altLang="zh-CN" sz="1600" dirty="0"/>
          </a:p>
          <a:p>
            <a:endParaRPr lang="en-US" altLang="zh-CN" sz="1600" dirty="0"/>
          </a:p>
          <a:p>
            <a:r>
              <a:rPr lang="en-US" altLang="zh-CN" sz="1600" dirty="0"/>
              <a:t>(4) </a:t>
            </a:r>
            <a:r>
              <a:rPr lang="zh-CN" altLang="en-US" sz="1600" dirty="0"/>
              <a:t>对于外部代码调用，若为静态调用，在编译过程中可以访问代码，则将该部分代码语句包含在</a:t>
            </a:r>
            <a:r>
              <a:rPr lang="en-US" altLang="zh-CN" sz="1600" dirty="0"/>
              <a:t>XFG</a:t>
            </a:r>
            <a:r>
              <a:rPr lang="zh-CN" altLang="en-US" sz="1600" dirty="0"/>
              <a:t>中，若为动态链接，在编译过程中不可访问代码，则使用调用语句代替。</a:t>
            </a:r>
          </a:p>
        </p:txBody>
      </p:sp>
      <p:sp>
        <p:nvSpPr>
          <p:cNvPr id="11" name="文本框 10">
            <a:extLst>
              <a:ext uri="{FF2B5EF4-FFF2-40B4-BE49-F238E27FC236}">
                <a16:creationId xmlns:a16="http://schemas.microsoft.com/office/drawing/2014/main" id="{BBC46A8D-8E10-4DE9-A1CD-B41A07AB123C}"/>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
        <p:nvSpPr>
          <p:cNvPr id="2" name="文本框 1">
            <a:extLst>
              <a:ext uri="{FF2B5EF4-FFF2-40B4-BE49-F238E27FC236}">
                <a16:creationId xmlns:a16="http://schemas.microsoft.com/office/drawing/2014/main" id="{F1301192-FC7F-4E42-A00E-473B9453309B}"/>
              </a:ext>
            </a:extLst>
          </p:cNvPr>
          <p:cNvSpPr txBox="1"/>
          <p:nvPr/>
        </p:nvSpPr>
        <p:spPr>
          <a:xfrm>
            <a:off x="8017767" y="5515471"/>
            <a:ext cx="2031325" cy="369332"/>
          </a:xfrm>
          <a:prstGeom prst="rect">
            <a:avLst/>
          </a:prstGeom>
          <a:noFill/>
        </p:spPr>
        <p:txBody>
          <a:bodyPr wrap="none" rtlCol="0">
            <a:spAutoFit/>
          </a:bodyPr>
          <a:lstStyle/>
          <a:p>
            <a:r>
              <a:rPr lang="zh-CN" altLang="en-US" dirty="0">
                <a:solidFill>
                  <a:srgbClr val="FF0000"/>
                </a:solidFill>
              </a:rPr>
              <a:t>时间复杂度：</a:t>
            </a:r>
            <a:r>
              <a:rPr lang="en-US" altLang="zh-CN" dirty="0">
                <a:solidFill>
                  <a:srgbClr val="FF0000"/>
                </a:solidFill>
              </a:rPr>
              <a:t>O(n)</a:t>
            </a:r>
            <a:endParaRPr lang="zh-CN" altLang="en-US" dirty="0">
              <a:solidFill>
                <a:srgbClr val="FF0000"/>
              </a:solidFill>
            </a:endParaRPr>
          </a:p>
        </p:txBody>
      </p:sp>
    </p:spTree>
    <p:custDataLst>
      <p:tags r:id="rId1"/>
    </p:custDataLst>
    <p:extLst>
      <p:ext uri="{BB962C8B-B14F-4D97-AF65-F5344CB8AC3E}">
        <p14:creationId xmlns:p14="http://schemas.microsoft.com/office/powerpoint/2010/main" val="2113710107"/>
      </p:ext>
    </p:extLst>
  </p:cSld>
  <p:clrMapOvr>
    <a:masterClrMapping/>
  </p:clrMapOvr>
  <mc:AlternateContent xmlns:mc="http://schemas.openxmlformats.org/markup-compatibility/2006" xmlns:p14="http://schemas.microsoft.com/office/powerpoint/2010/main">
    <mc:Choice Requires="p14">
      <p:transition spd="slow" p14:dur="2000" advTm="44194"/>
    </mc:Choice>
    <mc:Fallback xmlns="">
      <p:transition spd="slow" advTm="441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2704587"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数据表示 </a:t>
            </a:r>
            <a:r>
              <a:rPr lang="en-US" altLang="zh-CN" dirty="0"/>
              <a:t>—— D-XFG</a:t>
            </a:r>
            <a:endParaRPr lang="zh-CN" altLang="en-US" dirty="0"/>
          </a:p>
        </p:txBody>
      </p:sp>
      <p:pic>
        <p:nvPicPr>
          <p:cNvPr id="10" name="图片 9">
            <a:extLst>
              <a:ext uri="{FF2B5EF4-FFF2-40B4-BE49-F238E27FC236}">
                <a16:creationId xmlns:a16="http://schemas.microsoft.com/office/drawing/2014/main" id="{C8B7DECA-B230-4D2A-A12C-A227E276FA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536" y="2004027"/>
            <a:ext cx="5862464" cy="2710006"/>
          </a:xfrm>
          <a:prstGeom prst="rect">
            <a:avLst/>
          </a:prstGeom>
        </p:spPr>
      </p:pic>
      <p:pic>
        <p:nvPicPr>
          <p:cNvPr id="12" name="图片 11">
            <a:extLst>
              <a:ext uri="{FF2B5EF4-FFF2-40B4-BE49-F238E27FC236}">
                <a16:creationId xmlns:a16="http://schemas.microsoft.com/office/drawing/2014/main" id="{DC8ED752-2A08-4342-846E-E6D0AA837F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2231" y="1860435"/>
            <a:ext cx="5899769" cy="3137129"/>
          </a:xfrm>
          <a:prstGeom prst="rect">
            <a:avLst/>
          </a:prstGeom>
        </p:spPr>
      </p:pic>
      <p:sp>
        <p:nvSpPr>
          <p:cNvPr id="15" name="文本框 14">
            <a:extLst>
              <a:ext uri="{FF2B5EF4-FFF2-40B4-BE49-F238E27FC236}">
                <a16:creationId xmlns:a16="http://schemas.microsoft.com/office/drawing/2014/main" id="{644F1FC4-CE4B-4130-83C6-530DEE6A3115}"/>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
        <p:nvSpPr>
          <p:cNvPr id="3" name="文本框 2">
            <a:extLst>
              <a:ext uri="{FF2B5EF4-FFF2-40B4-BE49-F238E27FC236}">
                <a16:creationId xmlns:a16="http://schemas.microsoft.com/office/drawing/2014/main" id="{87279439-62C0-490C-A97E-CA430BCE21D1}"/>
              </a:ext>
            </a:extLst>
          </p:cNvPr>
          <p:cNvSpPr txBox="1"/>
          <p:nvPr/>
        </p:nvSpPr>
        <p:spPr>
          <a:xfrm>
            <a:off x="2230720" y="5461247"/>
            <a:ext cx="1120820" cy="369332"/>
          </a:xfrm>
          <a:prstGeom prst="rect">
            <a:avLst/>
          </a:prstGeom>
          <a:noFill/>
        </p:spPr>
        <p:txBody>
          <a:bodyPr wrap="none" rtlCol="0">
            <a:spAutoFit/>
          </a:bodyPr>
          <a:lstStyle/>
          <a:p>
            <a:r>
              <a:rPr lang="zh-CN" altLang="en-US" dirty="0"/>
              <a:t>原始</a:t>
            </a:r>
            <a:r>
              <a:rPr lang="en-US" altLang="zh-CN" dirty="0"/>
              <a:t>XFG</a:t>
            </a:r>
            <a:endParaRPr lang="zh-CN" altLang="en-US" dirty="0"/>
          </a:p>
        </p:txBody>
      </p:sp>
      <p:sp>
        <p:nvSpPr>
          <p:cNvPr id="16" name="文本框 15">
            <a:extLst>
              <a:ext uri="{FF2B5EF4-FFF2-40B4-BE49-F238E27FC236}">
                <a16:creationId xmlns:a16="http://schemas.microsoft.com/office/drawing/2014/main" id="{44ED422C-6FAD-4331-AC70-FFCF6E9AA045}"/>
              </a:ext>
            </a:extLst>
          </p:cNvPr>
          <p:cNvSpPr txBox="1"/>
          <p:nvPr/>
        </p:nvSpPr>
        <p:spPr>
          <a:xfrm>
            <a:off x="8207216" y="5462727"/>
            <a:ext cx="2287806" cy="369332"/>
          </a:xfrm>
          <a:prstGeom prst="rect">
            <a:avLst/>
          </a:prstGeom>
          <a:noFill/>
        </p:spPr>
        <p:txBody>
          <a:bodyPr wrap="none" rtlCol="0">
            <a:spAutoFit/>
          </a:bodyPr>
          <a:lstStyle/>
          <a:p>
            <a:r>
              <a:rPr lang="zh-CN" altLang="en-US" dirty="0"/>
              <a:t>本文所使用的</a:t>
            </a:r>
            <a:r>
              <a:rPr lang="en-US" altLang="zh-CN" dirty="0">
                <a:solidFill>
                  <a:srgbClr val="00B0F0"/>
                </a:solidFill>
              </a:rPr>
              <a:t>D-XFG</a:t>
            </a:r>
            <a:endParaRPr lang="zh-CN" altLang="en-US" dirty="0">
              <a:solidFill>
                <a:srgbClr val="00B0F0"/>
              </a:solidFill>
            </a:endParaRPr>
          </a:p>
        </p:txBody>
      </p:sp>
    </p:spTree>
    <p:extLst>
      <p:ext uri="{BB962C8B-B14F-4D97-AF65-F5344CB8AC3E}">
        <p14:creationId xmlns:p14="http://schemas.microsoft.com/office/powerpoint/2010/main" val="178187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2922595"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数据表示 </a:t>
            </a:r>
            <a:r>
              <a:rPr lang="en-US" altLang="zh-CN" dirty="0"/>
              <a:t>—— </a:t>
            </a:r>
            <a:r>
              <a:rPr lang="zh-CN" altLang="en-US" dirty="0"/>
              <a:t>构造</a:t>
            </a:r>
            <a:r>
              <a:rPr lang="en-US" altLang="zh-CN" dirty="0"/>
              <a:t>XFG</a:t>
            </a:r>
            <a:endParaRPr lang="zh-CN" altLang="en-US" dirty="0"/>
          </a:p>
        </p:txBody>
      </p:sp>
      <p:pic>
        <p:nvPicPr>
          <p:cNvPr id="4" name="图片 3">
            <a:extLst>
              <a:ext uri="{FF2B5EF4-FFF2-40B4-BE49-F238E27FC236}">
                <a16:creationId xmlns:a16="http://schemas.microsoft.com/office/drawing/2014/main" id="{08E2EEDC-AA50-4E75-B8D9-71AE46C464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200" y="1722588"/>
            <a:ext cx="6534035" cy="4901251"/>
          </a:xfrm>
          <a:prstGeom prst="rect">
            <a:avLst/>
          </a:prstGeom>
        </p:spPr>
      </p:pic>
      <p:pic>
        <p:nvPicPr>
          <p:cNvPr id="10" name="图片 9">
            <a:extLst>
              <a:ext uri="{FF2B5EF4-FFF2-40B4-BE49-F238E27FC236}">
                <a16:creationId xmlns:a16="http://schemas.microsoft.com/office/drawing/2014/main" id="{C8B7DECA-B230-4D2A-A12C-A227E276FA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4973" y="1353255"/>
            <a:ext cx="4628911" cy="2139779"/>
          </a:xfrm>
          <a:prstGeom prst="rect">
            <a:avLst/>
          </a:prstGeom>
        </p:spPr>
      </p:pic>
      <p:pic>
        <p:nvPicPr>
          <p:cNvPr id="12" name="图片 11">
            <a:extLst>
              <a:ext uri="{FF2B5EF4-FFF2-40B4-BE49-F238E27FC236}">
                <a16:creationId xmlns:a16="http://schemas.microsoft.com/office/drawing/2014/main" id="{DC8ED752-2A08-4342-846E-E6D0AA837F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64973" y="3962421"/>
            <a:ext cx="4628911" cy="2461366"/>
          </a:xfrm>
          <a:prstGeom prst="rect">
            <a:avLst/>
          </a:prstGeom>
        </p:spPr>
      </p:pic>
      <p:sp>
        <p:nvSpPr>
          <p:cNvPr id="13" name="文本框 12">
            <a:extLst>
              <a:ext uri="{FF2B5EF4-FFF2-40B4-BE49-F238E27FC236}">
                <a16:creationId xmlns:a16="http://schemas.microsoft.com/office/drawing/2014/main" id="{51B84737-2C00-480D-A1DE-76E94BF93242}"/>
              </a:ext>
            </a:extLst>
          </p:cNvPr>
          <p:cNvSpPr txBox="1"/>
          <p:nvPr/>
        </p:nvSpPr>
        <p:spPr>
          <a:xfrm>
            <a:off x="8906386" y="3542528"/>
            <a:ext cx="1338828" cy="369332"/>
          </a:xfrm>
          <a:prstGeom prst="rect">
            <a:avLst/>
          </a:prstGeom>
          <a:noFill/>
        </p:spPr>
        <p:txBody>
          <a:bodyPr wrap="none" rtlCol="0">
            <a:spAutoFit/>
          </a:bodyPr>
          <a:lstStyle/>
          <a:p>
            <a:r>
              <a:rPr lang="zh-CN" altLang="en-US" dirty="0"/>
              <a:t>阶段一结果</a:t>
            </a:r>
          </a:p>
        </p:txBody>
      </p:sp>
      <p:sp>
        <p:nvSpPr>
          <p:cNvPr id="14" name="文本框 13">
            <a:extLst>
              <a:ext uri="{FF2B5EF4-FFF2-40B4-BE49-F238E27FC236}">
                <a16:creationId xmlns:a16="http://schemas.microsoft.com/office/drawing/2014/main" id="{23EF9865-272D-40CD-8D38-40D95AC19C80}"/>
              </a:ext>
            </a:extLst>
          </p:cNvPr>
          <p:cNvSpPr txBox="1"/>
          <p:nvPr/>
        </p:nvSpPr>
        <p:spPr>
          <a:xfrm>
            <a:off x="8906386" y="6474348"/>
            <a:ext cx="1338828" cy="369332"/>
          </a:xfrm>
          <a:prstGeom prst="rect">
            <a:avLst/>
          </a:prstGeom>
          <a:noFill/>
        </p:spPr>
        <p:txBody>
          <a:bodyPr wrap="none" rtlCol="0">
            <a:spAutoFit/>
          </a:bodyPr>
          <a:lstStyle/>
          <a:p>
            <a:r>
              <a:rPr lang="zh-CN" altLang="en-US" dirty="0"/>
              <a:t>阶段二结果</a:t>
            </a:r>
          </a:p>
        </p:txBody>
      </p:sp>
      <p:sp>
        <p:nvSpPr>
          <p:cNvPr id="15" name="文本框 14">
            <a:extLst>
              <a:ext uri="{FF2B5EF4-FFF2-40B4-BE49-F238E27FC236}">
                <a16:creationId xmlns:a16="http://schemas.microsoft.com/office/drawing/2014/main" id="{644F1FC4-CE4B-4130-83C6-530DEE6A3115}"/>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extLst>
      <p:ext uri="{BB962C8B-B14F-4D97-AF65-F5344CB8AC3E}">
        <p14:creationId xmlns:p14="http://schemas.microsoft.com/office/powerpoint/2010/main" val="263678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244810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数据表示 </a:t>
            </a:r>
            <a:r>
              <a:rPr lang="en-US" altLang="zh-CN" dirty="0"/>
              <a:t>—— </a:t>
            </a:r>
            <a:r>
              <a:rPr lang="zh-CN" altLang="en-US" dirty="0"/>
              <a:t>结果</a:t>
            </a:r>
          </a:p>
        </p:txBody>
      </p:sp>
      <p:sp>
        <p:nvSpPr>
          <p:cNvPr id="11" name="矩形 10">
            <a:extLst>
              <a:ext uri="{FF2B5EF4-FFF2-40B4-BE49-F238E27FC236}">
                <a16:creationId xmlns:a16="http://schemas.microsoft.com/office/drawing/2014/main" id="{17E8E4FF-965A-437F-ACDC-B3E5CF4F9F07}"/>
              </a:ext>
            </a:extLst>
          </p:cNvPr>
          <p:cNvSpPr/>
          <p:nvPr/>
        </p:nvSpPr>
        <p:spPr>
          <a:xfrm>
            <a:off x="2641600" y="2332078"/>
            <a:ext cx="6908800" cy="3592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a:extLst>
              <a:ext uri="{FF2B5EF4-FFF2-40B4-BE49-F238E27FC236}">
                <a16:creationId xmlns:a16="http://schemas.microsoft.com/office/drawing/2014/main" id="{F1A5A32E-731E-4300-9B49-10BE9E81A671}"/>
              </a:ext>
            </a:extLst>
          </p:cNvPr>
          <p:cNvCxnSpPr>
            <a:stCxn id="11" idx="0"/>
            <a:endCxn id="11" idx="2"/>
          </p:cNvCxnSpPr>
          <p:nvPr/>
        </p:nvCxnSpPr>
        <p:spPr>
          <a:xfrm>
            <a:off x="6096000" y="2332078"/>
            <a:ext cx="0" cy="3592225"/>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E6582BB-7D24-429D-897D-D00B46C238B8}"/>
              </a:ext>
            </a:extLst>
          </p:cNvPr>
          <p:cNvSpPr txBox="1"/>
          <p:nvPr/>
        </p:nvSpPr>
        <p:spPr>
          <a:xfrm>
            <a:off x="2641600" y="2332078"/>
            <a:ext cx="877163" cy="369332"/>
          </a:xfrm>
          <a:prstGeom prst="rect">
            <a:avLst/>
          </a:prstGeom>
          <a:noFill/>
        </p:spPr>
        <p:txBody>
          <a:bodyPr wrap="none" rtlCol="0">
            <a:spAutoFit/>
          </a:bodyPr>
          <a:lstStyle/>
          <a:p>
            <a:r>
              <a:rPr lang="zh-CN" altLang="en-US" dirty="0"/>
              <a:t>可并行</a:t>
            </a:r>
          </a:p>
        </p:txBody>
      </p:sp>
      <p:sp>
        <p:nvSpPr>
          <p:cNvPr id="17" name="文本框 16">
            <a:extLst>
              <a:ext uri="{FF2B5EF4-FFF2-40B4-BE49-F238E27FC236}">
                <a16:creationId xmlns:a16="http://schemas.microsoft.com/office/drawing/2014/main" id="{BD636CDF-7A74-4C1B-A944-5C3E2E0124CD}"/>
              </a:ext>
            </a:extLst>
          </p:cNvPr>
          <p:cNvSpPr txBox="1"/>
          <p:nvPr/>
        </p:nvSpPr>
        <p:spPr>
          <a:xfrm>
            <a:off x="6092630" y="2332078"/>
            <a:ext cx="1133644" cy="369332"/>
          </a:xfrm>
          <a:prstGeom prst="rect">
            <a:avLst/>
          </a:prstGeom>
          <a:noFill/>
        </p:spPr>
        <p:txBody>
          <a:bodyPr wrap="none" rtlCol="0">
            <a:spAutoFit/>
          </a:bodyPr>
          <a:lstStyle/>
          <a:p>
            <a:r>
              <a:rPr lang="zh-CN" altLang="en-US" dirty="0"/>
              <a:t>不可并行</a:t>
            </a:r>
          </a:p>
        </p:txBody>
      </p:sp>
      <p:grpSp>
        <p:nvGrpSpPr>
          <p:cNvPr id="18" name="组合 17">
            <a:extLst>
              <a:ext uri="{FF2B5EF4-FFF2-40B4-BE49-F238E27FC236}">
                <a16:creationId xmlns:a16="http://schemas.microsoft.com/office/drawing/2014/main" id="{36C7FB6E-EBDB-4FBD-ADEE-3061D3447F93}"/>
              </a:ext>
            </a:extLst>
          </p:cNvPr>
          <p:cNvGrpSpPr/>
          <p:nvPr/>
        </p:nvGrpSpPr>
        <p:grpSpPr>
          <a:xfrm>
            <a:off x="2971800" y="2980267"/>
            <a:ext cx="2819399" cy="558800"/>
            <a:chOff x="2971800" y="2980267"/>
            <a:chExt cx="2819399" cy="558800"/>
          </a:xfrm>
        </p:grpSpPr>
        <p:sp>
          <p:nvSpPr>
            <p:cNvPr id="19" name="矩形 18">
              <a:extLst>
                <a:ext uri="{FF2B5EF4-FFF2-40B4-BE49-F238E27FC236}">
                  <a16:creationId xmlns:a16="http://schemas.microsoft.com/office/drawing/2014/main" id="{3172E584-50C3-4310-B640-6A6CF574FD45}"/>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EE26154F-82AC-44F3-ABF2-B5C4E61C4C22}"/>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21" name="矩形 20">
              <a:extLst>
                <a:ext uri="{FF2B5EF4-FFF2-40B4-BE49-F238E27FC236}">
                  <a16:creationId xmlns:a16="http://schemas.microsoft.com/office/drawing/2014/main" id="{14C763E8-B198-41EF-958C-E992355D33B1}"/>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22" name="组合 21">
            <a:extLst>
              <a:ext uri="{FF2B5EF4-FFF2-40B4-BE49-F238E27FC236}">
                <a16:creationId xmlns:a16="http://schemas.microsoft.com/office/drawing/2014/main" id="{D51FC2A1-F859-4DD9-A9AC-3A404D4B940D}"/>
              </a:ext>
            </a:extLst>
          </p:cNvPr>
          <p:cNvGrpSpPr/>
          <p:nvPr/>
        </p:nvGrpSpPr>
        <p:grpSpPr>
          <a:xfrm>
            <a:off x="2959101" y="3754056"/>
            <a:ext cx="2819399" cy="558800"/>
            <a:chOff x="2971800" y="2980267"/>
            <a:chExt cx="2819399" cy="558800"/>
          </a:xfrm>
        </p:grpSpPr>
        <p:sp>
          <p:nvSpPr>
            <p:cNvPr id="23" name="矩形 22">
              <a:extLst>
                <a:ext uri="{FF2B5EF4-FFF2-40B4-BE49-F238E27FC236}">
                  <a16:creationId xmlns:a16="http://schemas.microsoft.com/office/drawing/2014/main" id="{38E23361-E4C8-4176-99E2-A88392276DD6}"/>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2F8E9123-9877-4321-BF1F-99128B103B2E}"/>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25" name="矩形 24">
              <a:extLst>
                <a:ext uri="{FF2B5EF4-FFF2-40B4-BE49-F238E27FC236}">
                  <a16:creationId xmlns:a16="http://schemas.microsoft.com/office/drawing/2014/main" id="{B6260CC6-B674-4CA4-83F3-996FB1CE80DF}"/>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26" name="组合 25">
            <a:extLst>
              <a:ext uri="{FF2B5EF4-FFF2-40B4-BE49-F238E27FC236}">
                <a16:creationId xmlns:a16="http://schemas.microsoft.com/office/drawing/2014/main" id="{F335A780-6A09-46A0-922A-4D535DA9E18A}"/>
              </a:ext>
            </a:extLst>
          </p:cNvPr>
          <p:cNvGrpSpPr/>
          <p:nvPr/>
        </p:nvGrpSpPr>
        <p:grpSpPr>
          <a:xfrm>
            <a:off x="6544734" y="2980267"/>
            <a:ext cx="2819399" cy="558800"/>
            <a:chOff x="2971800" y="2980267"/>
            <a:chExt cx="2819399" cy="558800"/>
          </a:xfrm>
        </p:grpSpPr>
        <p:sp>
          <p:nvSpPr>
            <p:cNvPr id="27" name="矩形 26">
              <a:extLst>
                <a:ext uri="{FF2B5EF4-FFF2-40B4-BE49-F238E27FC236}">
                  <a16:creationId xmlns:a16="http://schemas.microsoft.com/office/drawing/2014/main" id="{9DBB3EDE-C661-49B5-BB21-1E7F518D70AC}"/>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B8809934-7F9F-4C20-A679-C07CF18F6D99}"/>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29" name="矩形 28">
              <a:extLst>
                <a:ext uri="{FF2B5EF4-FFF2-40B4-BE49-F238E27FC236}">
                  <a16:creationId xmlns:a16="http://schemas.microsoft.com/office/drawing/2014/main" id="{2ECFFA26-3740-42A2-954F-4F2EA15A99F6}"/>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grpSp>
        <p:nvGrpSpPr>
          <p:cNvPr id="30" name="组合 29">
            <a:extLst>
              <a:ext uri="{FF2B5EF4-FFF2-40B4-BE49-F238E27FC236}">
                <a16:creationId xmlns:a16="http://schemas.microsoft.com/office/drawing/2014/main" id="{CCB7E71E-B5CD-4AB8-B8DB-4C94B156EBBB}"/>
              </a:ext>
            </a:extLst>
          </p:cNvPr>
          <p:cNvGrpSpPr/>
          <p:nvPr/>
        </p:nvGrpSpPr>
        <p:grpSpPr>
          <a:xfrm>
            <a:off x="6540502" y="3792524"/>
            <a:ext cx="2819399" cy="558800"/>
            <a:chOff x="2971800" y="2980267"/>
            <a:chExt cx="2819399" cy="558800"/>
          </a:xfrm>
        </p:grpSpPr>
        <p:sp>
          <p:nvSpPr>
            <p:cNvPr id="31" name="矩形 30">
              <a:extLst>
                <a:ext uri="{FF2B5EF4-FFF2-40B4-BE49-F238E27FC236}">
                  <a16:creationId xmlns:a16="http://schemas.microsoft.com/office/drawing/2014/main" id="{8EF8A30D-F6B5-42B7-9483-C39402F2241A}"/>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A3CAF150-82F5-48C4-B7C3-AE854791635C}"/>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33" name="矩形 32">
              <a:extLst>
                <a:ext uri="{FF2B5EF4-FFF2-40B4-BE49-F238E27FC236}">
                  <a16:creationId xmlns:a16="http://schemas.microsoft.com/office/drawing/2014/main" id="{F04FEC8C-76EA-4593-86DF-7D8F094913A5}"/>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34" name="文本框 33">
            <a:extLst>
              <a:ext uri="{FF2B5EF4-FFF2-40B4-BE49-F238E27FC236}">
                <a16:creationId xmlns:a16="http://schemas.microsoft.com/office/drawing/2014/main" id="{974C0DCD-36AF-4E11-991D-1D35209E06D1}"/>
              </a:ext>
            </a:extLst>
          </p:cNvPr>
          <p:cNvSpPr txBox="1"/>
          <p:nvPr/>
        </p:nvSpPr>
        <p:spPr>
          <a:xfrm>
            <a:off x="4207934" y="4511507"/>
            <a:ext cx="461665" cy="553998"/>
          </a:xfrm>
          <a:prstGeom prst="rect">
            <a:avLst/>
          </a:prstGeom>
          <a:noFill/>
        </p:spPr>
        <p:txBody>
          <a:bodyPr vert="eaVert" wrap="none" rtlCol="0">
            <a:spAutoFit/>
          </a:bodyPr>
          <a:lstStyle/>
          <a:p>
            <a:r>
              <a:rPr lang="en-US" altLang="zh-CN" dirty="0"/>
              <a:t>……</a:t>
            </a:r>
            <a:endParaRPr lang="zh-CN" altLang="en-US" dirty="0"/>
          </a:p>
        </p:txBody>
      </p:sp>
      <p:grpSp>
        <p:nvGrpSpPr>
          <p:cNvPr id="35" name="组合 34">
            <a:extLst>
              <a:ext uri="{FF2B5EF4-FFF2-40B4-BE49-F238E27FC236}">
                <a16:creationId xmlns:a16="http://schemas.microsoft.com/office/drawing/2014/main" id="{5B51AEB3-88B6-48D3-A054-BC444DD31B40}"/>
              </a:ext>
            </a:extLst>
          </p:cNvPr>
          <p:cNvGrpSpPr/>
          <p:nvPr/>
        </p:nvGrpSpPr>
        <p:grpSpPr>
          <a:xfrm>
            <a:off x="2971800" y="5168770"/>
            <a:ext cx="2819399" cy="558800"/>
            <a:chOff x="2971800" y="2980267"/>
            <a:chExt cx="2819399" cy="558800"/>
          </a:xfrm>
        </p:grpSpPr>
        <p:sp>
          <p:nvSpPr>
            <p:cNvPr id="36" name="矩形 35">
              <a:extLst>
                <a:ext uri="{FF2B5EF4-FFF2-40B4-BE49-F238E27FC236}">
                  <a16:creationId xmlns:a16="http://schemas.microsoft.com/office/drawing/2014/main" id="{BDA743C6-3628-44A6-973A-5BBD9CAAB673}"/>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1FBEC9D4-AA2D-4264-8F60-F3053E55C96B}"/>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38" name="矩形 37">
              <a:extLst>
                <a:ext uri="{FF2B5EF4-FFF2-40B4-BE49-F238E27FC236}">
                  <a16:creationId xmlns:a16="http://schemas.microsoft.com/office/drawing/2014/main" id="{550DBDCE-1F4E-4161-8E15-656207AF8E42}"/>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39" name="文本框 38">
            <a:extLst>
              <a:ext uri="{FF2B5EF4-FFF2-40B4-BE49-F238E27FC236}">
                <a16:creationId xmlns:a16="http://schemas.microsoft.com/office/drawing/2014/main" id="{D3A70F7F-AE9E-43BF-A30E-E608CB3B7101}"/>
              </a:ext>
            </a:extLst>
          </p:cNvPr>
          <p:cNvSpPr txBox="1"/>
          <p:nvPr/>
        </p:nvSpPr>
        <p:spPr>
          <a:xfrm>
            <a:off x="7776636" y="4511507"/>
            <a:ext cx="461665" cy="553998"/>
          </a:xfrm>
          <a:prstGeom prst="rect">
            <a:avLst/>
          </a:prstGeom>
          <a:noFill/>
        </p:spPr>
        <p:txBody>
          <a:bodyPr vert="eaVert" wrap="none" rtlCol="0">
            <a:spAutoFit/>
          </a:bodyPr>
          <a:lstStyle/>
          <a:p>
            <a:r>
              <a:rPr lang="en-US" altLang="zh-CN" dirty="0"/>
              <a:t>……</a:t>
            </a:r>
            <a:endParaRPr lang="zh-CN" altLang="en-US" dirty="0"/>
          </a:p>
        </p:txBody>
      </p:sp>
      <p:grpSp>
        <p:nvGrpSpPr>
          <p:cNvPr id="40" name="组合 39">
            <a:extLst>
              <a:ext uri="{FF2B5EF4-FFF2-40B4-BE49-F238E27FC236}">
                <a16:creationId xmlns:a16="http://schemas.microsoft.com/office/drawing/2014/main" id="{B6C46BC8-4BC6-4226-9C37-1AF0AEC8EA0D}"/>
              </a:ext>
            </a:extLst>
          </p:cNvPr>
          <p:cNvGrpSpPr/>
          <p:nvPr/>
        </p:nvGrpSpPr>
        <p:grpSpPr>
          <a:xfrm>
            <a:off x="6540501" y="5168770"/>
            <a:ext cx="2819399" cy="558800"/>
            <a:chOff x="2971800" y="2980267"/>
            <a:chExt cx="2819399" cy="558800"/>
          </a:xfrm>
        </p:grpSpPr>
        <p:sp>
          <p:nvSpPr>
            <p:cNvPr id="41" name="矩形 40">
              <a:extLst>
                <a:ext uri="{FF2B5EF4-FFF2-40B4-BE49-F238E27FC236}">
                  <a16:creationId xmlns:a16="http://schemas.microsoft.com/office/drawing/2014/main" id="{88359BD0-31EF-4FF8-BA0E-037FD8CAF937}"/>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449426A1-694A-4D3D-8ED8-02952BDD288D}"/>
                </a:ext>
              </a:extLst>
            </p:cNvPr>
            <p:cNvSpPr/>
            <p:nvPr/>
          </p:nvSpPr>
          <p:spPr>
            <a:xfrm>
              <a:off x="3395134"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43" name="矩形 42">
              <a:extLst>
                <a:ext uri="{FF2B5EF4-FFF2-40B4-BE49-F238E27FC236}">
                  <a16:creationId xmlns:a16="http://schemas.microsoft.com/office/drawing/2014/main" id="{B10FF5F0-28E4-4DED-8C17-A6F4128FFA38}"/>
                </a:ext>
              </a:extLst>
            </p:cNvPr>
            <p:cNvSpPr/>
            <p:nvPr/>
          </p:nvSpPr>
          <p:spPr>
            <a:xfrm>
              <a:off x="4631267" y="3094567"/>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grpSp>
      <p:sp>
        <p:nvSpPr>
          <p:cNvPr id="44" name="文本框 43">
            <a:extLst>
              <a:ext uri="{FF2B5EF4-FFF2-40B4-BE49-F238E27FC236}">
                <a16:creationId xmlns:a16="http://schemas.microsoft.com/office/drawing/2014/main" id="{EE248B5D-F263-4B23-BAF2-65AC35DAAE12}"/>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custDataLst>
      <p:tags r:id="rId1"/>
    </p:custDataLst>
    <p:extLst>
      <p:ext uri="{BB962C8B-B14F-4D97-AF65-F5344CB8AC3E}">
        <p14:creationId xmlns:p14="http://schemas.microsoft.com/office/powerpoint/2010/main" val="3288425350"/>
      </p:ext>
    </p:extLst>
  </p:cSld>
  <p:clrMapOvr>
    <a:masterClrMapping/>
  </p:clrMapOvr>
  <mc:AlternateContent xmlns:mc="http://schemas.openxmlformats.org/markup-compatibility/2006" xmlns:p14="http://schemas.microsoft.com/office/powerpoint/2010/main">
    <mc:Choice Requires="p14">
      <p:transition spd="slow" p14:dur="2000" advTm="29180"/>
    </mc:Choice>
    <mc:Fallback xmlns="">
      <p:transition spd="slow" advTm="291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17" grpId="0"/>
      <p:bldP spid="34" grpId="0"/>
      <p:bldP spid="3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1627369"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数据集规模</a:t>
            </a:r>
          </a:p>
        </p:txBody>
      </p:sp>
      <p:graphicFrame>
        <p:nvGraphicFramePr>
          <p:cNvPr id="3" name="表格 3">
            <a:extLst>
              <a:ext uri="{FF2B5EF4-FFF2-40B4-BE49-F238E27FC236}">
                <a16:creationId xmlns:a16="http://schemas.microsoft.com/office/drawing/2014/main" id="{CA4F2CCD-8011-47F8-AC4F-3319989C1D52}"/>
              </a:ext>
            </a:extLst>
          </p:cNvPr>
          <p:cNvGraphicFramePr>
            <a:graphicFrameLocks noGrp="1"/>
          </p:cNvGraphicFramePr>
          <p:nvPr>
            <p:extLst>
              <p:ext uri="{D42A27DB-BD31-4B8C-83A1-F6EECF244321}">
                <p14:modId xmlns:p14="http://schemas.microsoft.com/office/powerpoint/2010/main" val="1403495813"/>
              </p:ext>
            </p:extLst>
          </p:nvPr>
        </p:nvGraphicFramePr>
        <p:xfrm>
          <a:off x="4025900" y="1505782"/>
          <a:ext cx="6764866" cy="5052060"/>
        </p:xfrm>
        <a:graphic>
          <a:graphicData uri="http://schemas.openxmlformats.org/drawingml/2006/table">
            <a:tbl>
              <a:tblPr firstRow="1" bandRow="1">
                <a:tableStyleId>{5C22544A-7EE6-4342-B048-85BDC9FD1C3A}</a:tableStyleId>
              </a:tblPr>
              <a:tblGrid>
                <a:gridCol w="745067">
                  <a:extLst>
                    <a:ext uri="{9D8B030D-6E8A-4147-A177-3AD203B41FA5}">
                      <a16:colId xmlns:a16="http://schemas.microsoft.com/office/drawing/2014/main" val="2384377379"/>
                    </a:ext>
                  </a:extLst>
                </a:gridCol>
                <a:gridCol w="1100667">
                  <a:extLst>
                    <a:ext uri="{9D8B030D-6E8A-4147-A177-3AD203B41FA5}">
                      <a16:colId xmlns:a16="http://schemas.microsoft.com/office/drawing/2014/main" val="323507717"/>
                    </a:ext>
                  </a:extLst>
                </a:gridCol>
                <a:gridCol w="922867">
                  <a:extLst>
                    <a:ext uri="{9D8B030D-6E8A-4147-A177-3AD203B41FA5}">
                      <a16:colId xmlns:a16="http://schemas.microsoft.com/office/drawing/2014/main" val="1873956556"/>
                    </a:ext>
                  </a:extLst>
                </a:gridCol>
                <a:gridCol w="889000">
                  <a:extLst>
                    <a:ext uri="{9D8B030D-6E8A-4147-A177-3AD203B41FA5}">
                      <a16:colId xmlns:a16="http://schemas.microsoft.com/office/drawing/2014/main" val="1662156697"/>
                    </a:ext>
                  </a:extLst>
                </a:gridCol>
                <a:gridCol w="872066">
                  <a:extLst>
                    <a:ext uri="{9D8B030D-6E8A-4147-A177-3AD203B41FA5}">
                      <a16:colId xmlns:a16="http://schemas.microsoft.com/office/drawing/2014/main" val="787757897"/>
                    </a:ext>
                  </a:extLst>
                </a:gridCol>
                <a:gridCol w="838200">
                  <a:extLst>
                    <a:ext uri="{9D8B030D-6E8A-4147-A177-3AD203B41FA5}">
                      <a16:colId xmlns:a16="http://schemas.microsoft.com/office/drawing/2014/main" val="1255359359"/>
                    </a:ext>
                  </a:extLst>
                </a:gridCol>
                <a:gridCol w="1396999">
                  <a:extLst>
                    <a:ext uri="{9D8B030D-6E8A-4147-A177-3AD203B41FA5}">
                      <a16:colId xmlns:a16="http://schemas.microsoft.com/office/drawing/2014/main" val="3993952351"/>
                    </a:ext>
                  </a:extLst>
                </a:gridCol>
              </a:tblGrid>
              <a:tr h="242818">
                <a:tc>
                  <a:txBody>
                    <a:bodyPr/>
                    <a:lstStyle/>
                    <a:p>
                      <a:r>
                        <a:rPr lang="zh-CN" altLang="en-US" dirty="0"/>
                        <a:t>序号</a:t>
                      </a:r>
                    </a:p>
                  </a:txBody>
                  <a:tcPr>
                    <a:solidFill>
                      <a:srgbClr val="C00000"/>
                    </a:solidFill>
                  </a:tcPr>
                </a:tc>
                <a:tc>
                  <a:txBody>
                    <a:bodyPr/>
                    <a:lstStyle/>
                    <a:p>
                      <a:r>
                        <a:rPr lang="zh-CN" altLang="en-US" dirty="0"/>
                        <a:t>名称</a:t>
                      </a:r>
                    </a:p>
                  </a:txBody>
                  <a:tcPr>
                    <a:solidFill>
                      <a:srgbClr val="C00000"/>
                    </a:solidFill>
                  </a:tcPr>
                </a:tc>
                <a:tc>
                  <a:txBody>
                    <a:bodyPr/>
                    <a:lstStyle/>
                    <a:p>
                      <a:r>
                        <a:rPr lang="zh-CN" altLang="en-US" dirty="0"/>
                        <a:t>图的总数</a:t>
                      </a:r>
                    </a:p>
                  </a:txBody>
                  <a:tcPr>
                    <a:solidFill>
                      <a:srgbClr val="C00000"/>
                    </a:solidFill>
                  </a:tcPr>
                </a:tc>
                <a:tc>
                  <a:txBody>
                    <a:bodyPr/>
                    <a:lstStyle/>
                    <a:p>
                      <a:r>
                        <a:rPr lang="zh-CN" altLang="en-US" dirty="0"/>
                        <a:t>分类类别</a:t>
                      </a:r>
                    </a:p>
                  </a:txBody>
                  <a:tcPr>
                    <a:solidFill>
                      <a:srgbClr val="C00000"/>
                    </a:solidFill>
                  </a:tcPr>
                </a:tc>
                <a:tc>
                  <a:txBody>
                    <a:bodyPr/>
                    <a:lstStyle/>
                    <a:p>
                      <a:r>
                        <a:rPr lang="zh-CN" altLang="en-US" dirty="0"/>
                        <a:t>节点均值</a:t>
                      </a:r>
                    </a:p>
                  </a:txBody>
                  <a:tcPr>
                    <a:solidFill>
                      <a:srgbClr val="C00000"/>
                    </a:solidFill>
                  </a:tcPr>
                </a:tc>
                <a:tc>
                  <a:txBody>
                    <a:bodyPr/>
                    <a:lstStyle/>
                    <a:p>
                      <a:r>
                        <a:rPr lang="zh-CN" altLang="en-US" dirty="0"/>
                        <a:t>边均值</a:t>
                      </a:r>
                    </a:p>
                  </a:txBody>
                  <a:tcPr>
                    <a:solidFill>
                      <a:srgbClr val="C00000"/>
                    </a:solidFill>
                  </a:tcPr>
                </a:tc>
                <a:tc>
                  <a:txBody>
                    <a:bodyPr/>
                    <a:lstStyle/>
                    <a:p>
                      <a:endParaRPr lang="zh-CN" altLang="en-US" dirty="0"/>
                    </a:p>
                  </a:txBody>
                  <a:tcPr>
                    <a:solidFill>
                      <a:srgbClr val="C00000"/>
                    </a:solidFill>
                  </a:tcPr>
                </a:tc>
                <a:extLst>
                  <a:ext uri="{0D108BD9-81ED-4DB2-BD59-A6C34878D82A}">
                    <a16:rowId xmlns:a16="http://schemas.microsoft.com/office/drawing/2014/main" val="1589322819"/>
                  </a:ext>
                </a:extLst>
              </a:tr>
              <a:tr h="242818">
                <a:tc>
                  <a:txBody>
                    <a:bodyPr/>
                    <a:lstStyle/>
                    <a:p>
                      <a:r>
                        <a:rPr lang="en-US" altLang="zh-CN" dirty="0"/>
                        <a:t>1</a:t>
                      </a:r>
                      <a:endParaRPr lang="zh-CN"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MUTAG	</a:t>
                      </a:r>
                    </a:p>
                  </a:txBody>
                  <a:tcPr/>
                </a:tc>
                <a:tc>
                  <a:txBody>
                    <a:bodyPr/>
                    <a:lstStyle/>
                    <a:p>
                      <a:r>
                        <a:rPr lang="en-US" altLang="zh-CN" dirty="0"/>
                        <a:t>188</a:t>
                      </a:r>
                      <a:endParaRPr lang="zh-CN" altLang="en-US" dirty="0"/>
                    </a:p>
                  </a:txBody>
                  <a:tcPr/>
                </a:tc>
                <a:tc>
                  <a:txBody>
                    <a:bodyPr/>
                    <a:lstStyle/>
                    <a:p>
                      <a:r>
                        <a:rPr lang="en-US" altLang="zh-CN" dirty="0"/>
                        <a:t>2</a:t>
                      </a:r>
                      <a:endParaRPr lang="zh-CN" altLang="en-US" dirty="0"/>
                    </a:p>
                  </a:txBody>
                  <a:tcPr/>
                </a:tc>
                <a:tc>
                  <a:txBody>
                    <a:bodyPr/>
                    <a:lstStyle/>
                    <a:p>
                      <a:r>
                        <a:rPr lang="en-US" altLang="zh-CN" dirty="0"/>
                        <a:t>17.93</a:t>
                      </a:r>
                      <a:endParaRPr lang="zh-CN" altLang="en-US" dirty="0"/>
                    </a:p>
                  </a:txBody>
                  <a:tcPr/>
                </a:tc>
                <a:tc>
                  <a:txBody>
                    <a:bodyPr/>
                    <a:lstStyle/>
                    <a:p>
                      <a:r>
                        <a:rPr lang="en-US" altLang="zh-CN" dirty="0"/>
                        <a:t>19.79</a:t>
                      </a:r>
                      <a:endParaRPr lang="zh-CN" altLang="en-US" dirty="0"/>
                    </a:p>
                  </a:txBody>
                  <a:tcPr/>
                </a:tc>
                <a:tc rowSpan="8">
                  <a:txBody>
                    <a:bodyPr/>
                    <a:lstStyle/>
                    <a:p>
                      <a:pPr algn="ctr"/>
                      <a:r>
                        <a:rPr lang="en-US" altLang="zh-CN" dirty="0"/>
                        <a:t>DGCNN</a:t>
                      </a:r>
                      <a:r>
                        <a:rPr lang="zh-CN" altLang="en-US" dirty="0"/>
                        <a:t>所用的图数据集</a:t>
                      </a:r>
                    </a:p>
                  </a:txBody>
                  <a:tcPr anchor="ctr"/>
                </a:tc>
                <a:extLst>
                  <a:ext uri="{0D108BD9-81ED-4DB2-BD59-A6C34878D82A}">
                    <a16:rowId xmlns:a16="http://schemas.microsoft.com/office/drawing/2014/main" val="1957984325"/>
                  </a:ext>
                </a:extLst>
              </a:tr>
              <a:tr h="242818">
                <a:tc>
                  <a:txBody>
                    <a:bodyPr/>
                    <a:lstStyle/>
                    <a:p>
                      <a:r>
                        <a:rPr lang="en-US" altLang="zh-CN" dirty="0"/>
                        <a:t>2</a:t>
                      </a:r>
                      <a:endParaRPr lang="zh-CN" altLang="en-US" dirty="0"/>
                    </a:p>
                  </a:txBody>
                  <a:tcPr/>
                </a:tc>
                <a:tc>
                  <a:txBody>
                    <a:bodyPr/>
                    <a:lstStyle/>
                    <a:p>
                      <a:r>
                        <a:rPr lang="en-US" altLang="zh-CN" dirty="0"/>
                        <a:t>PTC_MR</a:t>
                      </a:r>
                      <a:endParaRPr lang="zh-CN" altLang="en-US" dirty="0"/>
                    </a:p>
                  </a:txBody>
                  <a:tcPr/>
                </a:tc>
                <a:tc>
                  <a:txBody>
                    <a:bodyPr/>
                    <a:lstStyle/>
                    <a:p>
                      <a:r>
                        <a:rPr lang="en-US" altLang="zh-CN" dirty="0"/>
                        <a:t>344</a:t>
                      </a:r>
                      <a:endParaRPr lang="zh-CN" altLang="en-US" dirty="0"/>
                    </a:p>
                  </a:txBody>
                  <a:tcPr/>
                </a:tc>
                <a:tc>
                  <a:txBody>
                    <a:bodyPr/>
                    <a:lstStyle/>
                    <a:p>
                      <a:r>
                        <a:rPr lang="en-US" altLang="zh-CN" dirty="0"/>
                        <a:t>2</a:t>
                      </a:r>
                      <a:endParaRPr lang="zh-CN" altLang="en-US" dirty="0"/>
                    </a:p>
                  </a:txBody>
                  <a:tcPr/>
                </a:tc>
                <a:tc>
                  <a:txBody>
                    <a:bodyPr/>
                    <a:lstStyle/>
                    <a:p>
                      <a:r>
                        <a:rPr lang="en-US" altLang="zh-CN" dirty="0"/>
                        <a:t>14.29</a:t>
                      </a:r>
                      <a:endParaRPr lang="zh-CN" altLang="en-US" dirty="0"/>
                    </a:p>
                  </a:txBody>
                  <a:tcPr/>
                </a:tc>
                <a:tc>
                  <a:txBody>
                    <a:bodyPr/>
                    <a:lstStyle/>
                    <a:p>
                      <a:r>
                        <a:rPr lang="en-US" altLang="zh-CN" dirty="0"/>
                        <a:t>14.69</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25770309"/>
                  </a:ext>
                </a:extLst>
              </a:tr>
              <a:tr h="242818">
                <a:tc>
                  <a:txBody>
                    <a:bodyPr/>
                    <a:lstStyle/>
                    <a:p>
                      <a:r>
                        <a:rPr lang="en-US" altLang="zh-CN" dirty="0"/>
                        <a:t>3</a:t>
                      </a:r>
                      <a:endParaRPr lang="zh-CN" altLang="en-US" dirty="0"/>
                    </a:p>
                  </a:txBody>
                  <a:tcPr/>
                </a:tc>
                <a:tc>
                  <a:txBody>
                    <a:bodyPr/>
                    <a:lstStyle/>
                    <a:p>
                      <a:r>
                        <a:rPr lang="en-US" altLang="zh-CN" dirty="0"/>
                        <a:t>NCI1</a:t>
                      </a:r>
                      <a:endParaRPr lang="zh-CN" altLang="en-US" dirty="0"/>
                    </a:p>
                  </a:txBody>
                  <a:tcPr/>
                </a:tc>
                <a:tc>
                  <a:txBody>
                    <a:bodyPr/>
                    <a:lstStyle/>
                    <a:p>
                      <a:r>
                        <a:rPr lang="en-US" altLang="zh-CN" dirty="0"/>
                        <a:t>4110</a:t>
                      </a:r>
                      <a:endParaRPr lang="zh-CN" altLang="en-US" dirty="0"/>
                    </a:p>
                  </a:txBody>
                  <a:tcPr/>
                </a:tc>
                <a:tc>
                  <a:txBody>
                    <a:bodyPr/>
                    <a:lstStyle/>
                    <a:p>
                      <a:r>
                        <a:rPr lang="en-US" altLang="zh-CN" dirty="0"/>
                        <a:t>2</a:t>
                      </a:r>
                      <a:endParaRPr lang="zh-CN" altLang="en-US" dirty="0"/>
                    </a:p>
                  </a:txBody>
                  <a:tcPr/>
                </a:tc>
                <a:tc>
                  <a:txBody>
                    <a:bodyPr/>
                    <a:lstStyle/>
                    <a:p>
                      <a:r>
                        <a:rPr lang="en-US" altLang="zh-CN" dirty="0"/>
                        <a:t>29.87</a:t>
                      </a:r>
                      <a:endParaRPr lang="zh-CN" altLang="en-US" dirty="0"/>
                    </a:p>
                  </a:txBody>
                  <a:tcPr/>
                </a:tc>
                <a:tc>
                  <a:txBody>
                    <a:bodyPr/>
                    <a:lstStyle/>
                    <a:p>
                      <a:r>
                        <a:rPr lang="en-US" altLang="zh-CN" dirty="0"/>
                        <a:t>32.3</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013687012"/>
                  </a:ext>
                </a:extLst>
              </a:tr>
              <a:tr h="242818">
                <a:tc>
                  <a:txBody>
                    <a:bodyPr/>
                    <a:lstStyle/>
                    <a:p>
                      <a:r>
                        <a:rPr lang="en-US" altLang="zh-CN" dirty="0"/>
                        <a:t>4</a:t>
                      </a:r>
                      <a:endParaRPr lang="zh-CN" altLang="en-US" dirty="0"/>
                    </a:p>
                  </a:txBody>
                  <a:tcPr/>
                </a:tc>
                <a:tc>
                  <a:txBody>
                    <a:bodyPr/>
                    <a:lstStyle/>
                    <a:p>
                      <a:r>
                        <a:rPr lang="en-US" altLang="zh-CN" dirty="0"/>
                        <a:t>PROTEINS</a:t>
                      </a:r>
                      <a:endParaRPr lang="zh-CN" altLang="en-US" dirty="0"/>
                    </a:p>
                  </a:txBody>
                  <a:tcPr/>
                </a:tc>
                <a:tc>
                  <a:txBody>
                    <a:bodyPr/>
                    <a:lstStyle/>
                    <a:p>
                      <a:r>
                        <a:rPr lang="en-US" altLang="zh-CN" dirty="0"/>
                        <a:t>1113</a:t>
                      </a:r>
                      <a:endParaRPr lang="zh-CN" altLang="en-US" dirty="0"/>
                    </a:p>
                  </a:txBody>
                  <a:tcPr/>
                </a:tc>
                <a:tc>
                  <a:txBody>
                    <a:bodyPr/>
                    <a:lstStyle/>
                    <a:p>
                      <a:r>
                        <a:rPr lang="en-US" altLang="zh-CN" dirty="0"/>
                        <a:t>2</a:t>
                      </a:r>
                      <a:endParaRPr lang="zh-CN" altLang="en-US" dirty="0"/>
                    </a:p>
                  </a:txBody>
                  <a:tcPr/>
                </a:tc>
                <a:tc>
                  <a:txBody>
                    <a:bodyPr/>
                    <a:lstStyle/>
                    <a:p>
                      <a:r>
                        <a:rPr lang="en-US" altLang="zh-CN" dirty="0"/>
                        <a:t>39.06</a:t>
                      </a:r>
                      <a:endParaRPr lang="zh-CN" altLang="en-US" dirty="0"/>
                    </a:p>
                  </a:txBody>
                  <a:tcPr/>
                </a:tc>
                <a:tc>
                  <a:txBody>
                    <a:bodyPr/>
                    <a:lstStyle/>
                    <a:p>
                      <a:r>
                        <a:rPr lang="en-US" altLang="zh-CN" dirty="0"/>
                        <a:t>72.82</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66629871"/>
                  </a:ext>
                </a:extLst>
              </a:tr>
              <a:tr h="242818">
                <a:tc>
                  <a:txBody>
                    <a:bodyPr/>
                    <a:lstStyle/>
                    <a:p>
                      <a:r>
                        <a:rPr lang="en-US" altLang="zh-CN" dirty="0"/>
                        <a:t>5</a:t>
                      </a:r>
                      <a:endParaRPr lang="zh-CN" altLang="en-US" dirty="0"/>
                    </a:p>
                  </a:txBody>
                  <a:tcPr/>
                </a:tc>
                <a:tc>
                  <a:txBody>
                    <a:bodyPr/>
                    <a:lstStyle/>
                    <a:p>
                      <a:r>
                        <a:rPr lang="en-US" altLang="zh-CN" dirty="0"/>
                        <a:t>D&amp;D</a:t>
                      </a:r>
                      <a:endParaRPr lang="zh-CN" altLang="en-US" dirty="0"/>
                    </a:p>
                  </a:txBody>
                  <a:tcPr/>
                </a:tc>
                <a:tc>
                  <a:txBody>
                    <a:bodyPr/>
                    <a:lstStyle/>
                    <a:p>
                      <a:r>
                        <a:rPr lang="en-US" altLang="zh-CN" dirty="0"/>
                        <a:t>1178</a:t>
                      </a:r>
                      <a:endParaRPr lang="zh-CN" altLang="en-US" dirty="0"/>
                    </a:p>
                  </a:txBody>
                  <a:tcPr/>
                </a:tc>
                <a:tc>
                  <a:txBody>
                    <a:bodyPr/>
                    <a:lstStyle/>
                    <a:p>
                      <a:r>
                        <a:rPr lang="en-US" altLang="zh-CN" dirty="0"/>
                        <a:t>2</a:t>
                      </a:r>
                      <a:endParaRPr lang="zh-CN" altLang="en-US" dirty="0"/>
                    </a:p>
                  </a:txBody>
                  <a:tcPr/>
                </a:tc>
                <a:tc>
                  <a:txBody>
                    <a:bodyPr/>
                    <a:lstStyle/>
                    <a:p>
                      <a:r>
                        <a:rPr lang="en-US" altLang="zh-CN" dirty="0"/>
                        <a:t>284.32</a:t>
                      </a:r>
                      <a:endParaRPr lang="zh-CN" altLang="en-US" dirty="0"/>
                    </a:p>
                  </a:txBody>
                  <a:tcPr/>
                </a:tc>
                <a:tc>
                  <a:txBody>
                    <a:bodyPr/>
                    <a:lstStyle/>
                    <a:p>
                      <a:r>
                        <a:rPr lang="en-US" altLang="zh-CN" dirty="0"/>
                        <a:t>715.66</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47347078"/>
                  </a:ext>
                </a:extLst>
              </a:tr>
              <a:tr h="242818">
                <a:tc>
                  <a:txBody>
                    <a:bodyPr/>
                    <a:lstStyle/>
                    <a:p>
                      <a:r>
                        <a:rPr lang="en-US" altLang="zh-CN" dirty="0"/>
                        <a:t>6</a:t>
                      </a:r>
                      <a:endParaRPr lang="zh-CN" altLang="en-US" dirty="0"/>
                    </a:p>
                  </a:txBody>
                  <a:tcPr/>
                </a:tc>
                <a:tc>
                  <a:txBody>
                    <a:bodyPr/>
                    <a:lstStyle/>
                    <a:p>
                      <a:r>
                        <a:rPr lang="en-US" altLang="zh-CN" dirty="0"/>
                        <a:t>IMDB-B</a:t>
                      </a:r>
                      <a:endParaRPr lang="zh-CN" altLang="en-US" dirty="0"/>
                    </a:p>
                  </a:txBody>
                  <a:tcPr/>
                </a:tc>
                <a:tc>
                  <a:txBody>
                    <a:bodyPr/>
                    <a:lstStyle/>
                    <a:p>
                      <a:r>
                        <a:rPr lang="en-US" altLang="zh-CN" dirty="0"/>
                        <a:t>1000</a:t>
                      </a:r>
                      <a:endParaRPr lang="zh-CN" altLang="en-US" dirty="0"/>
                    </a:p>
                  </a:txBody>
                  <a:tcPr/>
                </a:tc>
                <a:tc>
                  <a:txBody>
                    <a:bodyPr/>
                    <a:lstStyle/>
                    <a:p>
                      <a:r>
                        <a:rPr lang="en-US" altLang="zh-CN" dirty="0"/>
                        <a:t>2</a:t>
                      </a:r>
                      <a:endParaRPr lang="zh-CN" altLang="en-US" dirty="0"/>
                    </a:p>
                  </a:txBody>
                  <a:tcPr/>
                </a:tc>
                <a:tc>
                  <a:txBody>
                    <a:bodyPr/>
                    <a:lstStyle/>
                    <a:p>
                      <a:r>
                        <a:rPr lang="en-US" altLang="zh-CN" dirty="0"/>
                        <a:t>19.77</a:t>
                      </a:r>
                      <a:endParaRPr lang="zh-CN" altLang="en-US" dirty="0"/>
                    </a:p>
                  </a:txBody>
                  <a:tcPr/>
                </a:tc>
                <a:tc>
                  <a:txBody>
                    <a:bodyPr/>
                    <a:lstStyle/>
                    <a:p>
                      <a:r>
                        <a:rPr lang="en-US" altLang="zh-CN" dirty="0"/>
                        <a:t>96.53</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3572719542"/>
                  </a:ext>
                </a:extLst>
              </a:tr>
              <a:tr h="242818">
                <a:tc>
                  <a:txBody>
                    <a:bodyPr/>
                    <a:lstStyle/>
                    <a:p>
                      <a:r>
                        <a:rPr lang="en-US" altLang="zh-CN" dirty="0"/>
                        <a:t>7</a:t>
                      </a:r>
                      <a:endParaRPr lang="zh-CN" altLang="en-US" dirty="0"/>
                    </a:p>
                  </a:txBody>
                  <a:tcPr/>
                </a:tc>
                <a:tc>
                  <a:txBody>
                    <a:bodyPr/>
                    <a:lstStyle/>
                    <a:p>
                      <a:r>
                        <a:rPr lang="en-US" altLang="zh-CN" dirty="0"/>
                        <a:t>IMDB-M</a:t>
                      </a:r>
                      <a:endParaRPr lang="zh-CN" altLang="en-US" dirty="0"/>
                    </a:p>
                  </a:txBody>
                  <a:tcPr/>
                </a:tc>
                <a:tc>
                  <a:txBody>
                    <a:bodyPr/>
                    <a:lstStyle/>
                    <a:p>
                      <a:r>
                        <a:rPr lang="en-US" altLang="zh-CN" dirty="0"/>
                        <a:t>1500</a:t>
                      </a:r>
                      <a:endParaRPr lang="zh-CN" altLang="en-US" dirty="0"/>
                    </a:p>
                  </a:txBody>
                  <a:tcPr/>
                </a:tc>
                <a:tc>
                  <a:txBody>
                    <a:bodyPr/>
                    <a:lstStyle/>
                    <a:p>
                      <a:r>
                        <a:rPr lang="en-US" altLang="zh-CN" dirty="0"/>
                        <a:t>3</a:t>
                      </a:r>
                      <a:endParaRPr lang="zh-CN" altLang="en-US" dirty="0"/>
                    </a:p>
                  </a:txBody>
                  <a:tcPr/>
                </a:tc>
                <a:tc>
                  <a:txBody>
                    <a:bodyPr/>
                    <a:lstStyle/>
                    <a:p>
                      <a:r>
                        <a:rPr lang="en-US" altLang="zh-CN" dirty="0"/>
                        <a:t>13</a:t>
                      </a:r>
                      <a:endParaRPr lang="zh-CN" altLang="en-US" dirty="0"/>
                    </a:p>
                  </a:txBody>
                  <a:tcPr/>
                </a:tc>
                <a:tc>
                  <a:txBody>
                    <a:bodyPr/>
                    <a:lstStyle/>
                    <a:p>
                      <a:r>
                        <a:rPr lang="en-US" altLang="zh-CN" dirty="0"/>
                        <a:t>65.94</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739895339"/>
                  </a:ext>
                </a:extLst>
              </a:tr>
              <a:tr h="242818">
                <a:tc>
                  <a:txBody>
                    <a:bodyPr/>
                    <a:lstStyle/>
                    <a:p>
                      <a:r>
                        <a:rPr lang="en-US" altLang="zh-CN" dirty="0"/>
                        <a:t>8</a:t>
                      </a:r>
                      <a:endParaRPr lang="zh-CN" altLang="en-US" dirty="0"/>
                    </a:p>
                  </a:txBody>
                  <a:tcPr/>
                </a:tc>
                <a:tc>
                  <a:txBody>
                    <a:bodyPr/>
                    <a:lstStyle/>
                    <a:p>
                      <a:r>
                        <a:rPr lang="en-US" altLang="zh-CN" dirty="0"/>
                        <a:t>COLLAB</a:t>
                      </a:r>
                      <a:endParaRPr lang="zh-CN" altLang="en-US" dirty="0"/>
                    </a:p>
                  </a:txBody>
                  <a:tcPr/>
                </a:tc>
                <a:tc>
                  <a:txBody>
                    <a:bodyPr/>
                    <a:lstStyle/>
                    <a:p>
                      <a:r>
                        <a:rPr lang="en-US" altLang="zh-CN" dirty="0"/>
                        <a:t>5000</a:t>
                      </a:r>
                      <a:endParaRPr lang="zh-CN" altLang="en-US" dirty="0"/>
                    </a:p>
                  </a:txBody>
                  <a:tcPr/>
                </a:tc>
                <a:tc>
                  <a:txBody>
                    <a:bodyPr/>
                    <a:lstStyle/>
                    <a:p>
                      <a:r>
                        <a:rPr lang="en-US" altLang="zh-CN" dirty="0"/>
                        <a:t>3</a:t>
                      </a:r>
                      <a:endParaRPr lang="zh-CN" altLang="en-US" dirty="0"/>
                    </a:p>
                  </a:txBody>
                  <a:tcPr/>
                </a:tc>
                <a:tc>
                  <a:txBody>
                    <a:bodyPr/>
                    <a:lstStyle/>
                    <a:p>
                      <a:r>
                        <a:rPr lang="en-US" altLang="zh-CN" dirty="0"/>
                        <a:t>74.49</a:t>
                      </a:r>
                      <a:endParaRPr lang="zh-CN" altLang="en-US" dirty="0"/>
                    </a:p>
                  </a:txBody>
                  <a:tcPr/>
                </a:tc>
                <a:tc>
                  <a:txBody>
                    <a:bodyPr/>
                    <a:lstStyle/>
                    <a:p>
                      <a:r>
                        <a:rPr lang="en-US" altLang="zh-CN" dirty="0"/>
                        <a:t>2457.78</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563576854"/>
                  </a:ext>
                </a:extLst>
              </a:tr>
              <a:tr h="242818">
                <a:tc>
                  <a:txBody>
                    <a:bodyPr/>
                    <a:lstStyle/>
                    <a:p>
                      <a:r>
                        <a:rPr lang="en-US" altLang="zh-CN" dirty="0"/>
                        <a:t>9</a:t>
                      </a:r>
                      <a:endParaRPr lang="zh-CN" altLang="en-US" dirty="0"/>
                    </a:p>
                  </a:txBody>
                  <a:tcPr/>
                </a:tc>
                <a:tc>
                  <a:txBody>
                    <a:bodyPr/>
                    <a:lstStyle/>
                    <a:p>
                      <a:r>
                        <a:rPr lang="en-US" altLang="zh-CN" dirty="0"/>
                        <a:t>AIDS</a:t>
                      </a:r>
                      <a:endParaRPr lang="zh-CN" altLang="en-US" dirty="0"/>
                    </a:p>
                  </a:txBody>
                  <a:tcPr/>
                </a:tc>
                <a:tc>
                  <a:txBody>
                    <a:bodyPr/>
                    <a:lstStyle/>
                    <a:p>
                      <a:r>
                        <a:rPr lang="en-US" altLang="zh-CN" dirty="0"/>
                        <a:t>2000</a:t>
                      </a:r>
                      <a:endParaRPr lang="zh-CN" altLang="en-US" dirty="0"/>
                    </a:p>
                  </a:txBody>
                  <a:tcPr/>
                </a:tc>
                <a:tc>
                  <a:txBody>
                    <a:bodyPr/>
                    <a:lstStyle/>
                    <a:p>
                      <a:r>
                        <a:rPr lang="en-US" altLang="zh-CN" dirty="0"/>
                        <a:t>2</a:t>
                      </a:r>
                      <a:endParaRPr lang="zh-CN" altLang="en-US" dirty="0"/>
                    </a:p>
                  </a:txBody>
                  <a:tcPr/>
                </a:tc>
                <a:tc>
                  <a:txBody>
                    <a:bodyPr/>
                    <a:lstStyle/>
                    <a:p>
                      <a:r>
                        <a:rPr lang="en-US" altLang="zh-CN" dirty="0"/>
                        <a:t>15.69</a:t>
                      </a:r>
                      <a:endParaRPr lang="zh-CN" altLang="en-US" dirty="0"/>
                    </a:p>
                  </a:txBody>
                  <a:tcPr/>
                </a:tc>
                <a:tc>
                  <a:txBody>
                    <a:bodyPr/>
                    <a:lstStyle/>
                    <a:p>
                      <a:r>
                        <a:rPr lang="en-US" altLang="zh-CN" dirty="0"/>
                        <a:t>16.2</a:t>
                      </a:r>
                      <a:endParaRPr lang="zh-CN" altLang="en-US" dirty="0"/>
                    </a:p>
                  </a:txBody>
                  <a:tcPr/>
                </a:tc>
                <a:tc rowSpan="8">
                  <a:txBody>
                    <a:bodyPr/>
                    <a:lstStyle/>
                    <a:p>
                      <a:pPr algn="ctr"/>
                      <a:r>
                        <a:rPr lang="zh-CN" altLang="en-US" dirty="0"/>
                        <a:t>其他二分类图数据集</a:t>
                      </a:r>
                    </a:p>
                  </a:txBody>
                  <a:tcPr anchor="ctr"/>
                </a:tc>
                <a:extLst>
                  <a:ext uri="{0D108BD9-81ED-4DB2-BD59-A6C34878D82A}">
                    <a16:rowId xmlns:a16="http://schemas.microsoft.com/office/drawing/2014/main" val="1304073150"/>
                  </a:ext>
                </a:extLst>
              </a:tr>
              <a:tr h="242818">
                <a:tc>
                  <a:txBody>
                    <a:bodyPr/>
                    <a:lstStyle/>
                    <a:p>
                      <a:r>
                        <a:rPr lang="en-US" altLang="zh-CN" dirty="0"/>
                        <a:t>10</a:t>
                      </a:r>
                      <a:endParaRPr lang="zh-CN" altLang="en-US" dirty="0"/>
                    </a:p>
                  </a:txBody>
                  <a:tcPr/>
                </a:tc>
                <a:tc>
                  <a:txBody>
                    <a:bodyPr/>
                    <a:lstStyle/>
                    <a:p>
                      <a:r>
                        <a:rPr lang="en-US" altLang="zh-CN" dirty="0"/>
                        <a:t>BZR</a:t>
                      </a:r>
                      <a:endParaRPr lang="zh-CN" altLang="en-US" dirty="0"/>
                    </a:p>
                  </a:txBody>
                  <a:tcPr/>
                </a:tc>
                <a:tc>
                  <a:txBody>
                    <a:bodyPr/>
                    <a:lstStyle/>
                    <a:p>
                      <a:r>
                        <a:rPr lang="en-US" altLang="zh-CN" dirty="0"/>
                        <a:t>405</a:t>
                      </a:r>
                      <a:endParaRPr lang="zh-CN" altLang="en-US" dirty="0"/>
                    </a:p>
                  </a:txBody>
                  <a:tcPr/>
                </a:tc>
                <a:tc>
                  <a:txBody>
                    <a:bodyPr/>
                    <a:lstStyle/>
                    <a:p>
                      <a:r>
                        <a:rPr lang="en-US" altLang="zh-CN" dirty="0"/>
                        <a:t>2</a:t>
                      </a:r>
                      <a:endParaRPr lang="zh-CN" altLang="en-US" dirty="0"/>
                    </a:p>
                  </a:txBody>
                  <a:tcPr/>
                </a:tc>
                <a:tc>
                  <a:txBody>
                    <a:bodyPr/>
                    <a:lstStyle/>
                    <a:p>
                      <a:r>
                        <a:rPr lang="en-US" altLang="zh-CN" dirty="0"/>
                        <a:t>35.75</a:t>
                      </a:r>
                      <a:endParaRPr lang="zh-CN" altLang="en-US" dirty="0"/>
                    </a:p>
                  </a:txBody>
                  <a:tcPr/>
                </a:tc>
                <a:tc>
                  <a:txBody>
                    <a:bodyPr/>
                    <a:lstStyle/>
                    <a:p>
                      <a:r>
                        <a:rPr lang="en-US" altLang="zh-CN" dirty="0"/>
                        <a:t>38.36</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804233091"/>
                  </a:ext>
                </a:extLst>
              </a:tr>
              <a:tr h="242818">
                <a:tc>
                  <a:txBody>
                    <a:bodyPr/>
                    <a:lstStyle/>
                    <a:p>
                      <a:r>
                        <a:rPr lang="en-US" altLang="zh-CN" dirty="0"/>
                        <a:t>11</a:t>
                      </a:r>
                      <a:endParaRPr lang="zh-CN" altLang="en-US" dirty="0"/>
                    </a:p>
                  </a:txBody>
                  <a:tcPr/>
                </a:tc>
                <a:tc>
                  <a:txBody>
                    <a:bodyPr/>
                    <a:lstStyle/>
                    <a:p>
                      <a:r>
                        <a:rPr lang="en-US" altLang="zh-CN" dirty="0"/>
                        <a:t>BZR_MD</a:t>
                      </a:r>
                      <a:endParaRPr lang="zh-CN" altLang="en-US" dirty="0"/>
                    </a:p>
                  </a:txBody>
                  <a:tcPr/>
                </a:tc>
                <a:tc>
                  <a:txBody>
                    <a:bodyPr/>
                    <a:lstStyle/>
                    <a:p>
                      <a:r>
                        <a:rPr lang="en-US" altLang="zh-CN" dirty="0"/>
                        <a:t>306</a:t>
                      </a:r>
                      <a:endParaRPr lang="zh-CN" altLang="en-US" dirty="0"/>
                    </a:p>
                  </a:txBody>
                  <a:tcPr/>
                </a:tc>
                <a:tc>
                  <a:txBody>
                    <a:bodyPr/>
                    <a:lstStyle/>
                    <a:p>
                      <a:r>
                        <a:rPr lang="en-US" altLang="zh-CN" dirty="0"/>
                        <a:t>2</a:t>
                      </a:r>
                      <a:endParaRPr lang="zh-CN" altLang="en-US" dirty="0"/>
                    </a:p>
                  </a:txBody>
                  <a:tcPr/>
                </a:tc>
                <a:tc>
                  <a:txBody>
                    <a:bodyPr/>
                    <a:lstStyle/>
                    <a:p>
                      <a:r>
                        <a:rPr lang="en-US" altLang="zh-CN" dirty="0"/>
                        <a:t>21.3</a:t>
                      </a:r>
                      <a:endParaRPr lang="zh-CN" altLang="en-US" dirty="0"/>
                    </a:p>
                  </a:txBody>
                  <a:tcPr/>
                </a:tc>
                <a:tc>
                  <a:txBody>
                    <a:bodyPr/>
                    <a:lstStyle/>
                    <a:p>
                      <a:r>
                        <a:rPr lang="en-US" altLang="zh-CN" dirty="0"/>
                        <a:t>225.06</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4028960318"/>
                  </a:ext>
                </a:extLst>
              </a:tr>
              <a:tr h="242818">
                <a:tc>
                  <a:txBody>
                    <a:bodyPr/>
                    <a:lstStyle/>
                    <a:p>
                      <a:r>
                        <a:rPr lang="en-US" altLang="zh-CN" dirty="0"/>
                        <a:t>12</a:t>
                      </a:r>
                      <a:endParaRPr lang="zh-CN" altLang="en-US" dirty="0"/>
                    </a:p>
                  </a:txBody>
                  <a:tcPr/>
                </a:tc>
                <a:tc>
                  <a:txBody>
                    <a:bodyPr/>
                    <a:lstStyle/>
                    <a:p>
                      <a:r>
                        <a:rPr lang="en-US" altLang="zh-CN" dirty="0"/>
                        <a:t>COX2</a:t>
                      </a:r>
                      <a:endParaRPr lang="zh-CN" altLang="en-US" dirty="0"/>
                    </a:p>
                  </a:txBody>
                  <a:tcPr/>
                </a:tc>
                <a:tc>
                  <a:txBody>
                    <a:bodyPr/>
                    <a:lstStyle/>
                    <a:p>
                      <a:r>
                        <a:rPr lang="en-US" altLang="zh-CN" dirty="0"/>
                        <a:t>467</a:t>
                      </a:r>
                      <a:endParaRPr lang="zh-CN" altLang="en-US" dirty="0"/>
                    </a:p>
                  </a:txBody>
                  <a:tcPr/>
                </a:tc>
                <a:tc>
                  <a:txBody>
                    <a:bodyPr/>
                    <a:lstStyle/>
                    <a:p>
                      <a:r>
                        <a:rPr lang="en-US" altLang="zh-CN" dirty="0"/>
                        <a:t>2</a:t>
                      </a:r>
                      <a:endParaRPr lang="zh-CN" altLang="en-US" dirty="0"/>
                    </a:p>
                  </a:txBody>
                  <a:tcPr/>
                </a:tc>
                <a:tc>
                  <a:txBody>
                    <a:bodyPr/>
                    <a:lstStyle/>
                    <a:p>
                      <a:r>
                        <a:rPr lang="en-US" altLang="zh-CN" dirty="0"/>
                        <a:t>41.22</a:t>
                      </a:r>
                      <a:endParaRPr lang="zh-CN" altLang="en-US" dirty="0"/>
                    </a:p>
                  </a:txBody>
                  <a:tcPr/>
                </a:tc>
                <a:tc>
                  <a:txBody>
                    <a:bodyPr/>
                    <a:lstStyle/>
                    <a:p>
                      <a:r>
                        <a:rPr lang="en-US" altLang="zh-CN" dirty="0"/>
                        <a:t>44.54</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572690329"/>
                  </a:ext>
                </a:extLst>
              </a:tr>
              <a:tr h="242818">
                <a:tc>
                  <a:txBody>
                    <a:bodyPr/>
                    <a:lstStyle/>
                    <a:p>
                      <a:r>
                        <a:rPr lang="en-US" altLang="zh-CN" dirty="0"/>
                        <a:t>13</a:t>
                      </a:r>
                      <a:endParaRPr lang="zh-CN" altLang="en-US" dirty="0"/>
                    </a:p>
                  </a:txBody>
                  <a:tcPr/>
                </a:tc>
                <a:tc>
                  <a:txBody>
                    <a:bodyPr/>
                    <a:lstStyle/>
                    <a:p>
                      <a:r>
                        <a:rPr lang="en-US" altLang="zh-CN" dirty="0"/>
                        <a:t>DHFR</a:t>
                      </a:r>
                      <a:endParaRPr lang="zh-CN" altLang="en-US" dirty="0"/>
                    </a:p>
                  </a:txBody>
                  <a:tcPr/>
                </a:tc>
                <a:tc>
                  <a:txBody>
                    <a:bodyPr/>
                    <a:lstStyle/>
                    <a:p>
                      <a:r>
                        <a:rPr lang="en-US" altLang="zh-CN" dirty="0"/>
                        <a:t>467</a:t>
                      </a:r>
                      <a:endParaRPr lang="zh-CN" altLang="en-US" dirty="0"/>
                    </a:p>
                  </a:txBody>
                  <a:tcPr/>
                </a:tc>
                <a:tc>
                  <a:txBody>
                    <a:bodyPr/>
                    <a:lstStyle/>
                    <a:p>
                      <a:r>
                        <a:rPr lang="en-US" altLang="zh-CN" dirty="0"/>
                        <a:t>2</a:t>
                      </a:r>
                      <a:endParaRPr lang="zh-CN" altLang="en-US" dirty="0"/>
                    </a:p>
                  </a:txBody>
                  <a:tcPr/>
                </a:tc>
                <a:tc>
                  <a:txBody>
                    <a:bodyPr/>
                    <a:lstStyle/>
                    <a:p>
                      <a:r>
                        <a:rPr lang="en-US" altLang="zh-CN" dirty="0"/>
                        <a:t>26.96</a:t>
                      </a:r>
                      <a:endParaRPr lang="zh-CN" altLang="en-US" dirty="0"/>
                    </a:p>
                  </a:txBody>
                  <a:tcPr/>
                </a:tc>
                <a:tc>
                  <a:txBody>
                    <a:bodyPr/>
                    <a:lstStyle/>
                    <a:p>
                      <a:r>
                        <a:rPr lang="en-US" altLang="zh-CN" dirty="0"/>
                        <a:t>48.42</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3077613971"/>
                  </a:ext>
                </a:extLst>
              </a:tr>
              <a:tr h="242818">
                <a:tc>
                  <a:txBody>
                    <a:bodyPr/>
                    <a:lstStyle/>
                    <a:p>
                      <a:r>
                        <a:rPr lang="en-US" altLang="zh-CN" dirty="0"/>
                        <a:t>14</a:t>
                      </a:r>
                      <a:endParaRPr lang="zh-CN" altLang="en-US" dirty="0"/>
                    </a:p>
                  </a:txBody>
                  <a:tcPr/>
                </a:tc>
                <a:tc>
                  <a:txBody>
                    <a:bodyPr/>
                    <a:lstStyle/>
                    <a:p>
                      <a:r>
                        <a:rPr lang="en-US" altLang="zh-CN" dirty="0"/>
                        <a:t>KKI</a:t>
                      </a:r>
                      <a:endParaRPr lang="zh-CN" altLang="en-US" dirty="0"/>
                    </a:p>
                  </a:txBody>
                  <a:tcPr/>
                </a:tc>
                <a:tc>
                  <a:txBody>
                    <a:bodyPr/>
                    <a:lstStyle/>
                    <a:p>
                      <a:r>
                        <a:rPr lang="en-US" altLang="zh-CN" dirty="0"/>
                        <a:t>83</a:t>
                      </a:r>
                      <a:endParaRPr lang="zh-CN" altLang="en-US" dirty="0"/>
                    </a:p>
                  </a:txBody>
                  <a:tcPr/>
                </a:tc>
                <a:tc>
                  <a:txBody>
                    <a:bodyPr/>
                    <a:lstStyle/>
                    <a:p>
                      <a:r>
                        <a:rPr lang="en-US" altLang="zh-CN" dirty="0"/>
                        <a:t>2</a:t>
                      </a:r>
                      <a:endParaRPr lang="zh-CN" altLang="en-US" dirty="0"/>
                    </a:p>
                  </a:txBody>
                  <a:tcPr/>
                </a:tc>
                <a:tc>
                  <a:txBody>
                    <a:bodyPr/>
                    <a:lstStyle/>
                    <a:p>
                      <a:r>
                        <a:rPr lang="en-US" altLang="zh-CN" dirty="0"/>
                        <a:t>77.52</a:t>
                      </a:r>
                      <a:endParaRPr lang="zh-CN" altLang="en-US" dirty="0"/>
                    </a:p>
                  </a:txBody>
                  <a:tcPr/>
                </a:tc>
                <a:tc>
                  <a:txBody>
                    <a:bodyPr/>
                    <a:lstStyle/>
                    <a:p>
                      <a:r>
                        <a:rPr lang="en-US" altLang="zh-CN" dirty="0"/>
                        <a:t>198.32</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1256870313"/>
                  </a:ext>
                </a:extLst>
              </a:tr>
              <a:tr h="242818">
                <a:tc>
                  <a:txBody>
                    <a:bodyPr/>
                    <a:lstStyle/>
                    <a:p>
                      <a:r>
                        <a:rPr lang="zh-CN" altLang="en-US" dirty="0"/>
                        <a:t>均值</a:t>
                      </a:r>
                    </a:p>
                  </a:txBody>
                  <a:tcPr/>
                </a:tc>
                <a:tc>
                  <a:txBody>
                    <a:bodyPr/>
                    <a:lstStyle/>
                    <a:p>
                      <a:r>
                        <a:rPr lang="en-US" altLang="zh-CN" dirty="0"/>
                        <a:t>--</a:t>
                      </a:r>
                      <a:endParaRPr lang="zh-CN" altLang="en-US" dirty="0"/>
                    </a:p>
                  </a:txBody>
                  <a:tcPr/>
                </a:tc>
                <a:tc>
                  <a:txBody>
                    <a:bodyPr/>
                    <a:lstStyle/>
                    <a:p>
                      <a:r>
                        <a:rPr lang="en-US" altLang="zh-CN" dirty="0"/>
                        <a:t>1297.21</a:t>
                      </a:r>
                      <a:endParaRPr lang="zh-CN" altLang="en-US" dirty="0"/>
                    </a:p>
                  </a:txBody>
                  <a:tcPr/>
                </a:tc>
                <a:tc>
                  <a:txBody>
                    <a:bodyPr/>
                    <a:lstStyle/>
                    <a:p>
                      <a:r>
                        <a:rPr lang="en-US" altLang="zh-CN" dirty="0"/>
                        <a:t>--</a:t>
                      </a:r>
                      <a:endParaRPr lang="zh-CN" altLang="en-US" dirty="0"/>
                    </a:p>
                  </a:txBody>
                  <a:tcPr/>
                </a:tc>
                <a:tc>
                  <a:txBody>
                    <a:bodyPr/>
                    <a:lstStyle/>
                    <a:p>
                      <a:r>
                        <a:rPr lang="en-US" altLang="zh-CN" dirty="0"/>
                        <a:t>48.29</a:t>
                      </a:r>
                      <a:endParaRPr lang="zh-CN" altLang="en-US" dirty="0"/>
                    </a:p>
                  </a:txBody>
                  <a:tcPr/>
                </a:tc>
                <a:tc>
                  <a:txBody>
                    <a:bodyPr/>
                    <a:lstStyle/>
                    <a:p>
                      <a:r>
                        <a:rPr lang="en-US" altLang="zh-CN" dirty="0"/>
                        <a:t>277.97</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940685405"/>
                  </a:ext>
                </a:extLst>
              </a:tr>
              <a:tr h="242818">
                <a:tc>
                  <a:txBody>
                    <a:bodyPr/>
                    <a:lstStyle/>
                    <a:p>
                      <a:r>
                        <a:rPr lang="zh-CN" altLang="en-US" dirty="0"/>
                        <a:t>最大值</a:t>
                      </a:r>
                    </a:p>
                  </a:txBody>
                  <a:tcPr/>
                </a:tc>
                <a:tc>
                  <a:txBody>
                    <a:bodyPr/>
                    <a:lstStyle/>
                    <a:p>
                      <a:r>
                        <a:rPr lang="en-US" altLang="zh-CN" dirty="0"/>
                        <a:t>--</a:t>
                      </a:r>
                      <a:endParaRPr lang="zh-CN" altLang="en-US" dirty="0"/>
                    </a:p>
                  </a:txBody>
                  <a:tcPr/>
                </a:tc>
                <a:tc>
                  <a:txBody>
                    <a:bodyPr/>
                    <a:lstStyle/>
                    <a:p>
                      <a:r>
                        <a:rPr lang="en-US" altLang="zh-CN" dirty="0"/>
                        <a:t>5000</a:t>
                      </a:r>
                      <a:endParaRPr lang="zh-CN" altLang="en-US" dirty="0"/>
                    </a:p>
                  </a:txBody>
                  <a:tcPr/>
                </a:tc>
                <a:tc>
                  <a:txBody>
                    <a:bodyPr/>
                    <a:lstStyle/>
                    <a:p>
                      <a:r>
                        <a:rPr lang="en-US" altLang="zh-CN" dirty="0"/>
                        <a:t>--</a:t>
                      </a:r>
                      <a:endParaRPr lang="zh-CN" altLang="en-US" dirty="0"/>
                    </a:p>
                  </a:txBody>
                  <a:tcPr/>
                </a:tc>
                <a:tc>
                  <a:txBody>
                    <a:bodyPr/>
                    <a:lstStyle/>
                    <a:p>
                      <a:r>
                        <a:rPr lang="en-US" altLang="zh-CN" dirty="0"/>
                        <a:t>284.32</a:t>
                      </a:r>
                      <a:endParaRPr lang="zh-CN" altLang="en-US" dirty="0"/>
                    </a:p>
                  </a:txBody>
                  <a:tcPr/>
                </a:tc>
                <a:tc>
                  <a:txBody>
                    <a:bodyPr/>
                    <a:lstStyle/>
                    <a:p>
                      <a:r>
                        <a:rPr lang="en-US" altLang="zh-CN" dirty="0"/>
                        <a:t>2457.78</a:t>
                      </a:r>
                      <a:endParaRPr lang="zh-CN" altLang="en-US" dirty="0"/>
                    </a:p>
                  </a:txBody>
                  <a:tcPr/>
                </a:tc>
                <a:tc vMerge="1">
                  <a:txBody>
                    <a:bodyPr/>
                    <a:lstStyle/>
                    <a:p>
                      <a:endParaRPr lang="zh-CN" altLang="en-US" dirty="0"/>
                    </a:p>
                  </a:txBody>
                  <a:tcPr/>
                </a:tc>
                <a:extLst>
                  <a:ext uri="{0D108BD9-81ED-4DB2-BD59-A6C34878D82A}">
                    <a16:rowId xmlns:a16="http://schemas.microsoft.com/office/drawing/2014/main" val="555985430"/>
                  </a:ext>
                </a:extLst>
              </a:tr>
            </a:tbl>
          </a:graphicData>
        </a:graphic>
      </p:graphicFrame>
      <p:sp>
        <p:nvSpPr>
          <p:cNvPr id="9" name="文本框 8">
            <a:extLst>
              <a:ext uri="{FF2B5EF4-FFF2-40B4-BE49-F238E27FC236}">
                <a16:creationId xmlns:a16="http://schemas.microsoft.com/office/drawing/2014/main" id="{7E130976-16FB-43A5-AA5A-22C4703D3A25}"/>
              </a:ext>
            </a:extLst>
          </p:cNvPr>
          <p:cNvSpPr txBox="1"/>
          <p:nvPr/>
        </p:nvSpPr>
        <p:spPr>
          <a:xfrm>
            <a:off x="237065" y="2464875"/>
            <a:ext cx="3716082" cy="1323439"/>
          </a:xfrm>
          <a:prstGeom prst="rect">
            <a:avLst/>
          </a:prstGeom>
          <a:noFill/>
        </p:spPr>
        <p:txBody>
          <a:bodyPr wrap="none" rtlCol="0">
            <a:spAutoFit/>
          </a:bodyPr>
          <a:lstStyle/>
          <a:p>
            <a:r>
              <a:rPr lang="en-US" altLang="zh-CN" sz="1600" dirty="0"/>
              <a:t>(1)</a:t>
            </a:r>
            <a:r>
              <a:rPr lang="zh-CN" altLang="en-US" sz="1600" dirty="0"/>
              <a:t>图的总数不做限制</a:t>
            </a:r>
            <a:endParaRPr lang="en-US" altLang="zh-CN" sz="1600" dirty="0"/>
          </a:p>
          <a:p>
            <a:endParaRPr lang="en-US" altLang="zh-CN" sz="1600" dirty="0"/>
          </a:p>
          <a:p>
            <a:r>
              <a:rPr lang="en-US" altLang="zh-CN" sz="1600" dirty="0"/>
              <a:t>(2)</a:t>
            </a:r>
            <a:r>
              <a:rPr lang="zh-CN" altLang="en-US" sz="1600" dirty="0"/>
              <a:t>节点数目平均值介于</a:t>
            </a:r>
            <a:r>
              <a:rPr lang="en-US" altLang="zh-CN" sz="1600" dirty="0"/>
              <a:t>48.29 ~ 284.32</a:t>
            </a:r>
          </a:p>
          <a:p>
            <a:endParaRPr lang="en-US" altLang="zh-CN" sz="1600" dirty="0"/>
          </a:p>
          <a:p>
            <a:r>
              <a:rPr lang="en-US" altLang="zh-CN" sz="1600" dirty="0"/>
              <a:t>(3)</a:t>
            </a:r>
            <a:r>
              <a:rPr lang="zh-CN" altLang="en-US" sz="1600" dirty="0"/>
              <a:t>边的数量均值介于</a:t>
            </a:r>
            <a:r>
              <a:rPr lang="en-US" altLang="zh-CN" sz="1600" dirty="0"/>
              <a:t>277.97 ~ 2457.78</a:t>
            </a:r>
            <a:endParaRPr lang="zh-CN" altLang="en-US" sz="1600" dirty="0"/>
          </a:p>
        </p:txBody>
      </p:sp>
      <p:sp>
        <p:nvSpPr>
          <p:cNvPr id="10" name="文本框 9">
            <a:extLst>
              <a:ext uri="{FF2B5EF4-FFF2-40B4-BE49-F238E27FC236}">
                <a16:creationId xmlns:a16="http://schemas.microsoft.com/office/drawing/2014/main" id="{CF01672A-AB8D-41C4-B334-BF5AB1A50BB1}"/>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custDataLst>
      <p:tags r:id="rId1"/>
    </p:custDataLst>
    <p:extLst>
      <p:ext uri="{BB962C8B-B14F-4D97-AF65-F5344CB8AC3E}">
        <p14:creationId xmlns:p14="http://schemas.microsoft.com/office/powerpoint/2010/main" val="1799517269"/>
      </p:ext>
    </p:extLst>
  </p:cSld>
  <p:clrMapOvr>
    <a:masterClrMapping/>
  </p:clrMapOvr>
  <mc:AlternateContent xmlns:mc="http://schemas.openxmlformats.org/markup-compatibility/2006" xmlns:p14="http://schemas.microsoft.com/office/powerpoint/2010/main">
    <mc:Choice Requires="p14">
      <p:transition spd="slow" p14:dur="2000" advTm="21299"/>
    </mc:Choice>
    <mc:Fallback xmlns="">
      <p:transition spd="slow" advTm="2129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9419467B-F1AC-40FB-BC0C-33610DD32899}"/>
              </a:ext>
            </a:extLst>
          </p:cNvPr>
          <p:cNvSpPr txBox="1"/>
          <p:nvPr/>
        </p:nvSpPr>
        <p:spPr>
          <a:xfrm>
            <a:off x="330200" y="1353256"/>
            <a:ext cx="1627369"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数据集规模</a:t>
            </a:r>
          </a:p>
        </p:txBody>
      </p:sp>
      <p:graphicFrame>
        <p:nvGraphicFramePr>
          <p:cNvPr id="2" name="表格 3">
            <a:extLst>
              <a:ext uri="{FF2B5EF4-FFF2-40B4-BE49-F238E27FC236}">
                <a16:creationId xmlns:a16="http://schemas.microsoft.com/office/drawing/2014/main" id="{EF4C927C-A9E8-475D-AE6F-0669F8C3581D}"/>
              </a:ext>
            </a:extLst>
          </p:cNvPr>
          <p:cNvGraphicFramePr>
            <a:graphicFrameLocks noGrp="1"/>
          </p:cNvGraphicFramePr>
          <p:nvPr>
            <p:extLst>
              <p:ext uri="{D42A27DB-BD31-4B8C-83A1-F6EECF244321}">
                <p14:modId xmlns:p14="http://schemas.microsoft.com/office/powerpoint/2010/main" val="1844677414"/>
              </p:ext>
            </p:extLst>
          </p:nvPr>
        </p:nvGraphicFramePr>
        <p:xfrm>
          <a:off x="330200" y="1956749"/>
          <a:ext cx="7924800" cy="664267"/>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908791182"/>
                    </a:ext>
                  </a:extLst>
                </a:gridCol>
                <a:gridCol w="931333">
                  <a:extLst>
                    <a:ext uri="{9D8B030D-6E8A-4147-A177-3AD203B41FA5}">
                      <a16:colId xmlns:a16="http://schemas.microsoft.com/office/drawing/2014/main" val="1379140310"/>
                    </a:ext>
                  </a:extLst>
                </a:gridCol>
                <a:gridCol w="1049867">
                  <a:extLst>
                    <a:ext uri="{9D8B030D-6E8A-4147-A177-3AD203B41FA5}">
                      <a16:colId xmlns:a16="http://schemas.microsoft.com/office/drawing/2014/main" val="733915956"/>
                    </a:ext>
                  </a:extLst>
                </a:gridCol>
                <a:gridCol w="872067">
                  <a:extLst>
                    <a:ext uri="{9D8B030D-6E8A-4147-A177-3AD203B41FA5}">
                      <a16:colId xmlns:a16="http://schemas.microsoft.com/office/drawing/2014/main" val="1296599429"/>
                    </a:ext>
                  </a:extLst>
                </a:gridCol>
                <a:gridCol w="872066">
                  <a:extLst>
                    <a:ext uri="{9D8B030D-6E8A-4147-A177-3AD203B41FA5}">
                      <a16:colId xmlns:a16="http://schemas.microsoft.com/office/drawing/2014/main" val="3633075090"/>
                    </a:ext>
                  </a:extLst>
                </a:gridCol>
                <a:gridCol w="872067">
                  <a:extLst>
                    <a:ext uri="{9D8B030D-6E8A-4147-A177-3AD203B41FA5}">
                      <a16:colId xmlns:a16="http://schemas.microsoft.com/office/drawing/2014/main" val="1071784954"/>
                    </a:ext>
                  </a:extLst>
                </a:gridCol>
                <a:gridCol w="1244600">
                  <a:extLst>
                    <a:ext uri="{9D8B030D-6E8A-4147-A177-3AD203B41FA5}">
                      <a16:colId xmlns:a16="http://schemas.microsoft.com/office/drawing/2014/main" val="1775149433"/>
                    </a:ext>
                  </a:extLst>
                </a:gridCol>
                <a:gridCol w="1092200">
                  <a:extLst>
                    <a:ext uri="{9D8B030D-6E8A-4147-A177-3AD203B41FA5}">
                      <a16:colId xmlns:a16="http://schemas.microsoft.com/office/drawing/2014/main" val="3979377350"/>
                    </a:ext>
                  </a:extLst>
                </a:gridCol>
              </a:tblGrid>
              <a:tr h="176004">
                <a:tc rowSpan="2">
                  <a:txBody>
                    <a:bodyPr/>
                    <a:lstStyle/>
                    <a:p>
                      <a:pPr algn="ctr"/>
                      <a:r>
                        <a:rPr lang="zh-CN" altLang="en-US" dirty="0"/>
                        <a:t>裁剪前</a:t>
                      </a:r>
                      <a:endParaRPr lang="en-US" altLang="zh-CN" dirty="0"/>
                    </a:p>
                    <a:p>
                      <a:pPr algn="ctr"/>
                      <a:r>
                        <a:rPr lang="zh-CN" altLang="en-US" dirty="0"/>
                        <a:t>统计数据</a:t>
                      </a:r>
                    </a:p>
                  </a:txBody>
                  <a:tcPr anchor="ctr">
                    <a:solidFill>
                      <a:srgbClr val="C00000"/>
                    </a:solidFill>
                  </a:tcPr>
                </a:tc>
                <a:tc>
                  <a:txBody>
                    <a:bodyPr/>
                    <a:lstStyle/>
                    <a:p>
                      <a:r>
                        <a:rPr lang="zh-CN" altLang="en-US" dirty="0"/>
                        <a:t>图的总数</a:t>
                      </a:r>
                    </a:p>
                  </a:txBody>
                  <a:tcPr>
                    <a:solidFill>
                      <a:srgbClr val="C00000"/>
                    </a:solidFill>
                  </a:tcPr>
                </a:tc>
                <a:tc>
                  <a:txBody>
                    <a:bodyPr/>
                    <a:lstStyle/>
                    <a:p>
                      <a:r>
                        <a:rPr lang="zh-CN" altLang="en-US" dirty="0"/>
                        <a:t>最多节点数</a:t>
                      </a:r>
                    </a:p>
                  </a:txBody>
                  <a:tcPr>
                    <a:solidFill>
                      <a:srgbClr val="C00000"/>
                    </a:solidFill>
                  </a:tcPr>
                </a:tc>
                <a:tc>
                  <a:txBody>
                    <a:bodyPr/>
                    <a:lstStyle/>
                    <a:p>
                      <a:r>
                        <a:rPr lang="zh-CN" altLang="en-US" dirty="0"/>
                        <a:t>最多边数</a:t>
                      </a:r>
                    </a:p>
                  </a:txBody>
                  <a:tcPr>
                    <a:solidFill>
                      <a:srgbClr val="C00000"/>
                    </a:solidFill>
                  </a:tcPr>
                </a:tc>
                <a:tc>
                  <a:txBody>
                    <a:bodyPr/>
                    <a:lstStyle/>
                    <a:p>
                      <a:r>
                        <a:rPr lang="zh-CN" altLang="en-US" dirty="0"/>
                        <a:t>节点均值</a:t>
                      </a:r>
                    </a:p>
                  </a:txBody>
                  <a:tcPr>
                    <a:solidFill>
                      <a:srgbClr val="C00000"/>
                    </a:solidFill>
                  </a:tcPr>
                </a:tc>
                <a:tc>
                  <a:txBody>
                    <a:bodyPr/>
                    <a:lstStyle/>
                    <a:p>
                      <a:r>
                        <a:rPr lang="zh-CN" altLang="en-US" dirty="0"/>
                        <a:t>边均值</a:t>
                      </a:r>
                    </a:p>
                  </a:txBody>
                  <a:tcPr>
                    <a:solidFill>
                      <a:srgbClr val="C00000"/>
                    </a:solidFill>
                  </a:tcPr>
                </a:tc>
                <a:tc>
                  <a:txBody>
                    <a:bodyPr/>
                    <a:lstStyle/>
                    <a:p>
                      <a:r>
                        <a:rPr lang="zh-CN" altLang="en-US" dirty="0"/>
                        <a:t>节点大于均值</a:t>
                      </a:r>
                    </a:p>
                  </a:txBody>
                  <a:tcPr>
                    <a:solidFill>
                      <a:srgbClr val="C00000"/>
                    </a:solidFill>
                  </a:tcPr>
                </a:tc>
                <a:tc>
                  <a:txBody>
                    <a:bodyPr/>
                    <a:lstStyle/>
                    <a:p>
                      <a:r>
                        <a:rPr lang="zh-CN" altLang="en-US" dirty="0"/>
                        <a:t>边大于均值</a:t>
                      </a:r>
                    </a:p>
                  </a:txBody>
                  <a:tcPr>
                    <a:solidFill>
                      <a:srgbClr val="C00000"/>
                    </a:solidFill>
                  </a:tcPr>
                </a:tc>
                <a:extLst>
                  <a:ext uri="{0D108BD9-81ED-4DB2-BD59-A6C34878D82A}">
                    <a16:rowId xmlns:a16="http://schemas.microsoft.com/office/drawing/2014/main" val="279252136"/>
                  </a:ext>
                </a:extLst>
              </a:tr>
              <a:tr h="367087">
                <a:tc vMerge="1">
                  <a:txBody>
                    <a:bodyPr/>
                    <a:lstStyle/>
                    <a:p>
                      <a:endParaRPr lang="zh-CN" altLang="en-US" dirty="0"/>
                    </a:p>
                  </a:txBody>
                  <a:tcPr/>
                </a:tc>
                <a:tc>
                  <a:txBody>
                    <a:bodyPr/>
                    <a:lstStyle/>
                    <a:p>
                      <a:pPr algn="ctr"/>
                      <a:r>
                        <a:rPr lang="en-US" altLang="zh-CN" dirty="0"/>
                        <a:t>1074</a:t>
                      </a:r>
                      <a:endParaRPr lang="zh-CN" altLang="en-US" dirty="0"/>
                    </a:p>
                  </a:txBody>
                  <a:tcPr anchor="ctr"/>
                </a:tc>
                <a:tc>
                  <a:txBody>
                    <a:bodyPr/>
                    <a:lstStyle/>
                    <a:p>
                      <a:pPr algn="ctr"/>
                      <a:r>
                        <a:rPr lang="en-US" altLang="zh-CN" dirty="0"/>
                        <a:t>5717</a:t>
                      </a:r>
                      <a:endParaRPr lang="zh-CN" altLang="en-US" dirty="0"/>
                    </a:p>
                  </a:txBody>
                  <a:tcPr anchor="ctr"/>
                </a:tc>
                <a:tc>
                  <a:txBody>
                    <a:bodyPr/>
                    <a:lstStyle/>
                    <a:p>
                      <a:pPr algn="ctr"/>
                      <a:r>
                        <a:rPr lang="en-US" altLang="zh-CN" dirty="0"/>
                        <a:t>371284</a:t>
                      </a:r>
                      <a:endParaRPr lang="zh-CN" altLang="en-US" dirty="0"/>
                    </a:p>
                  </a:txBody>
                  <a:tcPr anchor="ctr"/>
                </a:tc>
                <a:tc>
                  <a:txBody>
                    <a:bodyPr/>
                    <a:lstStyle/>
                    <a:p>
                      <a:pPr algn="ctr"/>
                      <a:r>
                        <a:rPr lang="en-US" altLang="zh-CN" dirty="0"/>
                        <a:t>493.72</a:t>
                      </a:r>
                      <a:endParaRPr lang="zh-CN" altLang="en-US" dirty="0"/>
                    </a:p>
                  </a:txBody>
                  <a:tcPr anchor="ctr"/>
                </a:tc>
                <a:tc>
                  <a:txBody>
                    <a:bodyPr/>
                    <a:lstStyle/>
                    <a:p>
                      <a:pPr algn="ctr"/>
                      <a:r>
                        <a:rPr lang="en-US" altLang="zh-CN" dirty="0"/>
                        <a:t>4583.05</a:t>
                      </a:r>
                      <a:endParaRPr lang="zh-CN" altLang="en-US" dirty="0"/>
                    </a:p>
                  </a:txBody>
                  <a:tcPr anchor="ctr"/>
                </a:tc>
                <a:tc>
                  <a:txBody>
                    <a:bodyPr/>
                    <a:lstStyle/>
                    <a:p>
                      <a:pPr algn="ctr"/>
                      <a:r>
                        <a:rPr lang="en-US" altLang="zh-CN" dirty="0"/>
                        <a:t>22</a:t>
                      </a:r>
                      <a:endParaRPr lang="zh-CN" altLang="en-US" dirty="0"/>
                    </a:p>
                  </a:txBody>
                  <a:tcPr anchor="ctr"/>
                </a:tc>
                <a:tc>
                  <a:txBody>
                    <a:bodyPr/>
                    <a:lstStyle/>
                    <a:p>
                      <a:pPr algn="ctr"/>
                      <a:r>
                        <a:rPr lang="en-US" altLang="zh-CN" dirty="0"/>
                        <a:t>202</a:t>
                      </a:r>
                      <a:endParaRPr lang="zh-CN" altLang="en-US" dirty="0"/>
                    </a:p>
                  </a:txBody>
                  <a:tcPr anchor="ctr"/>
                </a:tc>
                <a:extLst>
                  <a:ext uri="{0D108BD9-81ED-4DB2-BD59-A6C34878D82A}">
                    <a16:rowId xmlns:a16="http://schemas.microsoft.com/office/drawing/2014/main" val="4238204540"/>
                  </a:ext>
                </a:extLst>
              </a:tr>
            </a:tbl>
          </a:graphicData>
        </a:graphic>
      </p:graphicFrame>
      <p:sp>
        <p:nvSpPr>
          <p:cNvPr id="10" name="文本框 9">
            <a:extLst>
              <a:ext uri="{FF2B5EF4-FFF2-40B4-BE49-F238E27FC236}">
                <a16:creationId xmlns:a16="http://schemas.microsoft.com/office/drawing/2014/main" id="{264B0A78-686D-44FB-9FED-22A76C158FFA}"/>
              </a:ext>
            </a:extLst>
          </p:cNvPr>
          <p:cNvSpPr txBox="1"/>
          <p:nvPr/>
        </p:nvSpPr>
        <p:spPr>
          <a:xfrm>
            <a:off x="330200" y="3166533"/>
            <a:ext cx="6878806" cy="369332"/>
          </a:xfrm>
          <a:prstGeom prst="rect">
            <a:avLst/>
          </a:prstGeom>
          <a:noFill/>
        </p:spPr>
        <p:txBody>
          <a:bodyPr wrap="none" rtlCol="0">
            <a:spAutoFit/>
          </a:bodyPr>
          <a:lstStyle/>
          <a:p>
            <a:r>
              <a:rPr lang="zh-CN" altLang="en-US" dirty="0">
                <a:solidFill>
                  <a:srgbClr val="FF0000"/>
                </a:solidFill>
              </a:rPr>
              <a:t>异常值对数据均值影响较大，因此以均值为标准对数据集进行裁剪</a:t>
            </a:r>
          </a:p>
        </p:txBody>
      </p:sp>
      <p:graphicFrame>
        <p:nvGraphicFramePr>
          <p:cNvPr id="11" name="表格 3">
            <a:extLst>
              <a:ext uri="{FF2B5EF4-FFF2-40B4-BE49-F238E27FC236}">
                <a16:creationId xmlns:a16="http://schemas.microsoft.com/office/drawing/2014/main" id="{05CD7B5B-9A20-4D6D-B276-897EC3DC1FD4}"/>
              </a:ext>
            </a:extLst>
          </p:cNvPr>
          <p:cNvGraphicFramePr>
            <a:graphicFrameLocks noGrp="1"/>
          </p:cNvGraphicFramePr>
          <p:nvPr>
            <p:extLst>
              <p:ext uri="{D42A27DB-BD31-4B8C-83A1-F6EECF244321}">
                <p14:modId xmlns:p14="http://schemas.microsoft.com/office/powerpoint/2010/main" val="3279538661"/>
              </p:ext>
            </p:extLst>
          </p:nvPr>
        </p:nvGraphicFramePr>
        <p:xfrm>
          <a:off x="330200" y="4003969"/>
          <a:ext cx="6773334" cy="668020"/>
        </p:xfrm>
        <a:graphic>
          <a:graphicData uri="http://schemas.openxmlformats.org/drawingml/2006/table">
            <a:tbl>
              <a:tblPr firstRow="1" bandRow="1">
                <a:tableStyleId>{5C22544A-7EE6-4342-B048-85BDC9FD1C3A}</a:tableStyleId>
              </a:tblPr>
              <a:tblGrid>
                <a:gridCol w="1128889">
                  <a:extLst>
                    <a:ext uri="{9D8B030D-6E8A-4147-A177-3AD203B41FA5}">
                      <a16:colId xmlns:a16="http://schemas.microsoft.com/office/drawing/2014/main" val="3908791182"/>
                    </a:ext>
                  </a:extLst>
                </a:gridCol>
                <a:gridCol w="1128889">
                  <a:extLst>
                    <a:ext uri="{9D8B030D-6E8A-4147-A177-3AD203B41FA5}">
                      <a16:colId xmlns:a16="http://schemas.microsoft.com/office/drawing/2014/main" val="1379140310"/>
                    </a:ext>
                  </a:extLst>
                </a:gridCol>
                <a:gridCol w="1128889">
                  <a:extLst>
                    <a:ext uri="{9D8B030D-6E8A-4147-A177-3AD203B41FA5}">
                      <a16:colId xmlns:a16="http://schemas.microsoft.com/office/drawing/2014/main" val="733915956"/>
                    </a:ext>
                  </a:extLst>
                </a:gridCol>
                <a:gridCol w="1128889">
                  <a:extLst>
                    <a:ext uri="{9D8B030D-6E8A-4147-A177-3AD203B41FA5}">
                      <a16:colId xmlns:a16="http://schemas.microsoft.com/office/drawing/2014/main" val="1296599429"/>
                    </a:ext>
                  </a:extLst>
                </a:gridCol>
                <a:gridCol w="1128889">
                  <a:extLst>
                    <a:ext uri="{9D8B030D-6E8A-4147-A177-3AD203B41FA5}">
                      <a16:colId xmlns:a16="http://schemas.microsoft.com/office/drawing/2014/main" val="3633075090"/>
                    </a:ext>
                  </a:extLst>
                </a:gridCol>
                <a:gridCol w="1128889">
                  <a:extLst>
                    <a:ext uri="{9D8B030D-6E8A-4147-A177-3AD203B41FA5}">
                      <a16:colId xmlns:a16="http://schemas.microsoft.com/office/drawing/2014/main" val="1071784954"/>
                    </a:ext>
                  </a:extLst>
                </a:gridCol>
              </a:tblGrid>
              <a:tr h="0">
                <a:tc rowSpan="2">
                  <a:txBody>
                    <a:bodyPr/>
                    <a:lstStyle/>
                    <a:p>
                      <a:pPr algn="ctr"/>
                      <a:r>
                        <a:rPr lang="zh-CN" altLang="en-US" dirty="0"/>
                        <a:t>裁剪后</a:t>
                      </a:r>
                      <a:endParaRPr lang="en-US" altLang="zh-CN" dirty="0"/>
                    </a:p>
                    <a:p>
                      <a:pPr algn="ctr"/>
                      <a:r>
                        <a:rPr lang="zh-CN" altLang="en-US" dirty="0"/>
                        <a:t>统计数据</a:t>
                      </a:r>
                    </a:p>
                  </a:txBody>
                  <a:tcPr anchor="ctr">
                    <a:solidFill>
                      <a:srgbClr val="C00000"/>
                    </a:solidFill>
                  </a:tcPr>
                </a:tc>
                <a:tc>
                  <a:txBody>
                    <a:bodyPr/>
                    <a:lstStyle/>
                    <a:p>
                      <a:r>
                        <a:rPr lang="zh-CN" altLang="en-US" dirty="0"/>
                        <a:t>图的总数</a:t>
                      </a:r>
                    </a:p>
                  </a:txBody>
                  <a:tcPr>
                    <a:solidFill>
                      <a:srgbClr val="C00000"/>
                    </a:solidFill>
                  </a:tcPr>
                </a:tc>
                <a:tc>
                  <a:txBody>
                    <a:bodyPr/>
                    <a:lstStyle/>
                    <a:p>
                      <a:r>
                        <a:rPr lang="zh-CN" altLang="en-US" dirty="0"/>
                        <a:t>最多节点数</a:t>
                      </a:r>
                    </a:p>
                  </a:txBody>
                  <a:tcPr>
                    <a:solidFill>
                      <a:srgbClr val="C00000"/>
                    </a:solidFill>
                  </a:tcPr>
                </a:tc>
                <a:tc>
                  <a:txBody>
                    <a:bodyPr/>
                    <a:lstStyle/>
                    <a:p>
                      <a:r>
                        <a:rPr lang="zh-CN" altLang="en-US" dirty="0"/>
                        <a:t>最多边数</a:t>
                      </a:r>
                    </a:p>
                  </a:txBody>
                  <a:tcPr>
                    <a:solidFill>
                      <a:srgbClr val="C00000"/>
                    </a:solidFill>
                  </a:tcPr>
                </a:tc>
                <a:tc>
                  <a:txBody>
                    <a:bodyPr/>
                    <a:lstStyle/>
                    <a:p>
                      <a:r>
                        <a:rPr lang="zh-CN" altLang="en-US" dirty="0"/>
                        <a:t>节点均值</a:t>
                      </a:r>
                    </a:p>
                  </a:txBody>
                  <a:tcPr>
                    <a:solidFill>
                      <a:srgbClr val="C00000"/>
                    </a:solidFill>
                  </a:tcPr>
                </a:tc>
                <a:tc>
                  <a:txBody>
                    <a:bodyPr/>
                    <a:lstStyle/>
                    <a:p>
                      <a:r>
                        <a:rPr lang="zh-CN" altLang="en-US" dirty="0"/>
                        <a:t>边均值</a:t>
                      </a:r>
                    </a:p>
                  </a:txBody>
                  <a:tcPr>
                    <a:solidFill>
                      <a:srgbClr val="C00000"/>
                    </a:solidFill>
                  </a:tcPr>
                </a:tc>
                <a:extLst>
                  <a:ext uri="{0D108BD9-81ED-4DB2-BD59-A6C34878D82A}">
                    <a16:rowId xmlns:a16="http://schemas.microsoft.com/office/drawing/2014/main" val="279252136"/>
                  </a:ext>
                </a:extLst>
              </a:tr>
              <a:tr h="370840">
                <a:tc vMerge="1">
                  <a:txBody>
                    <a:bodyPr/>
                    <a:lstStyle/>
                    <a:p>
                      <a:endParaRPr lang="zh-CN" altLang="en-US" dirty="0"/>
                    </a:p>
                  </a:txBody>
                  <a:tcPr/>
                </a:tc>
                <a:tc>
                  <a:txBody>
                    <a:bodyPr/>
                    <a:lstStyle/>
                    <a:p>
                      <a:pPr algn="ctr"/>
                      <a:r>
                        <a:rPr lang="en-US" altLang="zh-CN" dirty="0"/>
                        <a:t>850</a:t>
                      </a:r>
                      <a:endParaRPr lang="zh-CN" altLang="en-US" dirty="0"/>
                    </a:p>
                  </a:txBody>
                  <a:tcPr anchor="ctr"/>
                </a:tc>
                <a:tc>
                  <a:txBody>
                    <a:bodyPr/>
                    <a:lstStyle/>
                    <a:p>
                      <a:pPr algn="ctr"/>
                      <a:r>
                        <a:rPr lang="en-US" altLang="zh-CN" dirty="0"/>
                        <a:t>487</a:t>
                      </a:r>
                      <a:endParaRPr lang="zh-CN" altLang="en-US" dirty="0"/>
                    </a:p>
                  </a:txBody>
                  <a:tcPr anchor="ctr"/>
                </a:tc>
                <a:tc>
                  <a:txBody>
                    <a:bodyPr/>
                    <a:lstStyle/>
                    <a:p>
                      <a:pPr algn="ctr"/>
                      <a:r>
                        <a:rPr lang="en-US" altLang="zh-CN" dirty="0"/>
                        <a:t>3337</a:t>
                      </a:r>
                      <a:endParaRPr lang="zh-CN" altLang="en-US" dirty="0"/>
                    </a:p>
                  </a:txBody>
                  <a:tcPr anchor="ctr"/>
                </a:tc>
                <a:tc>
                  <a:txBody>
                    <a:bodyPr/>
                    <a:lstStyle/>
                    <a:p>
                      <a:pPr algn="ctr"/>
                      <a:r>
                        <a:rPr lang="en-US" altLang="zh-CN" dirty="0"/>
                        <a:t>130.24</a:t>
                      </a:r>
                      <a:endParaRPr lang="zh-CN" altLang="en-US" dirty="0"/>
                    </a:p>
                  </a:txBody>
                  <a:tcPr anchor="ctr"/>
                </a:tc>
                <a:tc>
                  <a:txBody>
                    <a:bodyPr/>
                    <a:lstStyle/>
                    <a:p>
                      <a:pPr algn="ctr"/>
                      <a:r>
                        <a:rPr lang="en-US" altLang="zh-CN" dirty="0"/>
                        <a:t>539.32</a:t>
                      </a:r>
                      <a:endParaRPr lang="zh-CN" altLang="en-US" dirty="0"/>
                    </a:p>
                  </a:txBody>
                  <a:tcPr anchor="ctr"/>
                </a:tc>
                <a:extLst>
                  <a:ext uri="{0D108BD9-81ED-4DB2-BD59-A6C34878D82A}">
                    <a16:rowId xmlns:a16="http://schemas.microsoft.com/office/drawing/2014/main" val="4238204540"/>
                  </a:ext>
                </a:extLst>
              </a:tr>
            </a:tbl>
          </a:graphicData>
        </a:graphic>
      </p:graphicFrame>
      <p:sp>
        <p:nvSpPr>
          <p:cNvPr id="12" name="文本框 11">
            <a:extLst>
              <a:ext uri="{FF2B5EF4-FFF2-40B4-BE49-F238E27FC236}">
                <a16:creationId xmlns:a16="http://schemas.microsoft.com/office/drawing/2014/main" id="{C4F47067-EB54-4E1E-B86E-619B6B0A6007}"/>
              </a:ext>
            </a:extLst>
          </p:cNvPr>
          <p:cNvSpPr txBox="1"/>
          <p:nvPr/>
        </p:nvSpPr>
        <p:spPr>
          <a:xfrm>
            <a:off x="8357384" y="3943938"/>
            <a:ext cx="3716082" cy="1323439"/>
          </a:xfrm>
          <a:prstGeom prst="rect">
            <a:avLst/>
          </a:prstGeom>
          <a:noFill/>
        </p:spPr>
        <p:txBody>
          <a:bodyPr wrap="none" rtlCol="0">
            <a:spAutoFit/>
          </a:bodyPr>
          <a:lstStyle/>
          <a:p>
            <a:r>
              <a:rPr lang="en-US" altLang="zh-CN" sz="1600" dirty="0"/>
              <a:t>(1)</a:t>
            </a:r>
            <a:r>
              <a:rPr lang="zh-CN" altLang="en-US" sz="1600" dirty="0"/>
              <a:t>图的总数不做限制</a:t>
            </a:r>
            <a:endParaRPr lang="en-US" altLang="zh-CN" sz="1600" dirty="0"/>
          </a:p>
          <a:p>
            <a:endParaRPr lang="en-US" altLang="zh-CN" sz="1600" dirty="0"/>
          </a:p>
          <a:p>
            <a:r>
              <a:rPr lang="en-US" altLang="zh-CN" sz="1600" dirty="0"/>
              <a:t>(2)</a:t>
            </a:r>
            <a:r>
              <a:rPr lang="zh-CN" altLang="en-US" sz="1600" dirty="0"/>
              <a:t>节点数目平均值介于</a:t>
            </a:r>
            <a:r>
              <a:rPr lang="en-US" altLang="zh-CN" sz="1600" dirty="0"/>
              <a:t>48.29 ~ 284.32</a:t>
            </a:r>
          </a:p>
          <a:p>
            <a:endParaRPr lang="en-US" altLang="zh-CN" sz="1600" dirty="0"/>
          </a:p>
          <a:p>
            <a:r>
              <a:rPr lang="en-US" altLang="zh-CN" sz="1600" dirty="0"/>
              <a:t>(3)</a:t>
            </a:r>
            <a:r>
              <a:rPr lang="zh-CN" altLang="en-US" sz="1600" dirty="0"/>
              <a:t>边的数量均值介于</a:t>
            </a:r>
            <a:r>
              <a:rPr lang="en-US" altLang="zh-CN" sz="1600" dirty="0"/>
              <a:t>277.97 ~ 2457.78</a:t>
            </a:r>
            <a:endParaRPr lang="zh-CN" altLang="en-US" sz="1600" dirty="0"/>
          </a:p>
        </p:txBody>
      </p:sp>
      <p:cxnSp>
        <p:nvCxnSpPr>
          <p:cNvPr id="14" name="直接箭头连接符 13">
            <a:extLst>
              <a:ext uri="{FF2B5EF4-FFF2-40B4-BE49-F238E27FC236}">
                <a16:creationId xmlns:a16="http://schemas.microsoft.com/office/drawing/2014/main" id="{BBF32A4E-2B2E-43CF-A034-7C45C7BB627E}"/>
              </a:ext>
            </a:extLst>
          </p:cNvPr>
          <p:cNvCxnSpPr/>
          <p:nvPr/>
        </p:nvCxnSpPr>
        <p:spPr>
          <a:xfrm>
            <a:off x="7285659" y="4374809"/>
            <a:ext cx="969341"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38620201-1209-4ECE-842D-906074B7E78E}"/>
              </a:ext>
            </a:extLst>
          </p:cNvPr>
          <p:cNvSpPr txBox="1"/>
          <p:nvPr/>
        </p:nvSpPr>
        <p:spPr>
          <a:xfrm>
            <a:off x="7413640" y="4036255"/>
            <a:ext cx="595035" cy="338554"/>
          </a:xfrm>
          <a:prstGeom prst="rect">
            <a:avLst/>
          </a:prstGeom>
          <a:noFill/>
        </p:spPr>
        <p:txBody>
          <a:bodyPr wrap="none" rtlCol="0">
            <a:spAutoFit/>
          </a:bodyPr>
          <a:lstStyle/>
          <a:p>
            <a:r>
              <a:rPr lang="zh-CN" altLang="en-US" sz="1600" dirty="0">
                <a:solidFill>
                  <a:srgbClr val="44B36E"/>
                </a:solidFill>
              </a:rPr>
              <a:t>满足</a:t>
            </a:r>
          </a:p>
        </p:txBody>
      </p:sp>
      <p:sp>
        <p:nvSpPr>
          <p:cNvPr id="17" name="文本框 16">
            <a:extLst>
              <a:ext uri="{FF2B5EF4-FFF2-40B4-BE49-F238E27FC236}">
                <a16:creationId xmlns:a16="http://schemas.microsoft.com/office/drawing/2014/main" id="{F37F2FDD-7A13-4277-90EE-69FF9DD8FFFD}"/>
              </a:ext>
            </a:extLst>
          </p:cNvPr>
          <p:cNvSpPr txBox="1"/>
          <p:nvPr/>
        </p:nvSpPr>
        <p:spPr>
          <a:xfrm>
            <a:off x="237065" y="300158"/>
            <a:ext cx="10591802"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GFCPD</a:t>
            </a:r>
            <a:endParaRPr lang="zh-CN" altLang="en-US" sz="3200" b="1" dirty="0">
              <a:latin typeface="+mn-ea"/>
            </a:endParaRPr>
          </a:p>
        </p:txBody>
      </p:sp>
    </p:spTree>
    <p:custDataLst>
      <p:tags r:id="rId1"/>
    </p:custDataLst>
    <p:extLst>
      <p:ext uri="{BB962C8B-B14F-4D97-AF65-F5344CB8AC3E}">
        <p14:creationId xmlns:p14="http://schemas.microsoft.com/office/powerpoint/2010/main" val="3484020210"/>
      </p:ext>
    </p:extLst>
  </p:cSld>
  <p:clrMapOvr>
    <a:masterClrMapping/>
  </p:clrMapOvr>
  <mc:AlternateContent xmlns:mc="http://schemas.openxmlformats.org/markup-compatibility/2006" xmlns:p14="http://schemas.microsoft.com/office/powerpoint/2010/main">
    <mc:Choice Requires="p14">
      <p:transition spd="slow" p14:dur="2000" advTm="27004"/>
    </mc:Choice>
    <mc:Fallback xmlns="">
      <p:transition spd="slow" advTm="270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333776" y="2526245"/>
            <a:ext cx="5524448" cy="1805510"/>
            <a:chOff x="1126379" y="1538312"/>
            <a:chExt cx="3450371"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基于</a:t>
              </a:r>
              <a:r>
                <a:rPr lang="en-US" altLang="zh-CN" sz="2000" dirty="0">
                  <a:latin typeface="Arial" panose="020B0604020202020204" pitchFamily="34" charset="0"/>
                  <a:ea typeface="黑体" panose="02010609060101010101" charset="-122"/>
                  <a:cs typeface="+mn-ea"/>
                </a:rPr>
                <a:t>DGCNN</a:t>
              </a:r>
              <a:r>
                <a:rPr lang="zh-CN" altLang="en-US" sz="2000" dirty="0">
                  <a:latin typeface="Arial" panose="020B0604020202020204" pitchFamily="34" charset="0"/>
                  <a:ea typeface="黑体" panose="02010609060101010101" charset="-122"/>
                  <a:cs typeface="+mn-ea"/>
                </a:rPr>
                <a:t>的识别模型</a:t>
              </a: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126379" y="1538312"/>
              <a:ext cx="1174762"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2.1.2</a:t>
              </a:r>
              <a:endParaRPr lang="zh-CN" altLang="en-US" sz="6000" b="1" dirty="0">
                <a:solidFill>
                  <a:srgbClr val="FFC000"/>
                </a:solidFill>
              </a:endParaRPr>
            </a:p>
          </p:txBody>
        </p:sp>
      </p:grpSp>
    </p:spTree>
    <p:extLst>
      <p:ext uri="{BB962C8B-B14F-4D97-AF65-F5344CB8AC3E}">
        <p14:creationId xmlns:p14="http://schemas.microsoft.com/office/powerpoint/2010/main" val="3332116823"/>
      </p:ext>
    </p:extLst>
  </p:cSld>
  <p:clrMapOvr>
    <a:masterClrMapping/>
  </p:clrMapOvr>
  <mc:AlternateContent xmlns:mc="http://schemas.openxmlformats.org/markup-compatibility/2006" xmlns:p14="http://schemas.microsoft.com/office/powerpoint/2010/main">
    <mc:Choice Requires="p14">
      <p:transition spd="slow" p14:dur="2000" advTm="6526"/>
    </mc:Choice>
    <mc:Fallback xmlns="">
      <p:transition spd="slow" advTm="652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7" name="文本框 6">
            <a:extLst>
              <a:ext uri="{FF2B5EF4-FFF2-40B4-BE49-F238E27FC236}">
                <a16:creationId xmlns:a16="http://schemas.microsoft.com/office/drawing/2014/main" id="{9419467B-F1AC-40FB-BC0C-33610DD32899}"/>
              </a:ext>
            </a:extLst>
          </p:cNvPr>
          <p:cNvSpPr txBox="1"/>
          <p:nvPr/>
        </p:nvSpPr>
        <p:spPr>
          <a:xfrm>
            <a:off x="330200" y="1353255"/>
            <a:ext cx="3140603"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数据预处理 </a:t>
            </a:r>
            <a:r>
              <a:rPr lang="en-US" altLang="zh-CN" dirty="0"/>
              <a:t>—— </a:t>
            </a:r>
            <a:r>
              <a:rPr lang="zh-CN" altLang="en-US" dirty="0"/>
              <a:t>数据格式</a:t>
            </a:r>
          </a:p>
        </p:txBody>
      </p:sp>
      <p:grpSp>
        <p:nvGrpSpPr>
          <p:cNvPr id="71" name="组合 70">
            <a:extLst>
              <a:ext uri="{FF2B5EF4-FFF2-40B4-BE49-F238E27FC236}">
                <a16:creationId xmlns:a16="http://schemas.microsoft.com/office/drawing/2014/main" id="{B0588FC2-68BB-451C-B80B-2F857023EFA5}"/>
              </a:ext>
            </a:extLst>
          </p:cNvPr>
          <p:cNvGrpSpPr/>
          <p:nvPr/>
        </p:nvGrpSpPr>
        <p:grpSpPr>
          <a:xfrm>
            <a:off x="402212" y="2451695"/>
            <a:ext cx="4097867" cy="1954609"/>
            <a:chOff x="2641600" y="2332078"/>
            <a:chExt cx="6942667" cy="2468523"/>
          </a:xfrm>
        </p:grpSpPr>
        <p:sp>
          <p:nvSpPr>
            <p:cNvPr id="41" name="矩形 40">
              <a:extLst>
                <a:ext uri="{FF2B5EF4-FFF2-40B4-BE49-F238E27FC236}">
                  <a16:creationId xmlns:a16="http://schemas.microsoft.com/office/drawing/2014/main" id="{59F7537D-6B9C-43A1-AAEF-C8DFD804BEEB}"/>
                </a:ext>
              </a:extLst>
            </p:cNvPr>
            <p:cNvSpPr/>
            <p:nvPr/>
          </p:nvSpPr>
          <p:spPr>
            <a:xfrm>
              <a:off x="2675467" y="2332079"/>
              <a:ext cx="6908800" cy="24685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AA7D4C1B-9D77-449E-A868-A979458988FE}"/>
                </a:ext>
              </a:extLst>
            </p:cNvPr>
            <p:cNvSpPr txBox="1"/>
            <p:nvPr/>
          </p:nvSpPr>
          <p:spPr>
            <a:xfrm>
              <a:off x="2641600" y="2332078"/>
              <a:ext cx="1723549" cy="369332"/>
            </a:xfrm>
            <a:prstGeom prst="rect">
              <a:avLst/>
            </a:prstGeom>
            <a:noFill/>
          </p:spPr>
          <p:txBody>
            <a:bodyPr wrap="none" rtlCol="0">
              <a:spAutoFit/>
            </a:bodyPr>
            <a:lstStyle/>
            <a:p>
              <a:r>
                <a:rPr lang="en-US" altLang="zh-CN" dirty="0"/>
                <a:t>DGCNN - Data</a:t>
              </a:r>
              <a:endParaRPr lang="zh-CN" altLang="en-US" dirty="0"/>
            </a:p>
          </p:txBody>
        </p:sp>
        <p:sp>
          <p:nvSpPr>
            <p:cNvPr id="46" name="矩形 45">
              <a:extLst>
                <a:ext uri="{FF2B5EF4-FFF2-40B4-BE49-F238E27FC236}">
                  <a16:creationId xmlns:a16="http://schemas.microsoft.com/office/drawing/2014/main" id="{E6B6681A-FDC1-4C80-8091-EF53A91DE25F}"/>
                </a:ext>
              </a:extLst>
            </p:cNvPr>
            <p:cNvSpPr/>
            <p:nvPr/>
          </p:nvSpPr>
          <p:spPr>
            <a:xfrm>
              <a:off x="2971800"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XFG</a:t>
              </a:r>
              <a:endParaRPr lang="zh-CN" altLang="en-US" dirty="0">
                <a:solidFill>
                  <a:schemeClr val="tx1"/>
                </a:solidFill>
              </a:endParaRPr>
            </a:p>
          </p:txBody>
        </p:sp>
        <p:sp>
          <p:nvSpPr>
            <p:cNvPr id="50" name="矩形 49">
              <a:extLst>
                <a:ext uri="{FF2B5EF4-FFF2-40B4-BE49-F238E27FC236}">
                  <a16:creationId xmlns:a16="http://schemas.microsoft.com/office/drawing/2014/main" id="{34A5FEC5-4C12-4AC3-AF2D-725601AD1CC2}"/>
                </a:ext>
              </a:extLst>
            </p:cNvPr>
            <p:cNvSpPr/>
            <p:nvPr/>
          </p:nvSpPr>
          <p:spPr>
            <a:xfrm>
              <a:off x="2959101" y="3754056"/>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node_tag</a:t>
              </a:r>
              <a:endParaRPr lang="en-US" altLang="zh-CN" dirty="0">
                <a:solidFill>
                  <a:schemeClr val="tx1"/>
                </a:solidFill>
              </a:endParaRPr>
            </a:p>
          </p:txBody>
        </p:sp>
        <p:sp>
          <p:nvSpPr>
            <p:cNvPr id="54" name="矩形 53">
              <a:extLst>
                <a:ext uri="{FF2B5EF4-FFF2-40B4-BE49-F238E27FC236}">
                  <a16:creationId xmlns:a16="http://schemas.microsoft.com/office/drawing/2014/main" id="{4FFE86EC-C079-4360-BFF7-43CB7F91FCEE}"/>
                </a:ext>
              </a:extLst>
            </p:cNvPr>
            <p:cNvSpPr/>
            <p:nvPr/>
          </p:nvSpPr>
          <p:spPr>
            <a:xfrm>
              <a:off x="6544734" y="2980267"/>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tag</a:t>
              </a:r>
              <a:endParaRPr lang="zh-CN" altLang="en-US" dirty="0">
                <a:solidFill>
                  <a:schemeClr val="tx1"/>
                </a:solidFill>
              </a:endParaRPr>
            </a:p>
          </p:txBody>
        </p:sp>
        <p:sp>
          <p:nvSpPr>
            <p:cNvPr id="58" name="矩形 57">
              <a:extLst>
                <a:ext uri="{FF2B5EF4-FFF2-40B4-BE49-F238E27FC236}">
                  <a16:creationId xmlns:a16="http://schemas.microsoft.com/office/drawing/2014/main" id="{F3E20629-2586-4AC8-95CB-27A91ED4A68E}"/>
                </a:ext>
              </a:extLst>
            </p:cNvPr>
            <p:cNvSpPr/>
            <p:nvPr/>
          </p:nvSpPr>
          <p:spPr>
            <a:xfrm>
              <a:off x="6544734" y="3754056"/>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node_features</a:t>
              </a:r>
              <a:endParaRPr lang="zh-CN" altLang="en-US" dirty="0">
                <a:solidFill>
                  <a:schemeClr val="tx1"/>
                </a:solidFill>
              </a:endParaRPr>
            </a:p>
          </p:txBody>
        </p:sp>
      </p:grpSp>
      <p:sp>
        <p:nvSpPr>
          <p:cNvPr id="74" name="矩形 73">
            <a:extLst>
              <a:ext uri="{FF2B5EF4-FFF2-40B4-BE49-F238E27FC236}">
                <a16:creationId xmlns:a16="http://schemas.microsoft.com/office/drawing/2014/main" id="{F0EA5295-7CC5-4E68-AC4D-E3804ABE9C3A}"/>
              </a:ext>
            </a:extLst>
          </p:cNvPr>
          <p:cNvSpPr/>
          <p:nvPr/>
        </p:nvSpPr>
        <p:spPr>
          <a:xfrm>
            <a:off x="6802969" y="2413148"/>
            <a:ext cx="2819399" cy="558800"/>
          </a:xfrm>
          <a:prstGeom prst="rect">
            <a:avLst/>
          </a:prstGeom>
          <a:solidFill>
            <a:srgbClr val="D5E3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a:extLst>
              <a:ext uri="{FF2B5EF4-FFF2-40B4-BE49-F238E27FC236}">
                <a16:creationId xmlns:a16="http://schemas.microsoft.com/office/drawing/2014/main" id="{779A0640-49E6-461F-AD32-94B2E3A922DB}"/>
              </a:ext>
            </a:extLst>
          </p:cNvPr>
          <p:cNvSpPr/>
          <p:nvPr/>
        </p:nvSpPr>
        <p:spPr>
          <a:xfrm>
            <a:off x="7226303" y="2527448"/>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XFG</a:t>
            </a:r>
            <a:endParaRPr lang="zh-CN" altLang="en-US" dirty="0"/>
          </a:p>
        </p:txBody>
      </p:sp>
      <p:sp>
        <p:nvSpPr>
          <p:cNvPr id="76" name="矩形 75">
            <a:extLst>
              <a:ext uri="{FF2B5EF4-FFF2-40B4-BE49-F238E27FC236}">
                <a16:creationId xmlns:a16="http://schemas.microsoft.com/office/drawing/2014/main" id="{94057F6B-C2B7-4645-B448-48DDF36653E0}"/>
              </a:ext>
            </a:extLst>
          </p:cNvPr>
          <p:cNvSpPr/>
          <p:nvPr/>
        </p:nvSpPr>
        <p:spPr>
          <a:xfrm>
            <a:off x="8462436" y="2527448"/>
            <a:ext cx="812800" cy="33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tag</a:t>
            </a:r>
            <a:endParaRPr lang="zh-CN" altLang="en-US" dirty="0"/>
          </a:p>
        </p:txBody>
      </p:sp>
      <p:sp>
        <p:nvSpPr>
          <p:cNvPr id="77" name="矩形 76">
            <a:extLst>
              <a:ext uri="{FF2B5EF4-FFF2-40B4-BE49-F238E27FC236}">
                <a16:creationId xmlns:a16="http://schemas.microsoft.com/office/drawing/2014/main" id="{7323E19F-0AFC-4B2F-B3E9-C0F71F421911}"/>
              </a:ext>
            </a:extLst>
          </p:cNvPr>
          <p:cNvSpPr/>
          <p:nvPr/>
        </p:nvSpPr>
        <p:spPr>
          <a:xfrm>
            <a:off x="6802969" y="3419544"/>
            <a:ext cx="1138764" cy="330200"/>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node_tag</a:t>
            </a:r>
            <a:endParaRPr lang="zh-CN" altLang="en-US" dirty="0">
              <a:solidFill>
                <a:schemeClr val="tx1"/>
              </a:solidFill>
            </a:endParaRPr>
          </a:p>
        </p:txBody>
      </p:sp>
      <p:sp>
        <p:nvSpPr>
          <p:cNvPr id="78" name="矩形 77">
            <a:extLst>
              <a:ext uri="{FF2B5EF4-FFF2-40B4-BE49-F238E27FC236}">
                <a16:creationId xmlns:a16="http://schemas.microsoft.com/office/drawing/2014/main" id="{AC051332-B547-4A54-9BD5-1373D17B9D4A}"/>
              </a:ext>
            </a:extLst>
          </p:cNvPr>
          <p:cNvSpPr/>
          <p:nvPr/>
        </p:nvSpPr>
        <p:spPr>
          <a:xfrm>
            <a:off x="8212668" y="3429000"/>
            <a:ext cx="1697564" cy="329956"/>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node_features</a:t>
            </a:r>
            <a:endParaRPr lang="zh-CN" altLang="en-US" dirty="0">
              <a:solidFill>
                <a:schemeClr val="tx1"/>
              </a:solidFill>
            </a:endParaRPr>
          </a:p>
        </p:txBody>
      </p:sp>
      <p:sp>
        <p:nvSpPr>
          <p:cNvPr id="80" name="文本框 79">
            <a:extLst>
              <a:ext uri="{FF2B5EF4-FFF2-40B4-BE49-F238E27FC236}">
                <a16:creationId xmlns:a16="http://schemas.microsoft.com/office/drawing/2014/main" id="{3E25797C-16D4-44C5-942D-79BF36DA1432}"/>
              </a:ext>
            </a:extLst>
          </p:cNvPr>
          <p:cNvSpPr txBox="1"/>
          <p:nvPr/>
        </p:nvSpPr>
        <p:spPr>
          <a:xfrm>
            <a:off x="5559667" y="3389624"/>
            <a:ext cx="877163" cy="369332"/>
          </a:xfrm>
          <a:prstGeom prst="rect">
            <a:avLst/>
          </a:prstGeom>
          <a:noFill/>
        </p:spPr>
        <p:txBody>
          <a:bodyPr wrap="none" rtlCol="0">
            <a:spAutoFit/>
          </a:bodyPr>
          <a:lstStyle/>
          <a:p>
            <a:r>
              <a:rPr lang="zh-CN" altLang="en-US" dirty="0">
                <a:solidFill>
                  <a:srgbClr val="FF0000"/>
                </a:solidFill>
              </a:rPr>
              <a:t>缺少：</a:t>
            </a:r>
          </a:p>
        </p:txBody>
      </p:sp>
      <p:cxnSp>
        <p:nvCxnSpPr>
          <p:cNvPr id="84" name="直接箭头连接符 83">
            <a:extLst>
              <a:ext uri="{FF2B5EF4-FFF2-40B4-BE49-F238E27FC236}">
                <a16:creationId xmlns:a16="http://schemas.microsoft.com/office/drawing/2014/main" id="{89F3A158-F530-4877-9E49-ABC6681E6CB0}"/>
              </a:ext>
            </a:extLst>
          </p:cNvPr>
          <p:cNvCxnSpPr>
            <a:stCxn id="77" idx="2"/>
          </p:cNvCxnSpPr>
          <p:nvPr/>
        </p:nvCxnSpPr>
        <p:spPr>
          <a:xfrm flipH="1">
            <a:off x="6900333" y="3749744"/>
            <a:ext cx="472018" cy="889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a:extLst>
              <a:ext uri="{FF2B5EF4-FFF2-40B4-BE49-F238E27FC236}">
                <a16:creationId xmlns:a16="http://schemas.microsoft.com/office/drawing/2014/main" id="{E43A98D3-8969-4E03-9FE5-917C60CAA7A7}"/>
              </a:ext>
            </a:extLst>
          </p:cNvPr>
          <p:cNvCxnSpPr>
            <a:cxnSpLocks/>
            <a:stCxn id="78" idx="2"/>
          </p:cNvCxnSpPr>
          <p:nvPr/>
        </p:nvCxnSpPr>
        <p:spPr>
          <a:xfrm>
            <a:off x="9061450" y="3758956"/>
            <a:ext cx="624417" cy="880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7FD7A674-CA78-4D4E-93EC-6B4F6BC6D2B2}"/>
              </a:ext>
            </a:extLst>
          </p:cNvPr>
          <p:cNvSpPr txBox="1"/>
          <p:nvPr/>
        </p:nvSpPr>
        <p:spPr>
          <a:xfrm>
            <a:off x="5776945" y="4758845"/>
            <a:ext cx="2262158" cy="369332"/>
          </a:xfrm>
          <a:prstGeom prst="rect">
            <a:avLst/>
          </a:prstGeom>
          <a:noFill/>
        </p:spPr>
        <p:txBody>
          <a:bodyPr wrap="none" rtlCol="0">
            <a:spAutoFit/>
          </a:bodyPr>
          <a:lstStyle/>
          <a:p>
            <a:r>
              <a:rPr lang="zh-CN" altLang="en-US" dirty="0"/>
              <a:t>指令类型与操作逻辑</a:t>
            </a:r>
          </a:p>
        </p:txBody>
      </p:sp>
      <p:sp>
        <p:nvSpPr>
          <p:cNvPr id="91" name="文本框 90">
            <a:extLst>
              <a:ext uri="{FF2B5EF4-FFF2-40B4-BE49-F238E27FC236}">
                <a16:creationId xmlns:a16="http://schemas.microsoft.com/office/drawing/2014/main" id="{DBCAF8FC-B623-4F5C-A4A1-9EB38AAAD0E5}"/>
              </a:ext>
            </a:extLst>
          </p:cNvPr>
          <p:cNvSpPr txBox="1"/>
          <p:nvPr/>
        </p:nvSpPr>
        <p:spPr>
          <a:xfrm>
            <a:off x="8714415" y="4758845"/>
            <a:ext cx="2723823" cy="369332"/>
          </a:xfrm>
          <a:prstGeom prst="rect">
            <a:avLst/>
          </a:prstGeom>
          <a:noFill/>
        </p:spPr>
        <p:txBody>
          <a:bodyPr wrap="none" rtlCol="0">
            <a:spAutoFit/>
          </a:bodyPr>
          <a:lstStyle/>
          <a:p>
            <a:r>
              <a:rPr lang="zh-CN" altLang="en-US" dirty="0"/>
              <a:t>其他研究中训练好的向量</a:t>
            </a:r>
          </a:p>
        </p:txBody>
      </p:sp>
    </p:spTree>
    <p:custDataLst>
      <p:tags r:id="rId1"/>
    </p:custDataLst>
    <p:extLst>
      <p:ext uri="{BB962C8B-B14F-4D97-AF65-F5344CB8AC3E}">
        <p14:creationId xmlns:p14="http://schemas.microsoft.com/office/powerpoint/2010/main" val="857644968"/>
      </p:ext>
    </p:extLst>
  </p:cSld>
  <p:clrMapOvr>
    <a:masterClrMapping/>
  </p:clrMapOvr>
  <mc:AlternateContent xmlns:mc="http://schemas.openxmlformats.org/markup-compatibility/2006" xmlns:p14="http://schemas.microsoft.com/office/powerpoint/2010/main">
    <mc:Choice Requires="p14">
      <p:transition spd="slow" p14:dur="2000" advTm="38413"/>
    </mc:Choice>
    <mc:Fallback xmlns="">
      <p:transition spd="slow" advTm="384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80" grpId="0"/>
      <p:bldP spid="90" grpId="0"/>
      <p:bldP spid="9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7" name="文本框 6">
            <a:extLst>
              <a:ext uri="{FF2B5EF4-FFF2-40B4-BE49-F238E27FC236}">
                <a16:creationId xmlns:a16="http://schemas.microsoft.com/office/drawing/2014/main" id="{9419467B-F1AC-40FB-BC0C-33610DD32899}"/>
              </a:ext>
            </a:extLst>
          </p:cNvPr>
          <p:cNvSpPr txBox="1"/>
          <p:nvPr/>
        </p:nvSpPr>
        <p:spPr>
          <a:xfrm>
            <a:off x="330200" y="1353255"/>
            <a:ext cx="48846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数据预处理 </a:t>
            </a:r>
            <a:r>
              <a:rPr lang="en-US" altLang="zh-CN" dirty="0"/>
              <a:t>—— </a:t>
            </a:r>
            <a:r>
              <a:rPr lang="en-US" altLang="zh-CN" dirty="0" err="1"/>
              <a:t>node_tag</a:t>
            </a:r>
            <a:r>
              <a:rPr lang="zh-CN" altLang="en-US" dirty="0"/>
              <a:t>与</a:t>
            </a:r>
            <a:r>
              <a:rPr lang="en-US" altLang="zh-CN" dirty="0" err="1"/>
              <a:t>node_features</a:t>
            </a:r>
            <a:endParaRPr lang="zh-CN" altLang="en-US" dirty="0"/>
          </a:p>
        </p:txBody>
      </p:sp>
      <p:graphicFrame>
        <p:nvGraphicFramePr>
          <p:cNvPr id="2" name="表格 2">
            <a:extLst>
              <a:ext uri="{FF2B5EF4-FFF2-40B4-BE49-F238E27FC236}">
                <a16:creationId xmlns:a16="http://schemas.microsoft.com/office/drawing/2014/main" id="{4624787D-D525-4354-9D13-372641A3E481}"/>
              </a:ext>
            </a:extLst>
          </p:cNvPr>
          <p:cNvGraphicFramePr>
            <a:graphicFrameLocks noGrp="1"/>
          </p:cNvGraphicFramePr>
          <p:nvPr/>
        </p:nvGraphicFramePr>
        <p:xfrm>
          <a:off x="330200" y="1954174"/>
          <a:ext cx="4804835"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554584431"/>
                    </a:ext>
                  </a:extLst>
                </a:gridCol>
                <a:gridCol w="1574800">
                  <a:extLst>
                    <a:ext uri="{9D8B030D-6E8A-4147-A177-3AD203B41FA5}">
                      <a16:colId xmlns:a16="http://schemas.microsoft.com/office/drawing/2014/main" val="178416909"/>
                    </a:ext>
                  </a:extLst>
                </a:gridCol>
                <a:gridCol w="2315635">
                  <a:extLst>
                    <a:ext uri="{9D8B030D-6E8A-4147-A177-3AD203B41FA5}">
                      <a16:colId xmlns:a16="http://schemas.microsoft.com/office/drawing/2014/main" val="825506067"/>
                    </a:ext>
                  </a:extLst>
                </a:gridCol>
              </a:tblGrid>
              <a:tr h="0">
                <a:tc>
                  <a:txBody>
                    <a:bodyPr/>
                    <a:lstStyle/>
                    <a:p>
                      <a:r>
                        <a:rPr lang="zh-CN" altLang="en-US" dirty="0"/>
                        <a:t>标签编号</a:t>
                      </a:r>
                    </a:p>
                  </a:txBody>
                  <a:tcPr>
                    <a:solidFill>
                      <a:srgbClr val="C00000"/>
                    </a:solidFill>
                  </a:tcPr>
                </a:tc>
                <a:tc>
                  <a:txBody>
                    <a:bodyPr/>
                    <a:lstStyle/>
                    <a:p>
                      <a:r>
                        <a:rPr lang="zh-CN" altLang="en-US" dirty="0"/>
                        <a:t>节点类型</a:t>
                      </a:r>
                    </a:p>
                  </a:txBody>
                  <a:tcPr>
                    <a:solidFill>
                      <a:srgbClr val="C00000"/>
                    </a:solidFill>
                  </a:tcPr>
                </a:tc>
                <a:tc>
                  <a:txBody>
                    <a:bodyPr/>
                    <a:lstStyle/>
                    <a:p>
                      <a:r>
                        <a:rPr lang="zh-CN" altLang="en-US" dirty="0"/>
                        <a:t>正则表达式</a:t>
                      </a:r>
                    </a:p>
                  </a:txBody>
                  <a:tcPr>
                    <a:solidFill>
                      <a:srgbClr val="C00000"/>
                    </a:solidFill>
                  </a:tcPr>
                </a:tc>
                <a:extLst>
                  <a:ext uri="{0D108BD9-81ED-4DB2-BD59-A6C34878D82A}">
                    <a16:rowId xmlns:a16="http://schemas.microsoft.com/office/drawing/2014/main" val="4289911345"/>
                  </a:ext>
                </a:extLst>
              </a:tr>
              <a:tr h="0">
                <a:tc>
                  <a:txBody>
                    <a:bodyPr/>
                    <a:lstStyle/>
                    <a:p>
                      <a:pPr algn="ctr"/>
                      <a:r>
                        <a:rPr lang="en-US" altLang="zh-CN" dirty="0"/>
                        <a:t>0</a:t>
                      </a:r>
                      <a:endParaRPr lang="zh-CN" altLang="en-US" dirty="0"/>
                    </a:p>
                  </a:txBody>
                  <a:tcPr anchor="ctr"/>
                </a:tc>
                <a:tc>
                  <a:txBody>
                    <a:bodyPr/>
                    <a:lstStyle/>
                    <a:p>
                      <a:r>
                        <a:rPr lang="en-US" altLang="zh-CN" dirty="0"/>
                        <a:t>UNK</a:t>
                      </a:r>
                      <a:r>
                        <a:rPr lang="zh-CN" altLang="en-US" dirty="0"/>
                        <a:t>！</a:t>
                      </a:r>
                    </a:p>
                  </a:txBody>
                  <a:tcPr/>
                </a:tc>
                <a:tc>
                  <a:txBody>
                    <a:bodyPr/>
                    <a:lstStyle/>
                    <a:p>
                      <a:r>
                        <a:rPr lang="en-US" altLang="zh-CN" dirty="0"/>
                        <a:t>--</a:t>
                      </a:r>
                      <a:endParaRPr lang="zh-CN" altLang="en-US" dirty="0"/>
                    </a:p>
                  </a:txBody>
                  <a:tcPr/>
                </a:tc>
                <a:extLst>
                  <a:ext uri="{0D108BD9-81ED-4DB2-BD59-A6C34878D82A}">
                    <a16:rowId xmlns:a16="http://schemas.microsoft.com/office/drawing/2014/main" val="2491134086"/>
                  </a:ext>
                </a:extLst>
              </a:tr>
              <a:tr h="0">
                <a:tc>
                  <a:txBody>
                    <a:bodyPr/>
                    <a:lstStyle/>
                    <a:p>
                      <a:pPr algn="ctr"/>
                      <a:r>
                        <a:rPr lang="en-US" altLang="zh-CN" dirty="0"/>
                        <a:t>1</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GEP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getelementptr</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629702573"/>
                  </a:ext>
                </a:extLst>
              </a:tr>
              <a:tr h="0">
                <a:tc>
                  <a:txBody>
                    <a:bodyPr/>
                    <a:lstStyle/>
                    <a:p>
                      <a:pPr algn="ctr"/>
                      <a:r>
                        <a:rPr lang="en-US" altLang="zh-CN" dirty="0"/>
                        <a:t>2</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addition 	</a:t>
                      </a:r>
                    </a:p>
                  </a:txBody>
                  <a:tcPr/>
                </a:tc>
                <a:tc>
                  <a:txBody>
                    <a:bodyPr/>
                    <a:lstStyle/>
                    <a:p>
                      <a:r>
                        <a:rPr lang="en-US" altLang="zh-CN" sz="1350" b="0" i="0" u="none" strike="noStrike" kern="1200" baseline="0" dirty="0">
                          <a:solidFill>
                            <a:schemeClr val="dk1"/>
                          </a:solidFill>
                          <a:latin typeface="+mn-lt"/>
                          <a:ea typeface="+mn-ea"/>
                          <a:cs typeface="+mn-cs"/>
                        </a:rPr>
                        <a:t>&lt;%ID&gt; = add .* </a:t>
                      </a:r>
                    </a:p>
                    <a:p>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fadd</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0684020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dirty="0"/>
                        <a:t>3</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allocate on stack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alloca</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468998693"/>
                  </a:ext>
                </a:extLst>
              </a:tr>
              <a:tr h="0">
                <a:tc>
                  <a:txBody>
                    <a:bodyPr/>
                    <a:lstStyle/>
                    <a:p>
                      <a:pPr algn="ctr"/>
                      <a:r>
                        <a:rPr lang="en-US" altLang="zh-CN" dirty="0"/>
                        <a:t>…</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t>
                      </a:r>
                    </a:p>
                  </a:txBody>
                  <a:tcPr/>
                </a:tc>
                <a:extLst>
                  <a:ext uri="{0D108BD9-81ED-4DB2-BD59-A6C34878D82A}">
                    <a16:rowId xmlns:a16="http://schemas.microsoft.com/office/drawing/2014/main" val="4230659615"/>
                  </a:ext>
                </a:extLst>
              </a:tr>
              <a:tr h="0">
                <a:tc>
                  <a:txBody>
                    <a:bodyPr/>
                    <a:lstStyle/>
                    <a:p>
                      <a:pPr algn="ctr"/>
                      <a:r>
                        <a:rPr lang="en-US" altLang="zh-CN" dirty="0"/>
                        <a:t>45</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err="1">
                          <a:solidFill>
                            <a:schemeClr val="dk1"/>
                          </a:solidFill>
                          <a:latin typeface="+mn-lt"/>
                          <a:ea typeface="+mn-ea"/>
                          <a:cs typeface="+mn-cs"/>
                        </a:rPr>
                        <a:t>xor</a:t>
                      </a:r>
                      <a:endParaRPr lang="en-US" altLang="zh-CN"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xor</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3453848588"/>
                  </a:ext>
                </a:extLst>
              </a:tr>
            </a:tbl>
          </a:graphicData>
        </a:graphic>
      </p:graphicFrame>
      <p:sp>
        <p:nvSpPr>
          <p:cNvPr id="10" name="文本框 9">
            <a:extLst>
              <a:ext uri="{FF2B5EF4-FFF2-40B4-BE49-F238E27FC236}">
                <a16:creationId xmlns:a16="http://schemas.microsoft.com/office/drawing/2014/main" id="{4DB36C8D-60AB-4687-88DA-98DBD6602607}"/>
              </a:ext>
            </a:extLst>
          </p:cNvPr>
          <p:cNvSpPr txBox="1"/>
          <p:nvPr/>
        </p:nvSpPr>
        <p:spPr>
          <a:xfrm>
            <a:off x="110068" y="5207001"/>
            <a:ext cx="1558960" cy="369332"/>
          </a:xfrm>
          <a:prstGeom prst="rect">
            <a:avLst/>
          </a:prstGeom>
          <a:noFill/>
        </p:spPr>
        <p:txBody>
          <a:bodyPr wrap="square" rtlCol="0">
            <a:spAutoFit/>
          </a:bodyPr>
          <a:lstStyle/>
          <a:p>
            <a:r>
              <a:rPr lang="zh-CN" altLang="en-US" dirty="0"/>
              <a:t>遍历图的节点</a:t>
            </a:r>
          </a:p>
        </p:txBody>
      </p:sp>
      <p:sp>
        <p:nvSpPr>
          <p:cNvPr id="29" name="文本框 28">
            <a:extLst>
              <a:ext uri="{FF2B5EF4-FFF2-40B4-BE49-F238E27FC236}">
                <a16:creationId xmlns:a16="http://schemas.microsoft.com/office/drawing/2014/main" id="{412D38E9-AC2A-4634-B471-6A420BA30FA3}"/>
              </a:ext>
            </a:extLst>
          </p:cNvPr>
          <p:cNvSpPr txBox="1"/>
          <p:nvPr/>
        </p:nvSpPr>
        <p:spPr>
          <a:xfrm>
            <a:off x="2243667" y="5207001"/>
            <a:ext cx="1109133" cy="369332"/>
          </a:xfrm>
          <a:prstGeom prst="rect">
            <a:avLst/>
          </a:prstGeom>
          <a:noFill/>
        </p:spPr>
        <p:txBody>
          <a:bodyPr wrap="square" rtlCol="0">
            <a:spAutoFit/>
          </a:bodyPr>
          <a:lstStyle/>
          <a:p>
            <a:r>
              <a:rPr lang="zh-CN" altLang="en-US" dirty="0"/>
              <a:t>正则匹配</a:t>
            </a:r>
          </a:p>
        </p:txBody>
      </p:sp>
      <p:sp>
        <p:nvSpPr>
          <p:cNvPr id="30" name="文本框 29">
            <a:extLst>
              <a:ext uri="{FF2B5EF4-FFF2-40B4-BE49-F238E27FC236}">
                <a16:creationId xmlns:a16="http://schemas.microsoft.com/office/drawing/2014/main" id="{F66110A0-43F3-4405-9444-62AEE91E7233}"/>
              </a:ext>
            </a:extLst>
          </p:cNvPr>
          <p:cNvSpPr txBox="1"/>
          <p:nvPr/>
        </p:nvSpPr>
        <p:spPr>
          <a:xfrm>
            <a:off x="3959261" y="5207001"/>
            <a:ext cx="1338828" cy="369332"/>
          </a:xfrm>
          <a:prstGeom prst="rect">
            <a:avLst/>
          </a:prstGeom>
          <a:noFill/>
        </p:spPr>
        <p:txBody>
          <a:bodyPr wrap="square" rtlCol="0">
            <a:spAutoFit/>
          </a:bodyPr>
          <a:lstStyle/>
          <a:p>
            <a:r>
              <a:rPr lang="zh-CN" altLang="en-US" dirty="0"/>
              <a:t>确定编号</a:t>
            </a:r>
            <a:r>
              <a:rPr lang="en-US" altLang="zh-CN" dirty="0"/>
              <a:t>N</a:t>
            </a:r>
            <a:endParaRPr lang="zh-CN" altLang="en-US" dirty="0"/>
          </a:p>
        </p:txBody>
      </p:sp>
      <p:cxnSp>
        <p:nvCxnSpPr>
          <p:cNvPr id="12" name="直接箭头连接符 11">
            <a:extLst>
              <a:ext uri="{FF2B5EF4-FFF2-40B4-BE49-F238E27FC236}">
                <a16:creationId xmlns:a16="http://schemas.microsoft.com/office/drawing/2014/main" id="{368F293B-8D97-42A8-85ED-377D76247E18}"/>
              </a:ext>
            </a:extLst>
          </p:cNvPr>
          <p:cNvCxnSpPr>
            <a:cxnSpLocks/>
            <a:stCxn id="10" idx="3"/>
            <a:endCxn id="29" idx="1"/>
          </p:cNvCxnSpPr>
          <p:nvPr/>
        </p:nvCxnSpPr>
        <p:spPr>
          <a:xfrm>
            <a:off x="1669028" y="5391667"/>
            <a:ext cx="574639"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A0465B78-C736-49C5-8EF6-F7AE63D73BD2}"/>
              </a:ext>
            </a:extLst>
          </p:cNvPr>
          <p:cNvCxnSpPr>
            <a:cxnSpLocks/>
            <a:stCxn id="29" idx="3"/>
            <a:endCxn id="30" idx="1"/>
          </p:cNvCxnSpPr>
          <p:nvPr/>
        </p:nvCxnSpPr>
        <p:spPr>
          <a:xfrm>
            <a:off x="3352800" y="5391667"/>
            <a:ext cx="606461"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表格 15">
            <a:extLst>
              <a:ext uri="{FF2B5EF4-FFF2-40B4-BE49-F238E27FC236}">
                <a16:creationId xmlns:a16="http://schemas.microsoft.com/office/drawing/2014/main" id="{D49F7037-4978-401C-A881-64B56FC8CFA6}"/>
              </a:ext>
            </a:extLst>
          </p:cNvPr>
          <p:cNvGraphicFramePr>
            <a:graphicFrameLocks noGrp="1"/>
          </p:cNvGraphicFramePr>
          <p:nvPr>
            <p:extLst>
              <p:ext uri="{D42A27DB-BD31-4B8C-83A1-F6EECF244321}">
                <p14:modId xmlns:p14="http://schemas.microsoft.com/office/powerpoint/2010/main" val="1193477436"/>
              </p:ext>
            </p:extLst>
          </p:nvPr>
        </p:nvGraphicFramePr>
        <p:xfrm>
          <a:off x="7056967" y="1946383"/>
          <a:ext cx="2827868" cy="793228"/>
        </p:xfrm>
        <a:graphic>
          <a:graphicData uri="http://schemas.openxmlformats.org/drawingml/2006/table">
            <a:tbl>
              <a:tblPr firstRow="1" bandRow="1">
                <a:tableStyleId>{5C22544A-7EE6-4342-B048-85BDC9FD1C3A}</a:tableStyleId>
              </a:tblPr>
              <a:tblGrid>
                <a:gridCol w="1413934">
                  <a:extLst>
                    <a:ext uri="{9D8B030D-6E8A-4147-A177-3AD203B41FA5}">
                      <a16:colId xmlns:a16="http://schemas.microsoft.com/office/drawing/2014/main" val="3115044063"/>
                    </a:ext>
                  </a:extLst>
                </a:gridCol>
                <a:gridCol w="1413934">
                  <a:extLst>
                    <a:ext uri="{9D8B030D-6E8A-4147-A177-3AD203B41FA5}">
                      <a16:colId xmlns:a16="http://schemas.microsoft.com/office/drawing/2014/main" val="2025246378"/>
                    </a:ext>
                  </a:extLst>
                </a:gridCol>
              </a:tblGrid>
              <a:tr h="396614">
                <a:tc>
                  <a:txBody>
                    <a:bodyPr/>
                    <a:lstStyle/>
                    <a:p>
                      <a:pPr algn="ctr"/>
                      <a:r>
                        <a:rPr lang="zh-CN" altLang="en-US" dirty="0"/>
                        <a:t>词典数量</a:t>
                      </a:r>
                    </a:p>
                  </a:txBody>
                  <a:tcPr anchor="ctr">
                    <a:solidFill>
                      <a:srgbClr val="C00000"/>
                    </a:solidFill>
                  </a:tcPr>
                </a:tc>
                <a:tc>
                  <a:txBody>
                    <a:bodyPr/>
                    <a:lstStyle/>
                    <a:p>
                      <a:pPr algn="ctr"/>
                      <a:r>
                        <a:rPr lang="zh-CN" altLang="en-US" dirty="0"/>
                        <a:t>向量维度</a:t>
                      </a:r>
                    </a:p>
                  </a:txBody>
                  <a:tcPr anchor="ctr">
                    <a:solidFill>
                      <a:srgbClr val="C00000"/>
                    </a:solidFill>
                  </a:tcPr>
                </a:tc>
                <a:extLst>
                  <a:ext uri="{0D108BD9-81ED-4DB2-BD59-A6C34878D82A}">
                    <a16:rowId xmlns:a16="http://schemas.microsoft.com/office/drawing/2014/main" val="2080918599"/>
                  </a:ext>
                </a:extLst>
              </a:tr>
              <a:tr h="396614">
                <a:tc>
                  <a:txBody>
                    <a:bodyPr/>
                    <a:lstStyle/>
                    <a:p>
                      <a:pPr algn="ctr"/>
                      <a:r>
                        <a:rPr lang="en-US" altLang="zh-CN" dirty="0"/>
                        <a:t>8565</a:t>
                      </a:r>
                      <a:endParaRPr lang="zh-CN" altLang="en-US" dirty="0"/>
                    </a:p>
                  </a:txBody>
                  <a:tcPr anchor="ctr"/>
                </a:tc>
                <a:tc>
                  <a:txBody>
                    <a:bodyPr/>
                    <a:lstStyle/>
                    <a:p>
                      <a:pPr algn="ctr"/>
                      <a:r>
                        <a:rPr lang="zh-CN" altLang="en-US" dirty="0"/>
                        <a:t>（</a:t>
                      </a:r>
                      <a:r>
                        <a:rPr lang="en-US" altLang="zh-CN" dirty="0"/>
                        <a:t>1</a:t>
                      </a:r>
                      <a:r>
                        <a:rPr lang="zh-CN" altLang="en-US" dirty="0"/>
                        <a:t>，</a:t>
                      </a:r>
                      <a:r>
                        <a:rPr lang="en-US" altLang="zh-CN" dirty="0"/>
                        <a:t>200</a:t>
                      </a:r>
                      <a:r>
                        <a:rPr lang="zh-CN" altLang="en-US" dirty="0"/>
                        <a:t>）</a:t>
                      </a:r>
                    </a:p>
                  </a:txBody>
                  <a:tcPr anchor="ctr"/>
                </a:tc>
                <a:extLst>
                  <a:ext uri="{0D108BD9-81ED-4DB2-BD59-A6C34878D82A}">
                    <a16:rowId xmlns:a16="http://schemas.microsoft.com/office/drawing/2014/main" val="3133998128"/>
                  </a:ext>
                </a:extLst>
              </a:tr>
            </a:tbl>
          </a:graphicData>
        </a:graphic>
      </p:graphicFrame>
      <p:sp>
        <p:nvSpPr>
          <p:cNvPr id="37" name="文本框 36">
            <a:extLst>
              <a:ext uri="{FF2B5EF4-FFF2-40B4-BE49-F238E27FC236}">
                <a16:creationId xmlns:a16="http://schemas.microsoft.com/office/drawing/2014/main" id="{C9A34052-C428-479F-BB2A-38F2A86EB30B}"/>
              </a:ext>
            </a:extLst>
          </p:cNvPr>
          <p:cNvSpPr txBox="1"/>
          <p:nvPr/>
        </p:nvSpPr>
        <p:spPr>
          <a:xfrm>
            <a:off x="7726124" y="3052902"/>
            <a:ext cx="1569271" cy="369332"/>
          </a:xfrm>
          <a:prstGeom prst="rect">
            <a:avLst/>
          </a:prstGeom>
          <a:noFill/>
        </p:spPr>
        <p:txBody>
          <a:bodyPr wrap="square" rtlCol="0">
            <a:spAutoFit/>
          </a:bodyPr>
          <a:lstStyle/>
          <a:p>
            <a:r>
              <a:rPr lang="zh-CN" altLang="en-US" dirty="0"/>
              <a:t>遍历图的节点</a:t>
            </a:r>
          </a:p>
        </p:txBody>
      </p:sp>
      <p:sp>
        <p:nvSpPr>
          <p:cNvPr id="44" name="文本框 43">
            <a:extLst>
              <a:ext uri="{FF2B5EF4-FFF2-40B4-BE49-F238E27FC236}">
                <a16:creationId xmlns:a16="http://schemas.microsoft.com/office/drawing/2014/main" id="{DFB0764A-4D4F-4969-B3B3-A7A56FF6BB01}"/>
              </a:ext>
            </a:extLst>
          </p:cNvPr>
          <p:cNvSpPr txBox="1"/>
          <p:nvPr/>
        </p:nvSpPr>
        <p:spPr>
          <a:xfrm>
            <a:off x="7610902" y="3919991"/>
            <a:ext cx="1799715" cy="369332"/>
          </a:xfrm>
          <a:prstGeom prst="rect">
            <a:avLst/>
          </a:prstGeom>
          <a:noFill/>
        </p:spPr>
        <p:txBody>
          <a:bodyPr wrap="square" rtlCol="0">
            <a:spAutoFit/>
          </a:bodyPr>
          <a:lstStyle/>
          <a:p>
            <a:r>
              <a:rPr lang="zh-CN" altLang="en-US" dirty="0"/>
              <a:t>字符串完全匹配</a:t>
            </a:r>
          </a:p>
        </p:txBody>
      </p:sp>
      <p:sp>
        <p:nvSpPr>
          <p:cNvPr id="45" name="文本框 44">
            <a:extLst>
              <a:ext uri="{FF2B5EF4-FFF2-40B4-BE49-F238E27FC236}">
                <a16:creationId xmlns:a16="http://schemas.microsoft.com/office/drawing/2014/main" id="{78822317-6D16-43BB-B1A1-BE6AB844AF61}"/>
              </a:ext>
            </a:extLst>
          </p:cNvPr>
          <p:cNvSpPr txBox="1"/>
          <p:nvPr/>
        </p:nvSpPr>
        <p:spPr>
          <a:xfrm>
            <a:off x="7610903" y="4837669"/>
            <a:ext cx="1799714" cy="369332"/>
          </a:xfrm>
          <a:prstGeom prst="rect">
            <a:avLst/>
          </a:prstGeom>
          <a:noFill/>
        </p:spPr>
        <p:txBody>
          <a:bodyPr wrap="square" rtlCol="0">
            <a:spAutoFit/>
          </a:bodyPr>
          <a:lstStyle/>
          <a:p>
            <a:r>
              <a:rPr lang="zh-CN" altLang="en-US" dirty="0"/>
              <a:t>确定特征向量</a:t>
            </a:r>
            <a:r>
              <a:rPr lang="en-US" altLang="zh-CN" dirty="0"/>
              <a:t>S</a:t>
            </a:r>
            <a:endParaRPr lang="zh-CN" altLang="en-US" dirty="0"/>
          </a:p>
        </p:txBody>
      </p:sp>
      <p:cxnSp>
        <p:nvCxnSpPr>
          <p:cNvPr id="18" name="直接箭头连接符 17">
            <a:extLst>
              <a:ext uri="{FF2B5EF4-FFF2-40B4-BE49-F238E27FC236}">
                <a16:creationId xmlns:a16="http://schemas.microsoft.com/office/drawing/2014/main" id="{40CD172E-1C42-4829-9817-5F55F1E6B339}"/>
              </a:ext>
            </a:extLst>
          </p:cNvPr>
          <p:cNvCxnSpPr>
            <a:cxnSpLocks/>
            <a:stCxn id="37" idx="2"/>
            <a:endCxn id="44" idx="0"/>
          </p:cNvCxnSpPr>
          <p:nvPr/>
        </p:nvCxnSpPr>
        <p:spPr>
          <a:xfrm>
            <a:off x="8510760" y="3422234"/>
            <a:ext cx="0" cy="497757"/>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CFC37CF-DA82-4C54-B935-F9AFB6D46775}"/>
              </a:ext>
            </a:extLst>
          </p:cNvPr>
          <p:cNvCxnSpPr>
            <a:cxnSpLocks/>
            <a:stCxn id="44" idx="2"/>
            <a:endCxn id="45" idx="0"/>
          </p:cNvCxnSpPr>
          <p:nvPr/>
        </p:nvCxnSpPr>
        <p:spPr>
          <a:xfrm>
            <a:off x="8510760" y="4289323"/>
            <a:ext cx="0" cy="548346"/>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81C4F204-818F-40E8-ADF5-B24B86680ED7}"/>
              </a:ext>
            </a:extLst>
          </p:cNvPr>
          <p:cNvSpPr txBox="1"/>
          <p:nvPr/>
        </p:nvSpPr>
        <p:spPr>
          <a:xfrm>
            <a:off x="6136991" y="5944353"/>
            <a:ext cx="4172937" cy="369332"/>
          </a:xfrm>
          <a:prstGeom prst="rect">
            <a:avLst/>
          </a:prstGeom>
          <a:noFill/>
        </p:spPr>
        <p:txBody>
          <a:bodyPr wrap="none" rtlCol="0">
            <a:spAutoFit/>
          </a:bodyPr>
          <a:lstStyle/>
          <a:p>
            <a:r>
              <a:rPr lang="zh-CN" altLang="en-US" dirty="0">
                <a:solidFill>
                  <a:srgbClr val="FF0000"/>
                </a:solidFill>
              </a:rPr>
              <a:t>节点的特征向量 </a:t>
            </a:r>
            <a:r>
              <a:rPr lang="en-US" altLang="zh-CN" dirty="0">
                <a:solidFill>
                  <a:srgbClr val="FF0000"/>
                </a:solidFill>
              </a:rPr>
              <a:t>= S + N</a:t>
            </a:r>
            <a:r>
              <a:rPr lang="zh-CN" altLang="en-US" dirty="0">
                <a:solidFill>
                  <a:srgbClr val="FF0000"/>
                </a:solidFill>
              </a:rPr>
              <a:t>的</a:t>
            </a:r>
            <a:r>
              <a:rPr lang="en-US" altLang="zh-CN" dirty="0">
                <a:solidFill>
                  <a:srgbClr val="FF0000"/>
                </a:solidFill>
              </a:rPr>
              <a:t>One-hot</a:t>
            </a:r>
            <a:r>
              <a:rPr lang="zh-CN" altLang="en-US" dirty="0">
                <a:solidFill>
                  <a:srgbClr val="FF0000"/>
                </a:solidFill>
              </a:rPr>
              <a:t>编码</a:t>
            </a:r>
          </a:p>
        </p:txBody>
      </p:sp>
      <p:cxnSp>
        <p:nvCxnSpPr>
          <p:cNvPr id="26" name="直接箭头连接符 25">
            <a:extLst>
              <a:ext uri="{FF2B5EF4-FFF2-40B4-BE49-F238E27FC236}">
                <a16:creationId xmlns:a16="http://schemas.microsoft.com/office/drawing/2014/main" id="{62F803BC-C9D3-4B42-9465-BA611D0D25AE}"/>
              </a:ext>
            </a:extLst>
          </p:cNvPr>
          <p:cNvCxnSpPr>
            <a:stCxn id="45" idx="2"/>
          </p:cNvCxnSpPr>
          <p:nvPr/>
        </p:nvCxnSpPr>
        <p:spPr>
          <a:xfrm flipH="1">
            <a:off x="8510759" y="5207001"/>
            <a:ext cx="1" cy="737352"/>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27252024"/>
      </p:ext>
    </p:extLst>
  </p:cSld>
  <p:clrMapOvr>
    <a:masterClrMapping/>
  </p:clrMapOvr>
  <mc:AlternateContent xmlns:mc="http://schemas.openxmlformats.org/markup-compatibility/2006" xmlns:p14="http://schemas.microsoft.com/office/powerpoint/2010/main">
    <mc:Choice Requires="p14">
      <p:transition spd="slow" p14:dur="2000" advTm="36618"/>
    </mc:Choice>
    <mc:Fallback xmlns="">
      <p:transition spd="slow" advTm="366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30" grpId="0"/>
      <p:bldP spid="37" grpId="0"/>
      <p:bldP spid="44" grpId="0"/>
      <p:bldP spid="45"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7" name="文本框 6">
            <a:extLst>
              <a:ext uri="{FF2B5EF4-FFF2-40B4-BE49-F238E27FC236}">
                <a16:creationId xmlns:a16="http://schemas.microsoft.com/office/drawing/2014/main" id="{9419467B-F1AC-40FB-BC0C-33610DD32899}"/>
              </a:ext>
            </a:extLst>
          </p:cNvPr>
          <p:cNvSpPr txBox="1"/>
          <p:nvPr/>
        </p:nvSpPr>
        <p:spPr>
          <a:xfrm>
            <a:off x="330200" y="1353255"/>
            <a:ext cx="48846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数据预处理 </a:t>
            </a:r>
            <a:r>
              <a:rPr lang="en-US" altLang="zh-CN" dirty="0"/>
              <a:t>—— </a:t>
            </a:r>
            <a:r>
              <a:rPr lang="en-US" altLang="zh-CN" dirty="0" err="1"/>
              <a:t>node_tag</a:t>
            </a:r>
            <a:r>
              <a:rPr lang="zh-CN" altLang="en-US" dirty="0"/>
              <a:t>与</a:t>
            </a:r>
            <a:r>
              <a:rPr lang="en-US" altLang="zh-CN" dirty="0" err="1"/>
              <a:t>node_features</a:t>
            </a:r>
            <a:endParaRPr lang="zh-CN" altLang="en-US" dirty="0"/>
          </a:p>
        </p:txBody>
      </p:sp>
      <p:graphicFrame>
        <p:nvGraphicFramePr>
          <p:cNvPr id="2" name="表格 2">
            <a:extLst>
              <a:ext uri="{FF2B5EF4-FFF2-40B4-BE49-F238E27FC236}">
                <a16:creationId xmlns:a16="http://schemas.microsoft.com/office/drawing/2014/main" id="{4624787D-D525-4354-9D13-372641A3E481}"/>
              </a:ext>
            </a:extLst>
          </p:cNvPr>
          <p:cNvGraphicFramePr>
            <a:graphicFrameLocks noGrp="1"/>
          </p:cNvGraphicFramePr>
          <p:nvPr>
            <p:extLst>
              <p:ext uri="{D42A27DB-BD31-4B8C-83A1-F6EECF244321}">
                <p14:modId xmlns:p14="http://schemas.microsoft.com/office/powerpoint/2010/main" val="1172592983"/>
              </p:ext>
            </p:extLst>
          </p:nvPr>
        </p:nvGraphicFramePr>
        <p:xfrm>
          <a:off x="330200" y="1954174"/>
          <a:ext cx="4804835"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554584431"/>
                    </a:ext>
                  </a:extLst>
                </a:gridCol>
                <a:gridCol w="1574800">
                  <a:extLst>
                    <a:ext uri="{9D8B030D-6E8A-4147-A177-3AD203B41FA5}">
                      <a16:colId xmlns:a16="http://schemas.microsoft.com/office/drawing/2014/main" val="178416909"/>
                    </a:ext>
                  </a:extLst>
                </a:gridCol>
                <a:gridCol w="2315635">
                  <a:extLst>
                    <a:ext uri="{9D8B030D-6E8A-4147-A177-3AD203B41FA5}">
                      <a16:colId xmlns:a16="http://schemas.microsoft.com/office/drawing/2014/main" val="825506067"/>
                    </a:ext>
                  </a:extLst>
                </a:gridCol>
              </a:tblGrid>
              <a:tr h="0">
                <a:tc>
                  <a:txBody>
                    <a:bodyPr/>
                    <a:lstStyle/>
                    <a:p>
                      <a:r>
                        <a:rPr lang="zh-CN" altLang="en-US" dirty="0"/>
                        <a:t>标签编号</a:t>
                      </a:r>
                    </a:p>
                  </a:txBody>
                  <a:tcPr>
                    <a:solidFill>
                      <a:srgbClr val="C00000"/>
                    </a:solidFill>
                  </a:tcPr>
                </a:tc>
                <a:tc>
                  <a:txBody>
                    <a:bodyPr/>
                    <a:lstStyle/>
                    <a:p>
                      <a:r>
                        <a:rPr lang="zh-CN" altLang="en-US" dirty="0"/>
                        <a:t>节点类型</a:t>
                      </a:r>
                    </a:p>
                  </a:txBody>
                  <a:tcPr>
                    <a:solidFill>
                      <a:srgbClr val="C00000"/>
                    </a:solidFill>
                  </a:tcPr>
                </a:tc>
                <a:tc>
                  <a:txBody>
                    <a:bodyPr/>
                    <a:lstStyle/>
                    <a:p>
                      <a:r>
                        <a:rPr lang="zh-CN" altLang="en-US" dirty="0"/>
                        <a:t>正则表达式</a:t>
                      </a:r>
                    </a:p>
                  </a:txBody>
                  <a:tcPr>
                    <a:solidFill>
                      <a:srgbClr val="C00000"/>
                    </a:solidFill>
                  </a:tcPr>
                </a:tc>
                <a:extLst>
                  <a:ext uri="{0D108BD9-81ED-4DB2-BD59-A6C34878D82A}">
                    <a16:rowId xmlns:a16="http://schemas.microsoft.com/office/drawing/2014/main" val="4289911345"/>
                  </a:ext>
                </a:extLst>
              </a:tr>
              <a:tr h="0">
                <a:tc>
                  <a:txBody>
                    <a:bodyPr/>
                    <a:lstStyle/>
                    <a:p>
                      <a:pPr algn="ctr"/>
                      <a:r>
                        <a:rPr lang="en-US" altLang="zh-CN" dirty="0"/>
                        <a:t>0</a:t>
                      </a:r>
                      <a:endParaRPr lang="zh-CN" altLang="en-US" dirty="0"/>
                    </a:p>
                  </a:txBody>
                  <a:tcPr anchor="ctr"/>
                </a:tc>
                <a:tc>
                  <a:txBody>
                    <a:bodyPr/>
                    <a:lstStyle/>
                    <a:p>
                      <a:r>
                        <a:rPr lang="en-US" altLang="zh-CN" dirty="0"/>
                        <a:t>UNK</a:t>
                      </a:r>
                      <a:r>
                        <a:rPr lang="zh-CN" altLang="en-US" dirty="0"/>
                        <a:t>！</a:t>
                      </a:r>
                    </a:p>
                  </a:txBody>
                  <a:tcPr/>
                </a:tc>
                <a:tc>
                  <a:txBody>
                    <a:bodyPr/>
                    <a:lstStyle/>
                    <a:p>
                      <a:r>
                        <a:rPr lang="en-US" altLang="zh-CN" dirty="0"/>
                        <a:t>--</a:t>
                      </a:r>
                      <a:endParaRPr lang="zh-CN" altLang="en-US" dirty="0"/>
                    </a:p>
                  </a:txBody>
                  <a:tcPr/>
                </a:tc>
                <a:extLst>
                  <a:ext uri="{0D108BD9-81ED-4DB2-BD59-A6C34878D82A}">
                    <a16:rowId xmlns:a16="http://schemas.microsoft.com/office/drawing/2014/main" val="2491134086"/>
                  </a:ext>
                </a:extLst>
              </a:tr>
              <a:tr h="0">
                <a:tc>
                  <a:txBody>
                    <a:bodyPr/>
                    <a:lstStyle/>
                    <a:p>
                      <a:pPr algn="ctr"/>
                      <a:r>
                        <a:rPr lang="en-US" altLang="zh-CN" dirty="0"/>
                        <a:t>1</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GEP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getelementptr</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629702573"/>
                  </a:ext>
                </a:extLst>
              </a:tr>
              <a:tr h="0">
                <a:tc>
                  <a:txBody>
                    <a:bodyPr/>
                    <a:lstStyle/>
                    <a:p>
                      <a:pPr algn="ctr"/>
                      <a:r>
                        <a:rPr lang="en-US" altLang="zh-CN" dirty="0"/>
                        <a:t>2</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addition 	</a:t>
                      </a:r>
                    </a:p>
                  </a:txBody>
                  <a:tcPr/>
                </a:tc>
                <a:tc>
                  <a:txBody>
                    <a:bodyPr/>
                    <a:lstStyle/>
                    <a:p>
                      <a:r>
                        <a:rPr lang="en-US" altLang="zh-CN" sz="1350" b="0" i="0" u="none" strike="noStrike" kern="1200" baseline="0" dirty="0">
                          <a:solidFill>
                            <a:schemeClr val="dk1"/>
                          </a:solidFill>
                          <a:latin typeface="+mn-lt"/>
                          <a:ea typeface="+mn-ea"/>
                          <a:cs typeface="+mn-cs"/>
                        </a:rPr>
                        <a:t>&lt;%ID&gt; = add .* </a:t>
                      </a:r>
                    </a:p>
                    <a:p>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fadd</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06840205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dirty="0"/>
                        <a:t>3</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allocate on stack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alloca</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1468998693"/>
                  </a:ext>
                </a:extLst>
              </a:tr>
              <a:tr h="0">
                <a:tc>
                  <a:txBody>
                    <a:bodyPr/>
                    <a:lstStyle/>
                    <a:p>
                      <a:pPr algn="ctr"/>
                      <a:r>
                        <a:rPr lang="en-US" altLang="zh-CN" dirty="0"/>
                        <a:t>…</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t>
                      </a:r>
                    </a:p>
                  </a:txBody>
                  <a:tcPr/>
                </a:tc>
                <a:extLst>
                  <a:ext uri="{0D108BD9-81ED-4DB2-BD59-A6C34878D82A}">
                    <a16:rowId xmlns:a16="http://schemas.microsoft.com/office/drawing/2014/main" val="4230659615"/>
                  </a:ext>
                </a:extLst>
              </a:tr>
              <a:tr h="0">
                <a:tc>
                  <a:txBody>
                    <a:bodyPr/>
                    <a:lstStyle/>
                    <a:p>
                      <a:pPr algn="ctr"/>
                      <a:r>
                        <a:rPr lang="en-US" altLang="zh-CN" dirty="0"/>
                        <a:t>45</a:t>
                      </a:r>
                      <a:endParaRPr lang="zh-CN" altLang="en-US" dirty="0"/>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err="1">
                          <a:solidFill>
                            <a:schemeClr val="dk1"/>
                          </a:solidFill>
                          <a:latin typeface="+mn-lt"/>
                          <a:ea typeface="+mn-ea"/>
                          <a:cs typeface="+mn-cs"/>
                        </a:rPr>
                        <a:t>xor</a:t>
                      </a:r>
                      <a:endParaRPr lang="en-US" altLang="zh-CN"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&lt;%ID&gt; = </a:t>
                      </a:r>
                      <a:r>
                        <a:rPr lang="en-US" altLang="zh-CN" sz="1350" b="0" i="0" u="none" strike="noStrike" kern="1200" baseline="0" dirty="0" err="1">
                          <a:solidFill>
                            <a:schemeClr val="dk1"/>
                          </a:solidFill>
                          <a:latin typeface="+mn-lt"/>
                          <a:ea typeface="+mn-ea"/>
                          <a:cs typeface="+mn-cs"/>
                        </a:rPr>
                        <a:t>xor</a:t>
                      </a:r>
                      <a:r>
                        <a:rPr lang="en-US" altLang="zh-CN" sz="1350" b="0" i="0" u="none" strike="noStrike" kern="1200" baseline="0" dirty="0">
                          <a:solidFill>
                            <a:schemeClr val="dk1"/>
                          </a:solidFill>
                          <a:latin typeface="+mn-lt"/>
                          <a:ea typeface="+mn-ea"/>
                          <a:cs typeface="+mn-cs"/>
                        </a:rPr>
                        <a:t> .* 	</a:t>
                      </a:r>
                    </a:p>
                  </a:txBody>
                  <a:tcPr/>
                </a:tc>
                <a:extLst>
                  <a:ext uri="{0D108BD9-81ED-4DB2-BD59-A6C34878D82A}">
                    <a16:rowId xmlns:a16="http://schemas.microsoft.com/office/drawing/2014/main" val="3453848588"/>
                  </a:ext>
                </a:extLst>
              </a:tr>
            </a:tbl>
          </a:graphicData>
        </a:graphic>
      </p:graphicFrame>
      <p:graphicFrame>
        <p:nvGraphicFramePr>
          <p:cNvPr id="4" name="表格 8">
            <a:extLst>
              <a:ext uri="{FF2B5EF4-FFF2-40B4-BE49-F238E27FC236}">
                <a16:creationId xmlns:a16="http://schemas.microsoft.com/office/drawing/2014/main" id="{E49A08B3-D111-408A-B4F9-694E44FD4021}"/>
              </a:ext>
            </a:extLst>
          </p:cNvPr>
          <p:cNvGraphicFramePr>
            <a:graphicFrameLocks noGrp="1"/>
          </p:cNvGraphicFramePr>
          <p:nvPr>
            <p:extLst>
              <p:ext uri="{D42A27DB-BD31-4B8C-83A1-F6EECF244321}">
                <p14:modId xmlns:p14="http://schemas.microsoft.com/office/powerpoint/2010/main" val="247879841"/>
              </p:ext>
            </p:extLst>
          </p:nvPr>
        </p:nvGraphicFramePr>
        <p:xfrm>
          <a:off x="5643033" y="1954174"/>
          <a:ext cx="2827867" cy="3626499"/>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3216308802"/>
                    </a:ext>
                  </a:extLst>
                </a:gridCol>
                <a:gridCol w="1676400">
                  <a:extLst>
                    <a:ext uri="{9D8B030D-6E8A-4147-A177-3AD203B41FA5}">
                      <a16:colId xmlns:a16="http://schemas.microsoft.com/office/drawing/2014/main" val="3805636494"/>
                    </a:ext>
                  </a:extLst>
                </a:gridCol>
              </a:tblGrid>
              <a:tr h="346269">
                <a:tc>
                  <a:txBody>
                    <a:bodyPr/>
                    <a:lstStyle/>
                    <a:p>
                      <a:r>
                        <a:rPr lang="zh-CN" altLang="en-US" dirty="0"/>
                        <a:t>涉及学科</a:t>
                      </a:r>
                    </a:p>
                  </a:txBody>
                  <a:tcPr anchor="ctr">
                    <a:solidFill>
                      <a:srgbClr val="C00000"/>
                    </a:solidFill>
                  </a:tcPr>
                </a:tc>
                <a:tc>
                  <a:txBody>
                    <a:bodyPr/>
                    <a:lstStyle/>
                    <a:p>
                      <a:r>
                        <a:rPr lang="zh-CN" altLang="en-US" dirty="0"/>
                        <a:t>源码程序集</a:t>
                      </a:r>
                    </a:p>
                  </a:txBody>
                  <a:tcPr anchor="ctr">
                    <a:solidFill>
                      <a:srgbClr val="C00000"/>
                    </a:solidFill>
                  </a:tcPr>
                </a:tc>
                <a:extLst>
                  <a:ext uri="{0D108BD9-81ED-4DB2-BD59-A6C34878D82A}">
                    <a16:rowId xmlns:a16="http://schemas.microsoft.com/office/drawing/2014/main" val="3362591606"/>
                  </a:ext>
                </a:extLst>
              </a:tr>
              <a:tr h="384750">
                <a:tc>
                  <a:txBody>
                    <a:bodyPr/>
                    <a:lstStyle/>
                    <a:p>
                      <a:r>
                        <a:rPr lang="zh-CN" altLang="en-US" dirty="0"/>
                        <a:t>机器学习</a:t>
                      </a:r>
                    </a:p>
                  </a:txBody>
                  <a:tcPr anchor="ctr"/>
                </a:tc>
                <a:tc>
                  <a:txBody>
                    <a:bodyPr/>
                    <a:lstStyle/>
                    <a:p>
                      <a:r>
                        <a:rPr lang="en-US" altLang="zh-CN" dirty="0" err="1"/>
                        <a:t>Tensorflow</a:t>
                      </a:r>
                      <a:endParaRPr lang="zh-CN" altLang="en-US" dirty="0"/>
                    </a:p>
                  </a:txBody>
                  <a:tcPr anchor="ctr"/>
                </a:tc>
                <a:extLst>
                  <a:ext uri="{0D108BD9-81ED-4DB2-BD59-A6C34878D82A}">
                    <a16:rowId xmlns:a16="http://schemas.microsoft.com/office/drawing/2014/main" val="1226832737"/>
                  </a:ext>
                </a:extLst>
              </a:tr>
              <a:tr h="384750">
                <a:tc>
                  <a:txBody>
                    <a:bodyPr/>
                    <a:lstStyle/>
                    <a:p>
                      <a:r>
                        <a:rPr lang="zh-CN" altLang="en-US" dirty="0"/>
                        <a:t>操作系统</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Linux kernel 	</a:t>
                      </a:r>
                    </a:p>
                  </a:txBody>
                  <a:tcPr anchor="ctr"/>
                </a:tc>
                <a:extLst>
                  <a:ext uri="{0D108BD9-81ED-4DB2-BD59-A6C34878D82A}">
                    <a16:rowId xmlns:a16="http://schemas.microsoft.com/office/drawing/2014/main" val="3119756479"/>
                  </a:ext>
                </a:extLst>
              </a:tr>
              <a:tr h="384750">
                <a:tc>
                  <a:txBody>
                    <a:bodyPr/>
                    <a:lstStyle/>
                    <a:p>
                      <a:r>
                        <a:rPr lang="zh-CN" altLang="en-US" sz="1350" b="0" i="0" u="none" strike="noStrike" kern="1200" baseline="0" dirty="0">
                          <a:solidFill>
                            <a:schemeClr val="dk1"/>
                          </a:solidFill>
                          <a:latin typeface="+mn-lt"/>
                          <a:ea typeface="+mn-ea"/>
                          <a:cs typeface="+mn-cs"/>
                        </a:rPr>
                        <a:t>计算机视觉</a:t>
                      </a:r>
                    </a:p>
                  </a:txBody>
                  <a:tcPr anchor="ctr"/>
                </a:tc>
                <a:tc>
                  <a:txBody>
                    <a:bodyPr/>
                    <a:lstStyle/>
                    <a:p>
                      <a:r>
                        <a:rPr lang="en-US" altLang="zh-CN" sz="1350" b="0" i="0" u="none" strike="noStrike" kern="1200" baseline="0" dirty="0">
                          <a:solidFill>
                            <a:schemeClr val="dk1"/>
                          </a:solidFill>
                          <a:latin typeface="+mn-lt"/>
                          <a:ea typeface="+mn-ea"/>
                          <a:cs typeface="+mn-cs"/>
                        </a:rPr>
                        <a:t>OpenCV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NVIDIA samples 	</a:t>
                      </a:r>
                    </a:p>
                  </a:txBody>
                  <a:tcPr anchor="ctr"/>
                </a:tc>
                <a:extLst>
                  <a:ext uri="{0D108BD9-81ED-4DB2-BD59-A6C34878D82A}">
                    <a16:rowId xmlns:a16="http://schemas.microsoft.com/office/drawing/2014/main" val="4274204239"/>
                  </a:ext>
                </a:extLst>
              </a:tr>
              <a:tr h="38475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350" b="0" i="0" u="none" strike="noStrike" kern="1200" baseline="0" dirty="0">
                          <a:solidFill>
                            <a:schemeClr val="dk1"/>
                          </a:solidFill>
                          <a:latin typeface="+mn-lt"/>
                          <a:ea typeface="+mn-ea"/>
                          <a:cs typeface="+mn-cs"/>
                        </a:rPr>
                        <a:t>高性能计算</a:t>
                      </a:r>
                    </a:p>
                  </a:txBody>
                  <a:tcPr anchor="ctr"/>
                </a:tc>
                <a:tc>
                  <a:txBody>
                    <a:bodyPr/>
                    <a:lstStyle/>
                    <a:p>
                      <a:r>
                        <a:rPr lang="en-US" altLang="zh-CN" sz="1350" b="0" i="0" u="none" strike="noStrike" kern="1200" baseline="0" dirty="0">
                          <a:solidFill>
                            <a:schemeClr val="dk1"/>
                          </a:solidFill>
                          <a:latin typeface="+mn-lt"/>
                          <a:ea typeface="+mn-ea"/>
                          <a:cs typeface="+mn-cs"/>
                        </a:rPr>
                        <a:t>AMD APP SDK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BLAS</a:t>
                      </a:r>
                      <a:endParaRPr lang="zh-CN" altLang="en-US" dirty="0"/>
                    </a:p>
                  </a:txBody>
                  <a:tcPr anchor="ctr"/>
                </a:tc>
                <a:extLst>
                  <a:ext uri="{0D108BD9-81ED-4DB2-BD59-A6C34878D82A}">
                    <a16:rowId xmlns:a16="http://schemas.microsoft.com/office/drawing/2014/main" val="1284197978"/>
                  </a:ext>
                </a:extLst>
              </a:tr>
              <a:tr h="38475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1350" b="0" i="0" u="none" strike="noStrike" kern="1200" baseline="0" dirty="0">
                          <a:solidFill>
                            <a:schemeClr val="dk1"/>
                          </a:solidFill>
                          <a:latin typeface="+mn-lt"/>
                          <a:ea typeface="+mn-ea"/>
                          <a:cs typeface="+mn-cs"/>
                        </a:rPr>
                        <a:t>科学计算</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COSMO 	</a:t>
                      </a:r>
                    </a:p>
                  </a:txBody>
                  <a:tcPr anchor="ctr"/>
                </a:tc>
                <a:extLst>
                  <a:ext uri="{0D108BD9-81ED-4DB2-BD59-A6C34878D82A}">
                    <a16:rowId xmlns:a16="http://schemas.microsoft.com/office/drawing/2014/main" val="1601355464"/>
                  </a:ext>
                </a:extLst>
              </a:tr>
              <a:tr h="384750">
                <a:tc>
                  <a:txBody>
                    <a:bodyPr/>
                    <a:lstStyle/>
                    <a:p>
                      <a:r>
                        <a:rPr lang="zh-CN" altLang="en-US" dirty="0"/>
                        <a:t>基准测试</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NAS(NPB) 	</a:t>
                      </a:r>
                    </a:p>
                    <a:p>
                      <a:r>
                        <a:rPr lang="en-US" altLang="zh-CN" sz="1350" b="0" i="0" u="none" strike="noStrike" kern="1200" baseline="0" dirty="0">
                          <a:solidFill>
                            <a:schemeClr val="dk1"/>
                          </a:solidFill>
                          <a:latin typeface="+mn-lt"/>
                          <a:ea typeface="+mn-ea"/>
                          <a:cs typeface="+mn-cs"/>
                        </a:rPr>
                        <a:t>Parboil 	</a:t>
                      </a:r>
                    </a:p>
                    <a:p>
                      <a:r>
                        <a:rPr lang="en-US" altLang="zh-CN" sz="1350" b="0" i="0" u="none" strike="noStrike" kern="1200" baseline="0" dirty="0" err="1">
                          <a:solidFill>
                            <a:schemeClr val="dk1"/>
                          </a:solidFill>
                          <a:latin typeface="+mn-lt"/>
                          <a:ea typeface="+mn-ea"/>
                          <a:cs typeface="+mn-cs"/>
                        </a:rPr>
                        <a:t>PolybenchGPU</a:t>
                      </a:r>
                      <a:r>
                        <a:rPr lang="en-US" altLang="zh-CN" sz="1350" b="0" i="0" u="none" strike="noStrike" kern="1200" baseline="0" dirty="0">
                          <a:solidFill>
                            <a:schemeClr val="dk1"/>
                          </a:solidFill>
                          <a:latin typeface="+mn-lt"/>
                          <a:ea typeface="+mn-ea"/>
                          <a:cs typeface="+mn-cs"/>
                        </a:rPr>
                        <a:t> 	</a:t>
                      </a:r>
                    </a:p>
                    <a:p>
                      <a:r>
                        <a:rPr lang="en-US" altLang="zh-CN" sz="1350" b="0" i="0" u="none" strike="noStrike" kern="1200" baseline="0" dirty="0" err="1">
                          <a:solidFill>
                            <a:schemeClr val="dk1"/>
                          </a:solidFill>
                          <a:latin typeface="+mn-lt"/>
                          <a:ea typeface="+mn-ea"/>
                          <a:cs typeface="+mn-cs"/>
                        </a:rPr>
                        <a:t>Rodinia</a:t>
                      </a:r>
                      <a:r>
                        <a:rPr lang="en-US" altLang="zh-CN" sz="1350" b="0" i="0" u="none" strike="noStrike" kern="1200" baseline="0" dirty="0">
                          <a:solidFill>
                            <a:schemeClr val="dk1"/>
                          </a:solidFill>
                          <a:latin typeface="+mn-lt"/>
                          <a:ea typeface="+mn-ea"/>
                          <a:cs typeface="+mn-cs"/>
                        </a:rPr>
                        <a:t> 	</a:t>
                      </a:r>
                    </a:p>
                    <a:p>
                      <a:r>
                        <a:rPr lang="en-US" altLang="zh-CN" sz="1350" b="0" i="0" u="none" strike="noStrike" kern="1200" baseline="0" dirty="0">
                          <a:solidFill>
                            <a:schemeClr val="dk1"/>
                          </a:solidFill>
                          <a:latin typeface="+mn-lt"/>
                          <a:ea typeface="+mn-ea"/>
                          <a:cs typeface="+mn-cs"/>
                        </a:rPr>
                        <a:t>SHOC 	</a:t>
                      </a:r>
                    </a:p>
                  </a:txBody>
                  <a:tcPr anchor="ctr"/>
                </a:tc>
                <a:extLst>
                  <a:ext uri="{0D108BD9-81ED-4DB2-BD59-A6C34878D82A}">
                    <a16:rowId xmlns:a16="http://schemas.microsoft.com/office/drawing/2014/main" val="463025706"/>
                  </a:ext>
                </a:extLst>
              </a:tr>
            </a:tbl>
          </a:graphicData>
        </a:graphic>
      </p:graphicFrame>
      <p:sp>
        <p:nvSpPr>
          <p:cNvPr id="10" name="文本框 9">
            <a:extLst>
              <a:ext uri="{FF2B5EF4-FFF2-40B4-BE49-F238E27FC236}">
                <a16:creationId xmlns:a16="http://schemas.microsoft.com/office/drawing/2014/main" id="{4DB36C8D-60AB-4687-88DA-98DBD6602607}"/>
              </a:ext>
            </a:extLst>
          </p:cNvPr>
          <p:cNvSpPr txBox="1"/>
          <p:nvPr/>
        </p:nvSpPr>
        <p:spPr>
          <a:xfrm>
            <a:off x="110068" y="5207001"/>
            <a:ext cx="1558960" cy="369332"/>
          </a:xfrm>
          <a:prstGeom prst="rect">
            <a:avLst/>
          </a:prstGeom>
          <a:noFill/>
        </p:spPr>
        <p:txBody>
          <a:bodyPr wrap="square" rtlCol="0">
            <a:spAutoFit/>
          </a:bodyPr>
          <a:lstStyle/>
          <a:p>
            <a:r>
              <a:rPr lang="zh-CN" altLang="en-US" dirty="0"/>
              <a:t>遍历图的节点</a:t>
            </a:r>
          </a:p>
        </p:txBody>
      </p:sp>
      <p:sp>
        <p:nvSpPr>
          <p:cNvPr id="29" name="文本框 28">
            <a:extLst>
              <a:ext uri="{FF2B5EF4-FFF2-40B4-BE49-F238E27FC236}">
                <a16:creationId xmlns:a16="http://schemas.microsoft.com/office/drawing/2014/main" id="{412D38E9-AC2A-4634-B471-6A420BA30FA3}"/>
              </a:ext>
            </a:extLst>
          </p:cNvPr>
          <p:cNvSpPr txBox="1"/>
          <p:nvPr/>
        </p:nvSpPr>
        <p:spPr>
          <a:xfrm>
            <a:off x="2243667" y="5207001"/>
            <a:ext cx="1109133" cy="369332"/>
          </a:xfrm>
          <a:prstGeom prst="rect">
            <a:avLst/>
          </a:prstGeom>
          <a:noFill/>
        </p:spPr>
        <p:txBody>
          <a:bodyPr wrap="square" rtlCol="0">
            <a:spAutoFit/>
          </a:bodyPr>
          <a:lstStyle/>
          <a:p>
            <a:r>
              <a:rPr lang="zh-CN" altLang="en-US" dirty="0"/>
              <a:t>正则匹配</a:t>
            </a:r>
          </a:p>
        </p:txBody>
      </p:sp>
      <p:sp>
        <p:nvSpPr>
          <p:cNvPr id="30" name="文本框 29">
            <a:extLst>
              <a:ext uri="{FF2B5EF4-FFF2-40B4-BE49-F238E27FC236}">
                <a16:creationId xmlns:a16="http://schemas.microsoft.com/office/drawing/2014/main" id="{F66110A0-43F3-4405-9444-62AEE91E7233}"/>
              </a:ext>
            </a:extLst>
          </p:cNvPr>
          <p:cNvSpPr txBox="1"/>
          <p:nvPr/>
        </p:nvSpPr>
        <p:spPr>
          <a:xfrm>
            <a:off x="3959261" y="5207001"/>
            <a:ext cx="1338828" cy="369332"/>
          </a:xfrm>
          <a:prstGeom prst="rect">
            <a:avLst/>
          </a:prstGeom>
          <a:noFill/>
        </p:spPr>
        <p:txBody>
          <a:bodyPr wrap="square" rtlCol="0">
            <a:spAutoFit/>
          </a:bodyPr>
          <a:lstStyle/>
          <a:p>
            <a:r>
              <a:rPr lang="zh-CN" altLang="en-US" dirty="0"/>
              <a:t>确定编号</a:t>
            </a:r>
            <a:r>
              <a:rPr lang="en-US" altLang="zh-CN" dirty="0"/>
              <a:t>N</a:t>
            </a:r>
            <a:endParaRPr lang="zh-CN" altLang="en-US" dirty="0"/>
          </a:p>
        </p:txBody>
      </p:sp>
      <p:cxnSp>
        <p:nvCxnSpPr>
          <p:cNvPr id="12" name="直接箭头连接符 11">
            <a:extLst>
              <a:ext uri="{FF2B5EF4-FFF2-40B4-BE49-F238E27FC236}">
                <a16:creationId xmlns:a16="http://schemas.microsoft.com/office/drawing/2014/main" id="{368F293B-8D97-42A8-85ED-377D76247E18}"/>
              </a:ext>
            </a:extLst>
          </p:cNvPr>
          <p:cNvCxnSpPr>
            <a:cxnSpLocks/>
            <a:stCxn id="10" idx="3"/>
            <a:endCxn id="29" idx="1"/>
          </p:cNvCxnSpPr>
          <p:nvPr/>
        </p:nvCxnSpPr>
        <p:spPr>
          <a:xfrm>
            <a:off x="1669028" y="5391667"/>
            <a:ext cx="574639"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A0465B78-C736-49C5-8EF6-F7AE63D73BD2}"/>
              </a:ext>
            </a:extLst>
          </p:cNvPr>
          <p:cNvCxnSpPr>
            <a:cxnSpLocks/>
            <a:stCxn id="29" idx="3"/>
            <a:endCxn id="30" idx="1"/>
          </p:cNvCxnSpPr>
          <p:nvPr/>
        </p:nvCxnSpPr>
        <p:spPr>
          <a:xfrm>
            <a:off x="3352800" y="5391667"/>
            <a:ext cx="606461"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表格 15">
            <a:extLst>
              <a:ext uri="{FF2B5EF4-FFF2-40B4-BE49-F238E27FC236}">
                <a16:creationId xmlns:a16="http://schemas.microsoft.com/office/drawing/2014/main" id="{D49F7037-4978-401C-A881-64B56FC8CFA6}"/>
              </a:ext>
            </a:extLst>
          </p:cNvPr>
          <p:cNvGraphicFramePr>
            <a:graphicFrameLocks noGrp="1"/>
          </p:cNvGraphicFramePr>
          <p:nvPr>
            <p:extLst>
              <p:ext uri="{D42A27DB-BD31-4B8C-83A1-F6EECF244321}">
                <p14:modId xmlns:p14="http://schemas.microsoft.com/office/powerpoint/2010/main" val="4276234355"/>
              </p:ext>
            </p:extLst>
          </p:nvPr>
        </p:nvGraphicFramePr>
        <p:xfrm>
          <a:off x="8978898" y="1954174"/>
          <a:ext cx="2827868" cy="793228"/>
        </p:xfrm>
        <a:graphic>
          <a:graphicData uri="http://schemas.openxmlformats.org/drawingml/2006/table">
            <a:tbl>
              <a:tblPr firstRow="1" bandRow="1">
                <a:tableStyleId>{5C22544A-7EE6-4342-B048-85BDC9FD1C3A}</a:tableStyleId>
              </a:tblPr>
              <a:tblGrid>
                <a:gridCol w="1413934">
                  <a:extLst>
                    <a:ext uri="{9D8B030D-6E8A-4147-A177-3AD203B41FA5}">
                      <a16:colId xmlns:a16="http://schemas.microsoft.com/office/drawing/2014/main" val="3115044063"/>
                    </a:ext>
                  </a:extLst>
                </a:gridCol>
                <a:gridCol w="1413934">
                  <a:extLst>
                    <a:ext uri="{9D8B030D-6E8A-4147-A177-3AD203B41FA5}">
                      <a16:colId xmlns:a16="http://schemas.microsoft.com/office/drawing/2014/main" val="2025246378"/>
                    </a:ext>
                  </a:extLst>
                </a:gridCol>
              </a:tblGrid>
              <a:tr h="396614">
                <a:tc>
                  <a:txBody>
                    <a:bodyPr/>
                    <a:lstStyle/>
                    <a:p>
                      <a:pPr algn="ctr"/>
                      <a:r>
                        <a:rPr lang="zh-CN" altLang="en-US" dirty="0"/>
                        <a:t>词典数量</a:t>
                      </a:r>
                    </a:p>
                  </a:txBody>
                  <a:tcPr anchor="ctr">
                    <a:solidFill>
                      <a:srgbClr val="C00000"/>
                    </a:solidFill>
                  </a:tcPr>
                </a:tc>
                <a:tc>
                  <a:txBody>
                    <a:bodyPr/>
                    <a:lstStyle/>
                    <a:p>
                      <a:pPr algn="ctr"/>
                      <a:r>
                        <a:rPr lang="zh-CN" altLang="en-US" dirty="0"/>
                        <a:t>向量维度</a:t>
                      </a:r>
                    </a:p>
                  </a:txBody>
                  <a:tcPr anchor="ctr">
                    <a:solidFill>
                      <a:srgbClr val="C00000"/>
                    </a:solidFill>
                  </a:tcPr>
                </a:tc>
                <a:extLst>
                  <a:ext uri="{0D108BD9-81ED-4DB2-BD59-A6C34878D82A}">
                    <a16:rowId xmlns:a16="http://schemas.microsoft.com/office/drawing/2014/main" val="2080918599"/>
                  </a:ext>
                </a:extLst>
              </a:tr>
              <a:tr h="396614">
                <a:tc>
                  <a:txBody>
                    <a:bodyPr/>
                    <a:lstStyle/>
                    <a:p>
                      <a:pPr algn="ctr"/>
                      <a:r>
                        <a:rPr lang="en-US" altLang="zh-CN" dirty="0"/>
                        <a:t>8565</a:t>
                      </a:r>
                      <a:endParaRPr lang="zh-CN" altLang="en-US" dirty="0"/>
                    </a:p>
                  </a:txBody>
                  <a:tcPr anchor="ctr"/>
                </a:tc>
                <a:tc>
                  <a:txBody>
                    <a:bodyPr/>
                    <a:lstStyle/>
                    <a:p>
                      <a:pPr algn="ctr"/>
                      <a:r>
                        <a:rPr lang="zh-CN" altLang="en-US" dirty="0"/>
                        <a:t>（</a:t>
                      </a:r>
                      <a:r>
                        <a:rPr lang="en-US" altLang="zh-CN" dirty="0"/>
                        <a:t>1</a:t>
                      </a:r>
                      <a:r>
                        <a:rPr lang="zh-CN" altLang="en-US" dirty="0"/>
                        <a:t>，</a:t>
                      </a:r>
                      <a:r>
                        <a:rPr lang="en-US" altLang="zh-CN" dirty="0"/>
                        <a:t>200</a:t>
                      </a:r>
                      <a:r>
                        <a:rPr lang="zh-CN" altLang="en-US" dirty="0"/>
                        <a:t>）</a:t>
                      </a:r>
                    </a:p>
                  </a:txBody>
                  <a:tcPr anchor="ctr"/>
                </a:tc>
                <a:extLst>
                  <a:ext uri="{0D108BD9-81ED-4DB2-BD59-A6C34878D82A}">
                    <a16:rowId xmlns:a16="http://schemas.microsoft.com/office/drawing/2014/main" val="3133998128"/>
                  </a:ext>
                </a:extLst>
              </a:tr>
            </a:tbl>
          </a:graphicData>
        </a:graphic>
      </p:graphicFrame>
      <p:sp>
        <p:nvSpPr>
          <p:cNvPr id="37" name="文本框 36">
            <a:extLst>
              <a:ext uri="{FF2B5EF4-FFF2-40B4-BE49-F238E27FC236}">
                <a16:creationId xmlns:a16="http://schemas.microsoft.com/office/drawing/2014/main" id="{C9A34052-C428-479F-BB2A-38F2A86EB30B}"/>
              </a:ext>
            </a:extLst>
          </p:cNvPr>
          <p:cNvSpPr txBox="1"/>
          <p:nvPr/>
        </p:nvSpPr>
        <p:spPr>
          <a:xfrm>
            <a:off x="9608196" y="3052902"/>
            <a:ext cx="1569271" cy="369332"/>
          </a:xfrm>
          <a:prstGeom prst="rect">
            <a:avLst/>
          </a:prstGeom>
          <a:noFill/>
        </p:spPr>
        <p:txBody>
          <a:bodyPr wrap="square" rtlCol="0">
            <a:spAutoFit/>
          </a:bodyPr>
          <a:lstStyle/>
          <a:p>
            <a:r>
              <a:rPr lang="zh-CN" altLang="en-US" dirty="0"/>
              <a:t>遍历图的节点</a:t>
            </a:r>
          </a:p>
        </p:txBody>
      </p:sp>
      <p:sp>
        <p:nvSpPr>
          <p:cNvPr id="44" name="文本框 43">
            <a:extLst>
              <a:ext uri="{FF2B5EF4-FFF2-40B4-BE49-F238E27FC236}">
                <a16:creationId xmlns:a16="http://schemas.microsoft.com/office/drawing/2014/main" id="{DFB0764A-4D4F-4969-B3B3-A7A56FF6BB01}"/>
              </a:ext>
            </a:extLst>
          </p:cNvPr>
          <p:cNvSpPr txBox="1"/>
          <p:nvPr/>
        </p:nvSpPr>
        <p:spPr>
          <a:xfrm>
            <a:off x="9492974" y="3919991"/>
            <a:ext cx="1799715" cy="369332"/>
          </a:xfrm>
          <a:prstGeom prst="rect">
            <a:avLst/>
          </a:prstGeom>
          <a:noFill/>
        </p:spPr>
        <p:txBody>
          <a:bodyPr wrap="square" rtlCol="0">
            <a:spAutoFit/>
          </a:bodyPr>
          <a:lstStyle/>
          <a:p>
            <a:r>
              <a:rPr lang="zh-CN" altLang="en-US" dirty="0"/>
              <a:t>字符串完全匹配</a:t>
            </a:r>
          </a:p>
        </p:txBody>
      </p:sp>
      <p:sp>
        <p:nvSpPr>
          <p:cNvPr id="45" name="文本框 44">
            <a:extLst>
              <a:ext uri="{FF2B5EF4-FFF2-40B4-BE49-F238E27FC236}">
                <a16:creationId xmlns:a16="http://schemas.microsoft.com/office/drawing/2014/main" id="{78822317-6D16-43BB-B1A1-BE6AB844AF61}"/>
              </a:ext>
            </a:extLst>
          </p:cNvPr>
          <p:cNvSpPr txBox="1"/>
          <p:nvPr/>
        </p:nvSpPr>
        <p:spPr>
          <a:xfrm>
            <a:off x="9492975" y="4837669"/>
            <a:ext cx="1799714" cy="369332"/>
          </a:xfrm>
          <a:prstGeom prst="rect">
            <a:avLst/>
          </a:prstGeom>
          <a:noFill/>
        </p:spPr>
        <p:txBody>
          <a:bodyPr wrap="square" rtlCol="0">
            <a:spAutoFit/>
          </a:bodyPr>
          <a:lstStyle/>
          <a:p>
            <a:r>
              <a:rPr lang="zh-CN" altLang="en-US" dirty="0"/>
              <a:t>确定特征向量</a:t>
            </a:r>
            <a:r>
              <a:rPr lang="en-US" altLang="zh-CN" dirty="0"/>
              <a:t>S</a:t>
            </a:r>
            <a:endParaRPr lang="zh-CN" altLang="en-US" dirty="0"/>
          </a:p>
        </p:txBody>
      </p:sp>
      <p:cxnSp>
        <p:nvCxnSpPr>
          <p:cNvPr id="18" name="直接箭头连接符 17">
            <a:extLst>
              <a:ext uri="{FF2B5EF4-FFF2-40B4-BE49-F238E27FC236}">
                <a16:creationId xmlns:a16="http://schemas.microsoft.com/office/drawing/2014/main" id="{40CD172E-1C42-4829-9817-5F55F1E6B339}"/>
              </a:ext>
            </a:extLst>
          </p:cNvPr>
          <p:cNvCxnSpPr>
            <a:cxnSpLocks/>
            <a:stCxn id="37" idx="2"/>
            <a:endCxn id="44" idx="0"/>
          </p:cNvCxnSpPr>
          <p:nvPr/>
        </p:nvCxnSpPr>
        <p:spPr>
          <a:xfrm>
            <a:off x="10392832" y="3422234"/>
            <a:ext cx="0" cy="497757"/>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ECFC37CF-DA82-4C54-B935-F9AFB6D46775}"/>
              </a:ext>
            </a:extLst>
          </p:cNvPr>
          <p:cNvCxnSpPr>
            <a:cxnSpLocks/>
            <a:stCxn id="44" idx="2"/>
            <a:endCxn id="45" idx="0"/>
          </p:cNvCxnSpPr>
          <p:nvPr/>
        </p:nvCxnSpPr>
        <p:spPr>
          <a:xfrm>
            <a:off x="10392832" y="4289323"/>
            <a:ext cx="0" cy="548346"/>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81C4F204-818F-40E8-ADF5-B24B86680ED7}"/>
              </a:ext>
            </a:extLst>
          </p:cNvPr>
          <p:cNvSpPr txBox="1"/>
          <p:nvPr/>
        </p:nvSpPr>
        <p:spPr>
          <a:xfrm>
            <a:off x="8019063" y="5944353"/>
            <a:ext cx="4172937" cy="369332"/>
          </a:xfrm>
          <a:prstGeom prst="rect">
            <a:avLst/>
          </a:prstGeom>
          <a:noFill/>
        </p:spPr>
        <p:txBody>
          <a:bodyPr wrap="none" rtlCol="0">
            <a:spAutoFit/>
          </a:bodyPr>
          <a:lstStyle/>
          <a:p>
            <a:r>
              <a:rPr lang="zh-CN" altLang="en-US" dirty="0">
                <a:solidFill>
                  <a:srgbClr val="FF0000"/>
                </a:solidFill>
              </a:rPr>
              <a:t>节点的特征向量 </a:t>
            </a:r>
            <a:r>
              <a:rPr lang="en-US" altLang="zh-CN" dirty="0">
                <a:solidFill>
                  <a:srgbClr val="FF0000"/>
                </a:solidFill>
              </a:rPr>
              <a:t>= S + N</a:t>
            </a:r>
            <a:r>
              <a:rPr lang="zh-CN" altLang="en-US" dirty="0">
                <a:solidFill>
                  <a:srgbClr val="FF0000"/>
                </a:solidFill>
              </a:rPr>
              <a:t>的</a:t>
            </a:r>
            <a:r>
              <a:rPr lang="en-US" altLang="zh-CN" dirty="0">
                <a:solidFill>
                  <a:srgbClr val="FF0000"/>
                </a:solidFill>
              </a:rPr>
              <a:t>One-hot</a:t>
            </a:r>
            <a:r>
              <a:rPr lang="zh-CN" altLang="en-US" dirty="0">
                <a:solidFill>
                  <a:srgbClr val="FF0000"/>
                </a:solidFill>
              </a:rPr>
              <a:t>编码</a:t>
            </a:r>
          </a:p>
        </p:txBody>
      </p:sp>
      <p:cxnSp>
        <p:nvCxnSpPr>
          <p:cNvPr id="26" name="直接箭头连接符 25">
            <a:extLst>
              <a:ext uri="{FF2B5EF4-FFF2-40B4-BE49-F238E27FC236}">
                <a16:creationId xmlns:a16="http://schemas.microsoft.com/office/drawing/2014/main" id="{62F803BC-C9D3-4B42-9465-BA611D0D25AE}"/>
              </a:ext>
            </a:extLst>
          </p:cNvPr>
          <p:cNvCxnSpPr>
            <a:stCxn id="45" idx="2"/>
          </p:cNvCxnSpPr>
          <p:nvPr/>
        </p:nvCxnSpPr>
        <p:spPr>
          <a:xfrm flipH="1">
            <a:off x="10392831" y="5207001"/>
            <a:ext cx="1" cy="737352"/>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35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9" grpId="0"/>
      <p:bldP spid="30" grpId="0"/>
      <p:bldP spid="37" grpId="0"/>
      <p:bldP spid="44" grpId="0"/>
      <p:bldP spid="45"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635068"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7" name="文本框 6">
            <a:extLst>
              <a:ext uri="{FF2B5EF4-FFF2-40B4-BE49-F238E27FC236}">
                <a16:creationId xmlns:a16="http://schemas.microsoft.com/office/drawing/2014/main" id="{9419467B-F1AC-40FB-BC0C-33610DD32899}"/>
              </a:ext>
            </a:extLst>
          </p:cNvPr>
          <p:cNvSpPr txBox="1"/>
          <p:nvPr/>
        </p:nvSpPr>
        <p:spPr>
          <a:xfrm>
            <a:off x="330200" y="1353255"/>
            <a:ext cx="3525324"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并行性识别模型 </a:t>
            </a:r>
            <a:r>
              <a:rPr lang="en-US" altLang="zh-CN" dirty="0"/>
              <a:t>—— DGCNN</a:t>
            </a:r>
            <a:endParaRPr lang="zh-CN" altLang="en-US" dirty="0"/>
          </a:p>
        </p:txBody>
      </p:sp>
      <p:grpSp>
        <p:nvGrpSpPr>
          <p:cNvPr id="2" name="组合 1">
            <a:extLst>
              <a:ext uri="{FF2B5EF4-FFF2-40B4-BE49-F238E27FC236}">
                <a16:creationId xmlns:a16="http://schemas.microsoft.com/office/drawing/2014/main" id="{E63AAA3B-2BAE-4BD6-82B8-FA1F98D43E35}"/>
              </a:ext>
            </a:extLst>
          </p:cNvPr>
          <p:cNvGrpSpPr/>
          <p:nvPr/>
        </p:nvGrpSpPr>
        <p:grpSpPr>
          <a:xfrm>
            <a:off x="258313" y="1743374"/>
            <a:ext cx="11675373" cy="4175807"/>
            <a:chOff x="258313" y="1743374"/>
            <a:chExt cx="11675373" cy="4175807"/>
          </a:xfrm>
        </p:grpSpPr>
        <p:pic>
          <p:nvPicPr>
            <p:cNvPr id="4" name="图片 3">
              <a:extLst>
                <a:ext uri="{FF2B5EF4-FFF2-40B4-BE49-F238E27FC236}">
                  <a16:creationId xmlns:a16="http://schemas.microsoft.com/office/drawing/2014/main" id="{0868973A-431F-47C2-A851-B24DC9E31B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8313" y="1743374"/>
              <a:ext cx="11675373" cy="3437143"/>
            </a:xfrm>
            <a:prstGeom prst="rect">
              <a:avLst/>
            </a:prstGeom>
          </p:spPr>
        </p:pic>
        <p:sp>
          <p:nvSpPr>
            <p:cNvPr id="9" name="文本框 8">
              <a:extLst>
                <a:ext uri="{FF2B5EF4-FFF2-40B4-BE49-F238E27FC236}">
                  <a16:creationId xmlns:a16="http://schemas.microsoft.com/office/drawing/2014/main" id="{DF87A889-0BC4-4F24-BAFA-20663A8E9D51}"/>
                </a:ext>
              </a:extLst>
            </p:cNvPr>
            <p:cNvSpPr txBox="1"/>
            <p:nvPr/>
          </p:nvSpPr>
          <p:spPr>
            <a:xfrm>
              <a:off x="1769534" y="5180517"/>
              <a:ext cx="3572934" cy="738664"/>
            </a:xfrm>
            <a:prstGeom prst="rect">
              <a:avLst/>
            </a:prstGeom>
            <a:noFill/>
          </p:spPr>
          <p:txBody>
            <a:bodyPr wrap="square" rtlCol="0">
              <a:spAutoFit/>
            </a:bodyPr>
            <a:lstStyle/>
            <a:p>
              <a:r>
                <a:rPr lang="zh-CN" altLang="en-US" sz="1400" dirty="0"/>
                <a:t>把每一层卷积的输出拼接，作为卷积结果。</a:t>
              </a:r>
              <a:endParaRPr lang="en-US" altLang="zh-CN" sz="1400" dirty="0"/>
            </a:p>
            <a:p>
              <a:r>
                <a:rPr lang="zh-CN" altLang="en-US" sz="1400" dirty="0"/>
                <a:t>若输出维度（</a:t>
              </a:r>
              <a:r>
                <a:rPr lang="en-US" altLang="zh-CN" sz="1400" dirty="0"/>
                <a:t>32</a:t>
              </a:r>
              <a:r>
                <a:rPr lang="zh-CN" altLang="en-US" sz="1400" dirty="0"/>
                <a:t>，</a:t>
              </a:r>
              <a:r>
                <a:rPr lang="en-US" altLang="zh-CN" sz="1400" dirty="0"/>
                <a:t>32</a:t>
              </a:r>
              <a:r>
                <a:rPr lang="zh-CN" altLang="en-US" sz="1400" dirty="0"/>
                <a:t>，</a:t>
              </a:r>
              <a:r>
                <a:rPr lang="en-US" altLang="zh-CN" sz="1400" dirty="0"/>
                <a:t>32</a:t>
              </a:r>
              <a:r>
                <a:rPr lang="zh-CN" altLang="en-US" sz="1400" dirty="0"/>
                <a:t>，</a:t>
              </a:r>
              <a:r>
                <a:rPr lang="en-US" altLang="zh-CN" sz="1400" dirty="0"/>
                <a:t>1</a:t>
              </a:r>
              <a:r>
                <a:rPr lang="zh-CN" altLang="en-US" sz="1400" dirty="0"/>
                <a:t>），则节点特征向量维度（</a:t>
              </a:r>
              <a:r>
                <a:rPr lang="en-US" altLang="zh-CN" sz="1400" dirty="0"/>
                <a:t>1</a:t>
              </a:r>
              <a:r>
                <a:rPr lang="zh-CN" altLang="en-US" sz="1400" dirty="0"/>
                <a:t>，</a:t>
              </a:r>
              <a:r>
                <a:rPr lang="en-US" altLang="zh-CN" sz="1400" dirty="0"/>
                <a:t>97</a:t>
              </a:r>
              <a:r>
                <a:rPr lang="zh-CN" altLang="en-US" sz="1400" dirty="0"/>
                <a:t>）</a:t>
              </a:r>
            </a:p>
          </p:txBody>
        </p:sp>
        <p:sp>
          <p:nvSpPr>
            <p:cNvPr id="13" name="文本框 12">
              <a:extLst>
                <a:ext uri="{FF2B5EF4-FFF2-40B4-BE49-F238E27FC236}">
                  <a16:creationId xmlns:a16="http://schemas.microsoft.com/office/drawing/2014/main" id="{AE9D5B5A-9ADC-456A-BE4E-9AD5A998E8D7}"/>
                </a:ext>
              </a:extLst>
            </p:cNvPr>
            <p:cNvSpPr txBox="1"/>
            <p:nvPr/>
          </p:nvSpPr>
          <p:spPr>
            <a:xfrm>
              <a:off x="8792350" y="5256286"/>
              <a:ext cx="2159566" cy="307777"/>
            </a:xfrm>
            <a:prstGeom prst="rect">
              <a:avLst/>
            </a:prstGeom>
            <a:noFill/>
          </p:spPr>
          <p:txBody>
            <a:bodyPr wrap="none" rtlCol="0">
              <a:spAutoFit/>
            </a:bodyPr>
            <a:lstStyle/>
            <a:p>
              <a:r>
                <a:rPr lang="zh-CN" altLang="en-US" sz="1400" dirty="0"/>
                <a:t>传统卷积，用于下游任务</a:t>
              </a:r>
            </a:p>
          </p:txBody>
        </p:sp>
      </p:grpSp>
    </p:spTree>
    <p:custDataLst>
      <p:tags r:id="rId1"/>
    </p:custDataLst>
    <p:extLst>
      <p:ext uri="{BB962C8B-B14F-4D97-AF65-F5344CB8AC3E}">
        <p14:creationId xmlns:p14="http://schemas.microsoft.com/office/powerpoint/2010/main" val="287304105"/>
      </p:ext>
    </p:extLst>
  </p:cSld>
  <p:clrMapOvr>
    <a:masterClrMapping/>
  </p:clrMapOvr>
  <mc:AlternateContent xmlns:mc="http://schemas.openxmlformats.org/markup-compatibility/2006" xmlns:p14="http://schemas.microsoft.com/office/powerpoint/2010/main">
    <mc:Choice Requires="p14">
      <p:transition spd="slow" p14:dur="2000" advTm="28630"/>
    </mc:Choice>
    <mc:Fallback xmlns="">
      <p:transition spd="slow" advTm="286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7" name="文本框 6">
            <a:extLst>
              <a:ext uri="{FF2B5EF4-FFF2-40B4-BE49-F238E27FC236}">
                <a16:creationId xmlns:a16="http://schemas.microsoft.com/office/drawing/2014/main" id="{9419467B-F1AC-40FB-BC0C-33610DD32899}"/>
              </a:ext>
            </a:extLst>
          </p:cNvPr>
          <p:cNvSpPr txBox="1"/>
          <p:nvPr/>
        </p:nvSpPr>
        <p:spPr>
          <a:xfrm>
            <a:off x="330200" y="1353255"/>
            <a:ext cx="3602268"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并行性识别模型 </a:t>
            </a:r>
            <a:r>
              <a:rPr lang="en-US" altLang="zh-CN" dirty="0"/>
              <a:t>—— </a:t>
            </a:r>
            <a:r>
              <a:rPr lang="zh-CN" altLang="en-US" dirty="0"/>
              <a:t>损失函数</a:t>
            </a:r>
          </a:p>
        </p:txBody>
      </p:sp>
      <p:sp>
        <p:nvSpPr>
          <p:cNvPr id="3" name="文本框 2">
            <a:extLst>
              <a:ext uri="{FF2B5EF4-FFF2-40B4-BE49-F238E27FC236}">
                <a16:creationId xmlns:a16="http://schemas.microsoft.com/office/drawing/2014/main" id="{975E5546-8F83-4F00-B960-44A0915C6D22}"/>
              </a:ext>
            </a:extLst>
          </p:cNvPr>
          <p:cNvSpPr txBox="1"/>
          <p:nvPr/>
        </p:nvSpPr>
        <p:spPr>
          <a:xfrm>
            <a:off x="330200" y="2537856"/>
            <a:ext cx="6455613" cy="369332"/>
          </a:xfrm>
          <a:prstGeom prst="rect">
            <a:avLst/>
          </a:prstGeom>
          <a:noFill/>
        </p:spPr>
        <p:txBody>
          <a:bodyPr wrap="none" rtlCol="0">
            <a:spAutoFit/>
          </a:bodyPr>
          <a:lstStyle/>
          <a:p>
            <a:r>
              <a:rPr lang="en-US" altLang="zh-CN" dirty="0"/>
              <a:t>softmax_cross_entropy_with_logits_v2</a:t>
            </a:r>
            <a:r>
              <a:rPr lang="zh-CN" altLang="en-US" dirty="0"/>
              <a:t>：对噪声数据存在缺陷</a:t>
            </a:r>
            <a:endParaRPr lang="en-US" altLang="zh-CN" dirty="0"/>
          </a:p>
        </p:txBody>
      </p:sp>
      <p:sp>
        <p:nvSpPr>
          <p:cNvPr id="10" name="左大括号 9">
            <a:extLst>
              <a:ext uri="{FF2B5EF4-FFF2-40B4-BE49-F238E27FC236}">
                <a16:creationId xmlns:a16="http://schemas.microsoft.com/office/drawing/2014/main" id="{326CAFC9-2B5B-4BBA-A0E0-74EFC1A4524E}"/>
              </a:ext>
            </a:extLst>
          </p:cNvPr>
          <p:cNvSpPr/>
          <p:nvPr/>
        </p:nvSpPr>
        <p:spPr>
          <a:xfrm>
            <a:off x="6775119" y="2091919"/>
            <a:ext cx="139920" cy="1261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1E61CC0-0CD3-479F-863E-6D0B60978865}"/>
              </a:ext>
            </a:extLst>
          </p:cNvPr>
          <p:cNvSpPr txBox="1"/>
          <p:nvPr/>
        </p:nvSpPr>
        <p:spPr>
          <a:xfrm>
            <a:off x="7112000" y="1722587"/>
            <a:ext cx="4927600" cy="954107"/>
          </a:xfrm>
          <a:prstGeom prst="rect">
            <a:avLst/>
          </a:prstGeom>
          <a:noFill/>
        </p:spPr>
        <p:txBody>
          <a:bodyPr wrap="square" rtlCol="0">
            <a:spAutoFit/>
          </a:bodyPr>
          <a:lstStyle/>
          <a:p>
            <a:r>
              <a:rPr lang="zh-CN" altLang="en-US" sz="1400" dirty="0"/>
              <a:t>没有上界，错误的数据标签在损失值计算过程中导致了较大的异常值，对总体损失值起到了决定性作用，对训练结果产生不良影响</a:t>
            </a:r>
            <a:endParaRPr lang="en-US" altLang="zh-CN" sz="1400" dirty="0"/>
          </a:p>
          <a:p>
            <a:r>
              <a:rPr lang="zh-CN" altLang="en-US" sz="1400" dirty="0">
                <a:solidFill>
                  <a:srgbClr val="3399FF"/>
                </a:solidFill>
              </a:rPr>
              <a:t>（往往一个</a:t>
            </a:r>
            <a:r>
              <a:rPr lang="en-US" altLang="zh-CN" sz="1400" dirty="0">
                <a:solidFill>
                  <a:srgbClr val="3399FF"/>
                </a:solidFill>
              </a:rPr>
              <a:t>batch</a:t>
            </a:r>
            <a:r>
              <a:rPr lang="zh-CN" altLang="en-US" sz="1400" dirty="0">
                <a:solidFill>
                  <a:srgbClr val="3399FF"/>
                </a:solidFill>
              </a:rPr>
              <a:t>中使用损失值的均值作为本</a:t>
            </a:r>
            <a:r>
              <a:rPr lang="en-US" altLang="zh-CN" sz="1400" dirty="0">
                <a:solidFill>
                  <a:srgbClr val="3399FF"/>
                </a:solidFill>
              </a:rPr>
              <a:t>batch</a:t>
            </a:r>
            <a:r>
              <a:rPr lang="zh-CN" altLang="en-US" sz="1400" dirty="0">
                <a:solidFill>
                  <a:srgbClr val="3399FF"/>
                </a:solidFill>
              </a:rPr>
              <a:t>的损失值）</a:t>
            </a:r>
            <a:endParaRPr lang="en-US" altLang="zh-CN" sz="1400" dirty="0">
              <a:solidFill>
                <a:srgbClr val="3399FF"/>
              </a:solidFill>
            </a:endParaRPr>
          </a:p>
        </p:txBody>
      </p:sp>
      <p:sp>
        <p:nvSpPr>
          <p:cNvPr id="12" name="文本框 11">
            <a:extLst>
              <a:ext uri="{FF2B5EF4-FFF2-40B4-BE49-F238E27FC236}">
                <a16:creationId xmlns:a16="http://schemas.microsoft.com/office/drawing/2014/main" id="{C77F8A90-F8DC-4E4B-8460-D645DAA9ED8F}"/>
              </a:ext>
            </a:extLst>
          </p:cNvPr>
          <p:cNvSpPr txBox="1"/>
          <p:nvPr/>
        </p:nvSpPr>
        <p:spPr>
          <a:xfrm>
            <a:off x="7112000" y="2984120"/>
            <a:ext cx="4927600" cy="954107"/>
          </a:xfrm>
          <a:prstGeom prst="rect">
            <a:avLst/>
          </a:prstGeom>
          <a:noFill/>
        </p:spPr>
        <p:txBody>
          <a:bodyPr wrap="square" rtlCol="0">
            <a:spAutoFit/>
          </a:bodyPr>
          <a:lstStyle/>
          <a:p>
            <a:r>
              <a:rPr lang="zh-CN" altLang="en-US" sz="1400" dirty="0"/>
              <a:t>由于逻辑损失函数在传递过程尾部以指数方式快速衰减，因此为了使错误标签的函数值更加接近于</a:t>
            </a:r>
            <a:r>
              <a:rPr lang="en-US" altLang="zh-CN" sz="1400" dirty="0"/>
              <a:t>0</a:t>
            </a:r>
            <a:r>
              <a:rPr lang="zh-CN" altLang="en-US" sz="1400" dirty="0"/>
              <a:t>，会将决策边界更接近于错误的数据标签，降低训练的准确率</a:t>
            </a:r>
            <a:endParaRPr lang="en-US" altLang="zh-CN" sz="1400" dirty="0"/>
          </a:p>
          <a:p>
            <a:r>
              <a:rPr lang="zh-CN" altLang="en-US" sz="1400" dirty="0">
                <a:solidFill>
                  <a:srgbClr val="3399FF"/>
                </a:solidFill>
              </a:rPr>
              <a:t>（总认为数据是对的，错的也要让它像对的）</a:t>
            </a:r>
          </a:p>
        </p:txBody>
      </p:sp>
      <p:sp>
        <p:nvSpPr>
          <p:cNvPr id="13" name="左大括号 12">
            <a:extLst>
              <a:ext uri="{FF2B5EF4-FFF2-40B4-BE49-F238E27FC236}">
                <a16:creationId xmlns:a16="http://schemas.microsoft.com/office/drawing/2014/main" id="{A1F13B3A-B7C7-40FD-92C2-BE2E8395977B}"/>
              </a:ext>
            </a:extLst>
          </p:cNvPr>
          <p:cNvSpPr/>
          <p:nvPr/>
        </p:nvSpPr>
        <p:spPr>
          <a:xfrm>
            <a:off x="6785813" y="4200119"/>
            <a:ext cx="139920" cy="126153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DFAE428F-41EE-43AF-A06E-E5AA8940D37C}"/>
              </a:ext>
            </a:extLst>
          </p:cNvPr>
          <p:cNvSpPr txBox="1"/>
          <p:nvPr/>
        </p:nvSpPr>
        <p:spPr>
          <a:xfrm>
            <a:off x="7112000" y="4200119"/>
            <a:ext cx="1151277" cy="369332"/>
          </a:xfrm>
          <a:prstGeom prst="rect">
            <a:avLst/>
          </a:prstGeom>
          <a:noFill/>
        </p:spPr>
        <p:txBody>
          <a:bodyPr wrap="none" rtlCol="0">
            <a:spAutoFit/>
          </a:bodyPr>
          <a:lstStyle/>
          <a:p>
            <a:r>
              <a:rPr lang="en-US" altLang="zh-CN" dirty="0"/>
              <a:t>0 &lt; t1 ≤ 1</a:t>
            </a:r>
            <a:endParaRPr lang="zh-CN" altLang="en-US" dirty="0"/>
          </a:p>
        </p:txBody>
      </p:sp>
      <p:sp>
        <p:nvSpPr>
          <p:cNvPr id="15" name="文本框 14">
            <a:extLst>
              <a:ext uri="{FF2B5EF4-FFF2-40B4-BE49-F238E27FC236}">
                <a16:creationId xmlns:a16="http://schemas.microsoft.com/office/drawing/2014/main" id="{44096D13-30C5-4382-8702-9D33D8AC4AFD}"/>
              </a:ext>
            </a:extLst>
          </p:cNvPr>
          <p:cNvSpPr txBox="1"/>
          <p:nvPr/>
        </p:nvSpPr>
        <p:spPr>
          <a:xfrm>
            <a:off x="7112000" y="5092319"/>
            <a:ext cx="760144" cy="369332"/>
          </a:xfrm>
          <a:prstGeom prst="rect">
            <a:avLst/>
          </a:prstGeom>
          <a:noFill/>
        </p:spPr>
        <p:txBody>
          <a:bodyPr wrap="none" rtlCol="0">
            <a:spAutoFit/>
          </a:bodyPr>
          <a:lstStyle/>
          <a:p>
            <a:r>
              <a:rPr lang="en-US" altLang="zh-CN" dirty="0"/>
              <a:t>t2 ≥ 1</a:t>
            </a:r>
            <a:endParaRPr lang="zh-CN" altLang="en-US" dirty="0"/>
          </a:p>
        </p:txBody>
      </p:sp>
      <p:sp>
        <p:nvSpPr>
          <p:cNvPr id="16" name="文本框 15">
            <a:extLst>
              <a:ext uri="{FF2B5EF4-FFF2-40B4-BE49-F238E27FC236}">
                <a16:creationId xmlns:a16="http://schemas.microsoft.com/office/drawing/2014/main" id="{F47667EC-1CB3-4CEF-858B-A7AD2F4C3C38}"/>
              </a:ext>
            </a:extLst>
          </p:cNvPr>
          <p:cNvSpPr txBox="1"/>
          <p:nvPr/>
        </p:nvSpPr>
        <p:spPr>
          <a:xfrm>
            <a:off x="237065" y="5670093"/>
            <a:ext cx="10346102" cy="369332"/>
          </a:xfrm>
          <a:prstGeom prst="rect">
            <a:avLst/>
          </a:prstGeom>
          <a:noFill/>
        </p:spPr>
        <p:txBody>
          <a:bodyPr wrap="none" rtlCol="0">
            <a:spAutoFit/>
          </a:bodyPr>
          <a:lstStyle/>
          <a:p>
            <a:r>
              <a:rPr lang="zh-CN" altLang="en-US" dirty="0">
                <a:solidFill>
                  <a:srgbClr val="FF0000"/>
                </a:solidFill>
              </a:rPr>
              <a:t>假设：</a:t>
            </a:r>
            <a:r>
              <a:rPr lang="en-US" altLang="zh-CN" dirty="0">
                <a:solidFill>
                  <a:srgbClr val="FF0000"/>
                </a:solidFill>
              </a:rPr>
              <a:t>GFCPD</a:t>
            </a:r>
            <a:r>
              <a:rPr lang="zh-CN" altLang="en-US" dirty="0">
                <a:solidFill>
                  <a:srgbClr val="FF0000"/>
                </a:solidFill>
              </a:rPr>
              <a:t>数据集构造过程中由于人工的因素引入了随机误差，对以上两个函数进行了对比实验</a:t>
            </a:r>
          </a:p>
        </p:txBody>
      </p:sp>
      <p:sp>
        <p:nvSpPr>
          <p:cNvPr id="2" name="矩形 1">
            <a:extLst>
              <a:ext uri="{FF2B5EF4-FFF2-40B4-BE49-F238E27FC236}">
                <a16:creationId xmlns:a16="http://schemas.microsoft.com/office/drawing/2014/main" id="{E78D8057-5C91-4446-8A6D-A942382017EB}"/>
              </a:ext>
            </a:extLst>
          </p:cNvPr>
          <p:cNvSpPr/>
          <p:nvPr/>
        </p:nvSpPr>
        <p:spPr>
          <a:xfrm>
            <a:off x="330200" y="4646219"/>
            <a:ext cx="6269346" cy="369332"/>
          </a:xfrm>
          <a:prstGeom prst="rect">
            <a:avLst/>
          </a:prstGeom>
        </p:spPr>
        <p:txBody>
          <a:bodyPr wrap="square">
            <a:spAutoFit/>
          </a:bodyPr>
          <a:lstStyle/>
          <a:p>
            <a:r>
              <a:rPr lang="en-US" altLang="zh-CN" dirty="0"/>
              <a:t>Bi-Tempered Logistic Loss</a:t>
            </a:r>
            <a:r>
              <a:rPr lang="zh-CN" altLang="en-US" dirty="0"/>
              <a:t>：通过 </a:t>
            </a:r>
            <a:r>
              <a:rPr lang="en-US" altLang="zh-CN" dirty="0"/>
              <a:t>t1 </a:t>
            </a:r>
            <a:r>
              <a:rPr lang="zh-CN" altLang="en-US" dirty="0"/>
              <a:t>、</a:t>
            </a:r>
            <a:r>
              <a:rPr lang="en-US" altLang="zh-CN" dirty="0"/>
              <a:t>t2 </a:t>
            </a:r>
            <a:r>
              <a:rPr lang="zh-CN" altLang="en-US" dirty="0"/>
              <a:t>两个参数弥补缺陷</a:t>
            </a:r>
          </a:p>
        </p:txBody>
      </p:sp>
    </p:spTree>
    <p:custDataLst>
      <p:tags r:id="rId1"/>
    </p:custDataLst>
    <p:extLst>
      <p:ext uri="{BB962C8B-B14F-4D97-AF65-F5344CB8AC3E}">
        <p14:creationId xmlns:p14="http://schemas.microsoft.com/office/powerpoint/2010/main" val="746940298"/>
      </p:ext>
    </p:extLst>
  </p:cSld>
  <p:clrMapOvr>
    <a:masterClrMapping/>
  </p:clrMapOvr>
  <mc:AlternateContent xmlns:mc="http://schemas.openxmlformats.org/markup-compatibility/2006" xmlns:p14="http://schemas.microsoft.com/office/powerpoint/2010/main">
    <mc:Choice Requires="p14">
      <p:transition spd="slow" p14:dur="2000" advTm="63329"/>
    </mc:Choice>
    <mc:Fallback xmlns="">
      <p:transition spd="slow" advTm="633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p:bldP spid="12" grpId="0"/>
      <p:bldP spid="13" grpId="0" animBg="1"/>
      <p:bldP spid="14" grpId="0"/>
      <p:bldP spid="15" grpId="0"/>
      <p:bldP spid="16"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17" name="文本框 16">
            <a:extLst>
              <a:ext uri="{FF2B5EF4-FFF2-40B4-BE49-F238E27FC236}">
                <a16:creationId xmlns:a16="http://schemas.microsoft.com/office/drawing/2014/main" id="{402BDE42-30CC-4430-B687-CF7D48B398AC}"/>
              </a:ext>
            </a:extLst>
          </p:cNvPr>
          <p:cNvSpPr txBox="1"/>
          <p:nvPr/>
        </p:nvSpPr>
        <p:spPr>
          <a:xfrm>
            <a:off x="330200" y="1353255"/>
            <a:ext cx="3602268"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并行性识别模型 </a:t>
            </a:r>
            <a:r>
              <a:rPr lang="en-US" altLang="zh-CN" dirty="0"/>
              <a:t>—— </a:t>
            </a:r>
            <a:r>
              <a:rPr lang="zh-CN" altLang="en-US" dirty="0"/>
              <a:t>损失函数</a:t>
            </a:r>
          </a:p>
        </p:txBody>
      </p:sp>
      <p:pic>
        <p:nvPicPr>
          <p:cNvPr id="4" name="图片 3">
            <a:extLst>
              <a:ext uri="{FF2B5EF4-FFF2-40B4-BE49-F238E27FC236}">
                <a16:creationId xmlns:a16="http://schemas.microsoft.com/office/drawing/2014/main" id="{AEBD432C-B228-4093-AD8D-59C8223135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200" y="1854200"/>
            <a:ext cx="6096000" cy="4572000"/>
          </a:xfrm>
          <a:prstGeom prst="rect">
            <a:avLst/>
          </a:prstGeom>
        </p:spPr>
      </p:pic>
      <p:graphicFrame>
        <p:nvGraphicFramePr>
          <p:cNvPr id="9" name="表格 17">
            <a:extLst>
              <a:ext uri="{FF2B5EF4-FFF2-40B4-BE49-F238E27FC236}">
                <a16:creationId xmlns:a16="http://schemas.microsoft.com/office/drawing/2014/main" id="{B55FAF4D-5873-47D7-A366-97425264C203}"/>
              </a:ext>
            </a:extLst>
          </p:cNvPr>
          <p:cNvGraphicFramePr>
            <a:graphicFrameLocks noGrp="1"/>
          </p:cNvGraphicFramePr>
          <p:nvPr>
            <p:extLst>
              <p:ext uri="{D42A27DB-BD31-4B8C-83A1-F6EECF244321}">
                <p14:modId xmlns:p14="http://schemas.microsoft.com/office/powerpoint/2010/main" val="735897028"/>
              </p:ext>
            </p:extLst>
          </p:nvPr>
        </p:nvGraphicFramePr>
        <p:xfrm>
          <a:off x="6718897" y="1854200"/>
          <a:ext cx="5142903" cy="1264830"/>
        </p:xfrm>
        <a:graphic>
          <a:graphicData uri="http://schemas.openxmlformats.org/drawingml/2006/table">
            <a:tbl>
              <a:tblPr firstRow="1" bandRow="1">
                <a:tableStyleId>{5C22544A-7EE6-4342-B048-85BDC9FD1C3A}</a:tableStyleId>
              </a:tblPr>
              <a:tblGrid>
                <a:gridCol w="1176869">
                  <a:extLst>
                    <a:ext uri="{9D8B030D-6E8A-4147-A177-3AD203B41FA5}">
                      <a16:colId xmlns:a16="http://schemas.microsoft.com/office/drawing/2014/main" val="2359423337"/>
                    </a:ext>
                  </a:extLst>
                </a:gridCol>
                <a:gridCol w="1303019">
                  <a:extLst>
                    <a:ext uri="{9D8B030D-6E8A-4147-A177-3AD203B41FA5}">
                      <a16:colId xmlns:a16="http://schemas.microsoft.com/office/drawing/2014/main" val="937954556"/>
                    </a:ext>
                  </a:extLst>
                </a:gridCol>
                <a:gridCol w="737448">
                  <a:extLst>
                    <a:ext uri="{9D8B030D-6E8A-4147-A177-3AD203B41FA5}">
                      <a16:colId xmlns:a16="http://schemas.microsoft.com/office/drawing/2014/main" val="3214822014"/>
                    </a:ext>
                  </a:extLst>
                </a:gridCol>
                <a:gridCol w="1049867">
                  <a:extLst>
                    <a:ext uri="{9D8B030D-6E8A-4147-A177-3AD203B41FA5}">
                      <a16:colId xmlns:a16="http://schemas.microsoft.com/office/drawing/2014/main" val="432230610"/>
                    </a:ext>
                  </a:extLst>
                </a:gridCol>
                <a:gridCol w="875700">
                  <a:extLst>
                    <a:ext uri="{9D8B030D-6E8A-4147-A177-3AD203B41FA5}">
                      <a16:colId xmlns:a16="http://schemas.microsoft.com/office/drawing/2014/main" val="187065490"/>
                    </a:ext>
                  </a:extLst>
                </a:gridCol>
              </a:tblGrid>
              <a:tr h="380955">
                <a:tc>
                  <a:txBody>
                    <a:bodyPr/>
                    <a:lstStyle/>
                    <a:p>
                      <a:pPr algn="ctr"/>
                      <a:r>
                        <a:rPr lang="zh-CN" altLang="en-US" dirty="0"/>
                        <a:t>损失函数</a:t>
                      </a:r>
                    </a:p>
                  </a:txBody>
                  <a:tcPr anchor="ctr">
                    <a:solidFill>
                      <a:srgbClr val="C00000"/>
                    </a:solidFill>
                  </a:tcPr>
                </a:tc>
                <a:tc>
                  <a:txBody>
                    <a:bodyPr/>
                    <a:lstStyle/>
                    <a:p>
                      <a:pPr algn="ctr"/>
                      <a:r>
                        <a:rPr lang="en-US" altLang="zh-CN" dirty="0" err="1"/>
                        <a:t>Sortpooling</a:t>
                      </a:r>
                      <a:r>
                        <a:rPr lang="en-US" altLang="zh-CN" dirty="0"/>
                        <a:t>-k</a:t>
                      </a:r>
                      <a:endParaRPr lang="zh-CN" altLang="en-US" dirty="0"/>
                    </a:p>
                  </a:txBody>
                  <a:tcPr anchor="ctr">
                    <a:solidFill>
                      <a:srgbClr val="C00000"/>
                    </a:solidFill>
                  </a:tcPr>
                </a:tc>
                <a:tc>
                  <a:txBody>
                    <a:bodyPr/>
                    <a:lstStyle/>
                    <a:p>
                      <a:pPr algn="ctr"/>
                      <a:r>
                        <a:rPr lang="en-US" altLang="zh-CN" dirty="0"/>
                        <a:t>Epoch</a:t>
                      </a:r>
                      <a:endParaRPr lang="zh-CN" altLang="en-US" dirty="0"/>
                    </a:p>
                  </a:txBody>
                  <a:tcPr anchor="ctr">
                    <a:solidFill>
                      <a:srgbClr val="C00000"/>
                    </a:solidFill>
                  </a:tcPr>
                </a:tc>
                <a:tc>
                  <a:txBody>
                    <a:bodyPr/>
                    <a:lstStyle/>
                    <a:p>
                      <a:pPr algn="ctr"/>
                      <a:r>
                        <a:rPr lang="en-US" altLang="zh-CN" dirty="0"/>
                        <a:t>Batch-size</a:t>
                      </a:r>
                      <a:endParaRPr lang="zh-CN" altLang="en-US" dirty="0"/>
                    </a:p>
                  </a:txBody>
                  <a:tcPr anchor="ctr">
                    <a:solidFill>
                      <a:srgbClr val="C00000"/>
                    </a:solidFill>
                  </a:tcPr>
                </a:tc>
                <a:tc>
                  <a:txBody>
                    <a:bodyPr/>
                    <a:lstStyle/>
                    <a:p>
                      <a:pPr algn="ctr"/>
                      <a:r>
                        <a:rPr lang="en-US" altLang="zh-CN" dirty="0"/>
                        <a:t>Acc</a:t>
                      </a:r>
                      <a:r>
                        <a:rPr lang="zh-CN" altLang="en-US" dirty="0"/>
                        <a:t>（</a:t>
                      </a:r>
                      <a:r>
                        <a:rPr lang="en-US" altLang="zh-CN" dirty="0"/>
                        <a:t>%</a:t>
                      </a:r>
                      <a:r>
                        <a:rPr lang="zh-CN" altLang="en-US" dirty="0"/>
                        <a:t>）</a:t>
                      </a:r>
                    </a:p>
                  </a:txBody>
                  <a:tcPr anchor="ctr">
                    <a:solidFill>
                      <a:srgbClr val="C00000"/>
                    </a:solidFill>
                  </a:tcPr>
                </a:tc>
                <a:extLst>
                  <a:ext uri="{0D108BD9-81ED-4DB2-BD59-A6C34878D82A}">
                    <a16:rowId xmlns:a16="http://schemas.microsoft.com/office/drawing/2014/main" val="1393022675"/>
                  </a:ext>
                </a:extLst>
              </a:tr>
              <a:tr h="380955">
                <a:tc>
                  <a:txBody>
                    <a:bodyPr/>
                    <a:lstStyle/>
                    <a:p>
                      <a:pPr algn="ctr"/>
                      <a:r>
                        <a:rPr lang="en-US" altLang="zh-CN" dirty="0" err="1"/>
                        <a:t>softmax</a:t>
                      </a:r>
                      <a:endParaRPr lang="zh-CN" altLang="en-US" dirty="0"/>
                    </a:p>
                  </a:txBody>
                  <a:tcPr anchor="ctr"/>
                </a:tc>
                <a:tc>
                  <a:txBody>
                    <a:bodyPr/>
                    <a:lstStyle/>
                    <a:p>
                      <a:pPr algn="ctr"/>
                      <a:r>
                        <a:rPr lang="en-US" altLang="zh-CN" dirty="0"/>
                        <a:t>131</a:t>
                      </a:r>
                      <a:endParaRPr lang="zh-CN" altLang="en-US" dirty="0"/>
                    </a:p>
                  </a:txBody>
                  <a:tcPr anchor="ctr"/>
                </a:tc>
                <a:tc>
                  <a:txBody>
                    <a:bodyPr/>
                    <a:lstStyle/>
                    <a:p>
                      <a:pPr algn="ctr"/>
                      <a:r>
                        <a:rPr lang="en-US" altLang="zh-CN" dirty="0"/>
                        <a:t>200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84.20</a:t>
                      </a:r>
                      <a:endParaRPr lang="zh-CN" altLang="en-US" dirty="0"/>
                    </a:p>
                  </a:txBody>
                  <a:tcPr anchor="ctr"/>
                </a:tc>
                <a:extLst>
                  <a:ext uri="{0D108BD9-81ED-4DB2-BD59-A6C34878D82A}">
                    <a16:rowId xmlns:a16="http://schemas.microsoft.com/office/drawing/2014/main" val="1626468237"/>
                  </a:ext>
                </a:extLst>
              </a:tr>
              <a:tr h="380955">
                <a:tc>
                  <a:txBody>
                    <a:bodyPr/>
                    <a:lstStyle/>
                    <a:p>
                      <a:pPr algn="ctr"/>
                      <a:r>
                        <a:rPr lang="en-US" altLang="zh-CN" dirty="0"/>
                        <a:t>Bi-Tempered</a:t>
                      </a:r>
                    </a:p>
                    <a:p>
                      <a:pPr algn="ctr"/>
                      <a:r>
                        <a:rPr lang="zh-CN" altLang="en-US" dirty="0"/>
                        <a:t>（</a:t>
                      </a:r>
                      <a:r>
                        <a:rPr lang="en-US" altLang="zh-CN" dirty="0"/>
                        <a:t>0.5</a:t>
                      </a:r>
                      <a:r>
                        <a:rPr lang="zh-CN" altLang="en-US" dirty="0"/>
                        <a:t>，</a:t>
                      </a:r>
                      <a:r>
                        <a:rPr lang="en-US" altLang="zh-CN" dirty="0"/>
                        <a:t>1.5</a:t>
                      </a:r>
                      <a:r>
                        <a:rPr lang="zh-CN" altLang="en-US" dirty="0"/>
                        <a:t>）</a:t>
                      </a:r>
                    </a:p>
                  </a:txBody>
                  <a:tcPr anchor="ctr"/>
                </a:tc>
                <a:tc>
                  <a:txBody>
                    <a:bodyPr/>
                    <a:lstStyle/>
                    <a:p>
                      <a:pPr algn="ctr"/>
                      <a:r>
                        <a:rPr lang="en-US" altLang="zh-CN" dirty="0"/>
                        <a:t>131</a:t>
                      </a:r>
                      <a:endParaRPr lang="zh-CN" altLang="en-US" dirty="0"/>
                    </a:p>
                  </a:txBody>
                  <a:tcPr anchor="ctr"/>
                </a:tc>
                <a:tc>
                  <a:txBody>
                    <a:bodyPr/>
                    <a:lstStyle/>
                    <a:p>
                      <a:pPr algn="ctr"/>
                      <a:r>
                        <a:rPr lang="en-US" altLang="zh-CN" dirty="0"/>
                        <a:t>200</a:t>
                      </a:r>
                      <a:endParaRPr lang="zh-CN" altLang="en-US" dirty="0"/>
                    </a:p>
                  </a:txBody>
                  <a:tcPr anchor="ctr"/>
                </a:tc>
                <a:tc>
                  <a:txBody>
                    <a:bodyPr/>
                    <a:lstStyle/>
                    <a:p>
                      <a:pPr algn="ctr"/>
                      <a:r>
                        <a:rPr lang="en-US" altLang="zh-CN" dirty="0"/>
                        <a:t>1</a:t>
                      </a:r>
                      <a:endParaRPr lang="zh-CN" altLang="en-US" dirty="0"/>
                    </a:p>
                  </a:txBody>
                  <a:tcPr anchor="ctr"/>
                </a:tc>
                <a:tc>
                  <a:txBody>
                    <a:bodyPr/>
                    <a:lstStyle/>
                    <a:p>
                      <a:pPr algn="ctr"/>
                      <a:r>
                        <a:rPr lang="en-US" altLang="zh-CN" dirty="0"/>
                        <a:t>87.559</a:t>
                      </a:r>
                      <a:endParaRPr lang="zh-CN" altLang="en-US" dirty="0"/>
                    </a:p>
                  </a:txBody>
                  <a:tcPr anchor="ctr"/>
                </a:tc>
                <a:extLst>
                  <a:ext uri="{0D108BD9-81ED-4DB2-BD59-A6C34878D82A}">
                    <a16:rowId xmlns:a16="http://schemas.microsoft.com/office/drawing/2014/main" val="1541599115"/>
                  </a:ext>
                </a:extLst>
              </a:tr>
            </a:tbl>
          </a:graphicData>
        </a:graphic>
      </p:graphicFrame>
      <p:sp>
        <p:nvSpPr>
          <p:cNvPr id="19" name="文本框 18">
            <a:extLst>
              <a:ext uri="{FF2B5EF4-FFF2-40B4-BE49-F238E27FC236}">
                <a16:creationId xmlns:a16="http://schemas.microsoft.com/office/drawing/2014/main" id="{24D588FC-5A35-49CA-8DD7-C0BE0A459D2F}"/>
              </a:ext>
            </a:extLst>
          </p:cNvPr>
          <p:cNvSpPr txBox="1"/>
          <p:nvPr/>
        </p:nvSpPr>
        <p:spPr>
          <a:xfrm>
            <a:off x="6807200" y="3640667"/>
            <a:ext cx="5186035" cy="1754326"/>
          </a:xfrm>
          <a:prstGeom prst="rect">
            <a:avLst/>
          </a:prstGeom>
          <a:noFill/>
        </p:spPr>
        <p:txBody>
          <a:bodyPr wrap="none" rtlCol="0">
            <a:spAutoFit/>
          </a:bodyPr>
          <a:lstStyle/>
          <a:p>
            <a:r>
              <a:rPr lang="en-US" altLang="zh-CN" dirty="0">
                <a:solidFill>
                  <a:srgbClr val="FF0000"/>
                </a:solidFill>
              </a:rPr>
              <a:t>Bi-Tempered Logistic Loss</a:t>
            </a:r>
            <a:r>
              <a:rPr lang="zh-CN" altLang="en-US" dirty="0">
                <a:solidFill>
                  <a:srgbClr val="FF0000"/>
                </a:solidFill>
              </a:rPr>
              <a:t>在</a:t>
            </a:r>
            <a:r>
              <a:rPr lang="en-US" altLang="zh-CN" dirty="0">
                <a:solidFill>
                  <a:srgbClr val="FF0000"/>
                </a:solidFill>
              </a:rPr>
              <a:t>GFCPD</a:t>
            </a:r>
            <a:r>
              <a:rPr lang="zh-CN" altLang="en-US" dirty="0">
                <a:solidFill>
                  <a:srgbClr val="FF0000"/>
                </a:solidFill>
              </a:rPr>
              <a:t>数据集上的</a:t>
            </a:r>
            <a:endParaRPr lang="en-US" altLang="zh-CN" dirty="0">
              <a:solidFill>
                <a:srgbClr val="FF0000"/>
              </a:solidFill>
            </a:endParaRPr>
          </a:p>
          <a:p>
            <a:r>
              <a:rPr lang="zh-CN" altLang="en-US" dirty="0">
                <a:solidFill>
                  <a:srgbClr val="FF0000"/>
                </a:solidFill>
              </a:rPr>
              <a:t>表现优于</a:t>
            </a:r>
            <a:r>
              <a:rPr lang="en-US" altLang="zh-CN" dirty="0" err="1">
                <a:solidFill>
                  <a:srgbClr val="FF0000"/>
                </a:solidFill>
              </a:rPr>
              <a:t>Softmax</a:t>
            </a:r>
            <a:r>
              <a:rPr lang="zh-CN" altLang="en-US" dirty="0">
                <a:solidFill>
                  <a:srgbClr val="FF0000"/>
                </a:solidFill>
              </a:rPr>
              <a:t>交叉熵损失函数，假设在一定程</a:t>
            </a:r>
            <a:endParaRPr lang="en-US" altLang="zh-CN" dirty="0">
              <a:solidFill>
                <a:srgbClr val="FF0000"/>
              </a:solidFill>
            </a:endParaRPr>
          </a:p>
          <a:p>
            <a:r>
              <a:rPr lang="zh-CN" altLang="en-US" dirty="0">
                <a:solidFill>
                  <a:srgbClr val="FF0000"/>
                </a:solidFill>
              </a:rPr>
              <a:t>度上成立。</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因此，识别模型中的损失函数采用</a:t>
            </a:r>
            <a:r>
              <a:rPr lang="en-US" altLang="zh-CN" dirty="0">
                <a:solidFill>
                  <a:srgbClr val="FF0000"/>
                </a:solidFill>
              </a:rPr>
              <a:t>Bi-Tempered </a:t>
            </a:r>
          </a:p>
          <a:p>
            <a:r>
              <a:rPr lang="en-US" altLang="zh-CN" dirty="0">
                <a:solidFill>
                  <a:srgbClr val="FF0000"/>
                </a:solidFill>
              </a:rPr>
              <a:t>Logistic Loss</a:t>
            </a:r>
            <a:r>
              <a:rPr lang="zh-CN" altLang="en-US" dirty="0">
                <a:solidFill>
                  <a:srgbClr val="FF0000"/>
                </a:solidFill>
              </a:rPr>
              <a:t>。</a:t>
            </a:r>
          </a:p>
        </p:txBody>
      </p:sp>
    </p:spTree>
    <p:custDataLst>
      <p:tags r:id="rId1"/>
    </p:custDataLst>
    <p:extLst>
      <p:ext uri="{BB962C8B-B14F-4D97-AF65-F5344CB8AC3E}">
        <p14:creationId xmlns:p14="http://schemas.microsoft.com/office/powerpoint/2010/main" val="4150414882"/>
      </p:ext>
    </p:extLst>
  </p:cSld>
  <p:clrMapOvr>
    <a:masterClrMapping/>
  </p:clrMapOvr>
  <mc:AlternateContent xmlns:mc="http://schemas.openxmlformats.org/markup-compatibility/2006" xmlns:p14="http://schemas.microsoft.com/office/powerpoint/2010/main">
    <mc:Choice Requires="p14">
      <p:transition spd="slow" p14:dur="2000" advTm="34141"/>
    </mc:Choice>
    <mc:Fallback xmlns="">
      <p:transition spd="slow" advTm="341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7DB36D3E-9330-485A-97CB-3FE17F422217}"/>
              </a:ext>
            </a:extLst>
          </p:cNvPr>
          <p:cNvSpPr txBox="1"/>
          <p:nvPr/>
        </p:nvSpPr>
        <p:spPr>
          <a:xfrm>
            <a:off x="237065" y="300158"/>
            <a:ext cx="9541935" cy="584775"/>
          </a:xfrm>
          <a:prstGeom prst="rect">
            <a:avLst/>
          </a:prstGeom>
          <a:noFill/>
        </p:spPr>
        <p:txBody>
          <a:bodyPr wrap="square" rtlCol="0">
            <a:spAutoFit/>
          </a:bodyPr>
          <a:lstStyle/>
          <a:p>
            <a:r>
              <a:rPr lang="zh-CN" altLang="en-US" sz="3200" b="1" dirty="0">
                <a:latin typeface="+mn-ea"/>
              </a:rPr>
              <a:t>基于深度学习的程序并行性识别方法 </a:t>
            </a:r>
            <a:r>
              <a:rPr lang="en-US" altLang="zh-CN" sz="3200" b="1" dirty="0">
                <a:latin typeface="+mn-ea"/>
              </a:rPr>
              <a:t>—— </a:t>
            </a:r>
            <a:r>
              <a:rPr lang="zh-CN" altLang="en-US" sz="3200" b="1" dirty="0">
                <a:latin typeface="+mn-ea"/>
              </a:rPr>
              <a:t>识别模型</a:t>
            </a:r>
          </a:p>
        </p:txBody>
      </p:sp>
      <p:sp>
        <p:nvSpPr>
          <p:cNvPr id="17" name="文本框 16">
            <a:extLst>
              <a:ext uri="{FF2B5EF4-FFF2-40B4-BE49-F238E27FC236}">
                <a16:creationId xmlns:a16="http://schemas.microsoft.com/office/drawing/2014/main" id="{402BDE42-30CC-4430-B687-CF7D48B398AC}"/>
              </a:ext>
            </a:extLst>
          </p:cNvPr>
          <p:cNvSpPr txBox="1"/>
          <p:nvPr/>
        </p:nvSpPr>
        <p:spPr>
          <a:xfrm>
            <a:off x="330200" y="1353255"/>
            <a:ext cx="3602268"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并行性识别模型 </a:t>
            </a:r>
            <a:r>
              <a:rPr lang="en-US" altLang="zh-CN" dirty="0"/>
              <a:t>—— </a:t>
            </a:r>
            <a:r>
              <a:rPr lang="zh-CN" altLang="en-US" dirty="0"/>
              <a:t>对比实验</a:t>
            </a:r>
          </a:p>
        </p:txBody>
      </p:sp>
      <p:graphicFrame>
        <p:nvGraphicFramePr>
          <p:cNvPr id="2" name="表格 2">
            <a:extLst>
              <a:ext uri="{FF2B5EF4-FFF2-40B4-BE49-F238E27FC236}">
                <a16:creationId xmlns:a16="http://schemas.microsoft.com/office/drawing/2014/main" id="{619BBEAB-CC7F-41BA-BB7E-820FD23AAD41}"/>
              </a:ext>
            </a:extLst>
          </p:cNvPr>
          <p:cNvGraphicFramePr>
            <a:graphicFrameLocks noGrp="1"/>
          </p:cNvGraphicFramePr>
          <p:nvPr>
            <p:extLst>
              <p:ext uri="{D42A27DB-BD31-4B8C-83A1-F6EECF244321}">
                <p14:modId xmlns:p14="http://schemas.microsoft.com/office/powerpoint/2010/main" val="2435149830"/>
              </p:ext>
            </p:extLst>
          </p:nvPr>
        </p:nvGraphicFramePr>
        <p:xfrm>
          <a:off x="330200" y="1941312"/>
          <a:ext cx="3691468" cy="3387428"/>
        </p:xfrm>
        <a:graphic>
          <a:graphicData uri="http://schemas.openxmlformats.org/drawingml/2006/table">
            <a:tbl>
              <a:tblPr firstRow="1" bandRow="1">
                <a:tableStyleId>{5C22544A-7EE6-4342-B048-85BDC9FD1C3A}</a:tableStyleId>
              </a:tblPr>
              <a:tblGrid>
                <a:gridCol w="1845734">
                  <a:extLst>
                    <a:ext uri="{9D8B030D-6E8A-4147-A177-3AD203B41FA5}">
                      <a16:colId xmlns:a16="http://schemas.microsoft.com/office/drawing/2014/main" val="2356473135"/>
                    </a:ext>
                  </a:extLst>
                </a:gridCol>
                <a:gridCol w="1845734">
                  <a:extLst>
                    <a:ext uri="{9D8B030D-6E8A-4147-A177-3AD203B41FA5}">
                      <a16:colId xmlns:a16="http://schemas.microsoft.com/office/drawing/2014/main" val="2558703219"/>
                    </a:ext>
                  </a:extLst>
                </a:gridCol>
              </a:tblGrid>
              <a:tr h="386281">
                <a:tc>
                  <a:txBody>
                    <a:bodyPr/>
                    <a:lstStyle/>
                    <a:p>
                      <a:r>
                        <a:rPr lang="zh-CN" altLang="en-US" dirty="0"/>
                        <a:t>参数名称</a:t>
                      </a:r>
                    </a:p>
                  </a:txBody>
                  <a:tcPr>
                    <a:solidFill>
                      <a:srgbClr val="C00000"/>
                    </a:solidFill>
                  </a:tcPr>
                </a:tc>
                <a:tc>
                  <a:txBody>
                    <a:bodyPr/>
                    <a:lstStyle/>
                    <a:p>
                      <a:r>
                        <a:rPr lang="zh-CN" altLang="en-US" dirty="0"/>
                        <a:t>参数值</a:t>
                      </a:r>
                    </a:p>
                  </a:txBody>
                  <a:tcPr>
                    <a:solidFill>
                      <a:srgbClr val="C00000"/>
                    </a:solidFill>
                  </a:tcPr>
                </a:tc>
                <a:extLst>
                  <a:ext uri="{0D108BD9-81ED-4DB2-BD59-A6C34878D82A}">
                    <a16:rowId xmlns:a16="http://schemas.microsoft.com/office/drawing/2014/main" val="3931066368"/>
                  </a:ext>
                </a:extLst>
              </a:tr>
              <a:tr h="386281">
                <a:tc>
                  <a:txBody>
                    <a:bodyPr/>
                    <a:lstStyle/>
                    <a:p>
                      <a:r>
                        <a:rPr lang="zh-CN" altLang="en-US" dirty="0"/>
                        <a:t>图卷积层</a:t>
                      </a:r>
                    </a:p>
                  </a:txBody>
                  <a:tcPr/>
                </a:tc>
                <a:tc>
                  <a:txBody>
                    <a:bodyPr/>
                    <a:lstStyle/>
                    <a:p>
                      <a:r>
                        <a:rPr lang="en-US" altLang="zh-CN" dirty="0"/>
                        <a:t>4</a:t>
                      </a:r>
                      <a:endParaRPr lang="zh-CN" altLang="en-US" dirty="0"/>
                    </a:p>
                  </a:txBody>
                  <a:tcPr/>
                </a:tc>
                <a:extLst>
                  <a:ext uri="{0D108BD9-81ED-4DB2-BD59-A6C34878D82A}">
                    <a16:rowId xmlns:a16="http://schemas.microsoft.com/office/drawing/2014/main" val="1864869340"/>
                  </a:ext>
                </a:extLst>
              </a:tr>
              <a:tr h="386281">
                <a:tc>
                  <a:txBody>
                    <a:bodyPr/>
                    <a:lstStyle/>
                    <a:p>
                      <a:r>
                        <a:rPr lang="zh-CN" altLang="en-US" dirty="0"/>
                        <a:t>图卷积层输出维度</a:t>
                      </a:r>
                    </a:p>
                  </a:txBody>
                  <a:tcPr/>
                </a:tc>
                <a:tc>
                  <a:txBody>
                    <a:bodyPr/>
                    <a:lstStyle/>
                    <a:p>
                      <a:r>
                        <a:rPr lang="en-US" altLang="zh-CN" dirty="0"/>
                        <a:t>(32</a:t>
                      </a:r>
                      <a:r>
                        <a:rPr lang="zh-CN" altLang="en-US" dirty="0"/>
                        <a:t>，</a:t>
                      </a:r>
                      <a:r>
                        <a:rPr lang="en-US" altLang="zh-CN" dirty="0"/>
                        <a:t>32</a:t>
                      </a:r>
                      <a:r>
                        <a:rPr lang="zh-CN" altLang="en-US" dirty="0"/>
                        <a:t>，</a:t>
                      </a:r>
                      <a:r>
                        <a:rPr lang="en-US" altLang="zh-CN" dirty="0"/>
                        <a:t>32</a:t>
                      </a:r>
                      <a:r>
                        <a:rPr lang="zh-CN" altLang="en-US" dirty="0"/>
                        <a:t>，</a:t>
                      </a:r>
                      <a:r>
                        <a:rPr lang="en-US" altLang="zh-CN" dirty="0"/>
                        <a:t>1)</a:t>
                      </a:r>
                      <a:endParaRPr lang="zh-CN" altLang="en-US" dirty="0"/>
                    </a:p>
                  </a:txBody>
                  <a:tcPr/>
                </a:tc>
                <a:extLst>
                  <a:ext uri="{0D108BD9-81ED-4DB2-BD59-A6C34878D82A}">
                    <a16:rowId xmlns:a16="http://schemas.microsoft.com/office/drawing/2014/main" val="2454332039"/>
                  </a:ext>
                </a:extLst>
              </a:tr>
              <a:tr h="386281">
                <a:tc>
                  <a:txBody>
                    <a:bodyPr/>
                    <a:lstStyle/>
                    <a:p>
                      <a:r>
                        <a:rPr lang="zh-CN" altLang="en-US" dirty="0"/>
                        <a:t>学习率</a:t>
                      </a:r>
                    </a:p>
                  </a:txBody>
                  <a:tcPr/>
                </a:tc>
                <a:tc>
                  <a:txBody>
                    <a:bodyPr/>
                    <a:lstStyle/>
                    <a:p>
                      <a:r>
                        <a:rPr lang="en-US" altLang="zh-CN" dirty="0"/>
                        <a:t>0.0001</a:t>
                      </a:r>
                      <a:endParaRPr lang="zh-CN" altLang="en-US" dirty="0"/>
                    </a:p>
                  </a:txBody>
                  <a:tcPr/>
                </a:tc>
                <a:extLst>
                  <a:ext uri="{0D108BD9-81ED-4DB2-BD59-A6C34878D82A}">
                    <a16:rowId xmlns:a16="http://schemas.microsoft.com/office/drawing/2014/main" val="3838439153"/>
                  </a:ext>
                </a:extLst>
              </a:tr>
              <a:tr h="386281">
                <a:tc>
                  <a:txBody>
                    <a:bodyPr/>
                    <a:lstStyle/>
                    <a:p>
                      <a:r>
                        <a:rPr lang="en-US" altLang="zh-CN" dirty="0" err="1"/>
                        <a:t>Sortpooling</a:t>
                      </a:r>
                      <a:r>
                        <a:rPr lang="en-US" altLang="zh-CN" dirty="0"/>
                        <a:t>-k</a:t>
                      </a:r>
                      <a:endParaRPr lang="zh-CN" altLang="en-US" dirty="0"/>
                    </a:p>
                  </a:txBody>
                  <a:tcPr/>
                </a:tc>
                <a:tc>
                  <a:txBody>
                    <a:bodyPr/>
                    <a:lstStyle/>
                    <a:p>
                      <a:r>
                        <a:rPr lang="en-US" altLang="zh-CN" dirty="0"/>
                        <a:t>131</a:t>
                      </a:r>
                      <a:endParaRPr lang="zh-CN" altLang="en-US" dirty="0"/>
                    </a:p>
                  </a:txBody>
                  <a:tcPr/>
                </a:tc>
                <a:extLst>
                  <a:ext uri="{0D108BD9-81ED-4DB2-BD59-A6C34878D82A}">
                    <a16:rowId xmlns:a16="http://schemas.microsoft.com/office/drawing/2014/main" val="3174509146"/>
                  </a:ext>
                </a:extLst>
              </a:tr>
              <a:tr h="386281">
                <a:tc>
                  <a:txBody>
                    <a:bodyPr/>
                    <a:lstStyle/>
                    <a:p>
                      <a:r>
                        <a:rPr lang="en-US" altLang="zh-CN" dirty="0"/>
                        <a:t>Num-epoch</a:t>
                      </a:r>
                      <a:endParaRPr lang="zh-CN" altLang="en-US" dirty="0"/>
                    </a:p>
                  </a:txBody>
                  <a:tcPr/>
                </a:tc>
                <a:tc>
                  <a:txBody>
                    <a:bodyPr/>
                    <a:lstStyle/>
                    <a:p>
                      <a:r>
                        <a:rPr lang="en-US" altLang="zh-CN" dirty="0"/>
                        <a:t>100</a:t>
                      </a:r>
                      <a:endParaRPr lang="zh-CN" altLang="en-US" dirty="0"/>
                    </a:p>
                  </a:txBody>
                  <a:tcPr/>
                </a:tc>
                <a:extLst>
                  <a:ext uri="{0D108BD9-81ED-4DB2-BD59-A6C34878D82A}">
                    <a16:rowId xmlns:a16="http://schemas.microsoft.com/office/drawing/2014/main" val="3719627237"/>
                  </a:ext>
                </a:extLst>
              </a:tr>
              <a:tr h="386281">
                <a:tc>
                  <a:txBody>
                    <a:bodyPr/>
                    <a:lstStyle/>
                    <a:p>
                      <a:r>
                        <a:rPr lang="en-US" altLang="zh-CN" dirty="0"/>
                        <a:t>Batch-size</a:t>
                      </a:r>
                      <a:endParaRPr lang="zh-CN" altLang="en-US" dirty="0"/>
                    </a:p>
                  </a:txBody>
                  <a:tcPr/>
                </a:tc>
                <a:tc>
                  <a:txBody>
                    <a:bodyPr/>
                    <a:lstStyle/>
                    <a:p>
                      <a:r>
                        <a:rPr lang="en-US" altLang="zh-CN" dirty="0"/>
                        <a:t>1</a:t>
                      </a:r>
                      <a:endParaRPr lang="zh-CN" altLang="en-US" dirty="0"/>
                    </a:p>
                  </a:txBody>
                  <a:tcPr/>
                </a:tc>
                <a:extLst>
                  <a:ext uri="{0D108BD9-81ED-4DB2-BD59-A6C34878D82A}">
                    <a16:rowId xmlns:a16="http://schemas.microsoft.com/office/drawing/2014/main" val="3912227411"/>
                  </a:ext>
                </a:extLst>
              </a:tr>
              <a:tr h="386281">
                <a:tc>
                  <a:txBody>
                    <a:bodyPr/>
                    <a:lstStyle/>
                    <a:p>
                      <a:r>
                        <a:rPr lang="en-US" altLang="zh-CN" dirty="0"/>
                        <a:t>(t1</a:t>
                      </a:r>
                      <a:r>
                        <a:rPr lang="zh-CN" altLang="en-US" dirty="0"/>
                        <a:t>，</a:t>
                      </a:r>
                      <a:r>
                        <a:rPr lang="en-US" altLang="zh-CN" dirty="0"/>
                        <a:t>t2)</a:t>
                      </a:r>
                      <a:endParaRPr lang="zh-CN" altLang="en-US" dirty="0"/>
                    </a:p>
                  </a:txBody>
                  <a:tcPr/>
                </a:tc>
                <a:tc>
                  <a:txBody>
                    <a:bodyPr/>
                    <a:lstStyle/>
                    <a:p>
                      <a:r>
                        <a:rPr lang="en-US" altLang="zh-CN" dirty="0"/>
                        <a:t>(0.5</a:t>
                      </a:r>
                      <a:r>
                        <a:rPr lang="zh-CN" altLang="en-US" dirty="0"/>
                        <a:t>，</a:t>
                      </a:r>
                      <a:r>
                        <a:rPr lang="en-US" altLang="zh-CN" dirty="0"/>
                        <a:t>1.5)</a:t>
                      </a:r>
                      <a:endParaRPr lang="zh-CN" altLang="en-US" dirty="0"/>
                    </a:p>
                  </a:txBody>
                  <a:tcPr/>
                </a:tc>
                <a:extLst>
                  <a:ext uri="{0D108BD9-81ED-4DB2-BD59-A6C34878D82A}">
                    <a16:rowId xmlns:a16="http://schemas.microsoft.com/office/drawing/2014/main" val="3476542666"/>
                  </a:ext>
                </a:extLst>
              </a:tr>
              <a:tr h="0">
                <a:tc>
                  <a:txBody>
                    <a:bodyPr/>
                    <a:lstStyle/>
                    <a:p>
                      <a:r>
                        <a:rPr lang="zh-CN" altLang="en-US" dirty="0"/>
                        <a:t>训练集：测试集</a:t>
                      </a:r>
                    </a:p>
                  </a:txBody>
                  <a:tcPr/>
                </a:tc>
                <a:tc>
                  <a:txBody>
                    <a:bodyPr/>
                    <a:lstStyle/>
                    <a:p>
                      <a:r>
                        <a:rPr lang="en-US" altLang="zh-CN" dirty="0"/>
                        <a:t>7 </a:t>
                      </a:r>
                      <a:r>
                        <a:rPr lang="zh-CN" altLang="en-US" dirty="0"/>
                        <a:t>：</a:t>
                      </a:r>
                      <a:r>
                        <a:rPr lang="en-US" altLang="zh-CN" dirty="0"/>
                        <a:t>3</a:t>
                      </a:r>
                      <a:endParaRPr lang="zh-CN" altLang="en-US" dirty="0"/>
                    </a:p>
                  </a:txBody>
                  <a:tcPr/>
                </a:tc>
                <a:extLst>
                  <a:ext uri="{0D108BD9-81ED-4DB2-BD59-A6C34878D82A}">
                    <a16:rowId xmlns:a16="http://schemas.microsoft.com/office/drawing/2014/main" val="2483431047"/>
                  </a:ext>
                </a:extLst>
              </a:tr>
            </a:tbl>
          </a:graphicData>
        </a:graphic>
      </p:graphicFrame>
      <p:sp>
        <p:nvSpPr>
          <p:cNvPr id="7" name="矩形 6">
            <a:extLst>
              <a:ext uri="{FF2B5EF4-FFF2-40B4-BE49-F238E27FC236}">
                <a16:creationId xmlns:a16="http://schemas.microsoft.com/office/drawing/2014/main" id="{A89EA7EE-2586-4C0E-AB14-24FB4721009E}"/>
              </a:ext>
            </a:extLst>
          </p:cNvPr>
          <p:cNvSpPr/>
          <p:nvPr/>
        </p:nvSpPr>
        <p:spPr>
          <a:xfrm>
            <a:off x="4709729" y="1439351"/>
            <a:ext cx="4134465" cy="307777"/>
          </a:xfrm>
          <a:prstGeom prst="rect">
            <a:avLst/>
          </a:prstGeom>
        </p:spPr>
        <p:txBody>
          <a:bodyPr wrap="square">
            <a:spAutoFit/>
          </a:bodyPr>
          <a:lstStyle/>
          <a:p>
            <a:r>
              <a:rPr lang="zh-CN" altLang="en-US" sz="1400" dirty="0">
                <a:solidFill>
                  <a:srgbClr val="3399FF"/>
                </a:solidFill>
                <a:latin typeface="宋体砤約娀."/>
              </a:rPr>
              <a:t>对比实验一：与基于程序静态分析的识别方法对比</a:t>
            </a:r>
            <a:endParaRPr lang="zh-CN" altLang="en-US" sz="1400" dirty="0">
              <a:solidFill>
                <a:srgbClr val="3399FF"/>
              </a:solidFill>
            </a:endParaRPr>
          </a:p>
        </p:txBody>
      </p:sp>
      <p:sp>
        <p:nvSpPr>
          <p:cNvPr id="10" name="矩形 9">
            <a:extLst>
              <a:ext uri="{FF2B5EF4-FFF2-40B4-BE49-F238E27FC236}">
                <a16:creationId xmlns:a16="http://schemas.microsoft.com/office/drawing/2014/main" id="{F469E036-8736-4F49-A7A5-4A89EB1C8928}"/>
              </a:ext>
            </a:extLst>
          </p:cNvPr>
          <p:cNvSpPr/>
          <p:nvPr/>
        </p:nvSpPr>
        <p:spPr>
          <a:xfrm>
            <a:off x="4709729" y="2868764"/>
            <a:ext cx="4647334" cy="307777"/>
          </a:xfrm>
          <a:prstGeom prst="rect">
            <a:avLst/>
          </a:prstGeom>
        </p:spPr>
        <p:txBody>
          <a:bodyPr wrap="square">
            <a:spAutoFit/>
          </a:bodyPr>
          <a:lstStyle/>
          <a:p>
            <a:r>
              <a:rPr lang="zh-CN" altLang="en-US" sz="1400" dirty="0">
                <a:solidFill>
                  <a:srgbClr val="3399FF"/>
                </a:solidFill>
                <a:latin typeface="宋体e眠副浡渀."/>
              </a:rPr>
              <a:t>对比实验二：与结合动态特征的机器学习识别方法对比</a:t>
            </a:r>
            <a:endParaRPr lang="en-US" altLang="zh-CN" sz="1400" dirty="0">
              <a:solidFill>
                <a:srgbClr val="3399FF"/>
              </a:solidFill>
              <a:latin typeface="宋体e眠副浡渀."/>
            </a:endParaRPr>
          </a:p>
        </p:txBody>
      </p:sp>
      <p:sp>
        <p:nvSpPr>
          <p:cNvPr id="11" name="矩形 10">
            <a:extLst>
              <a:ext uri="{FF2B5EF4-FFF2-40B4-BE49-F238E27FC236}">
                <a16:creationId xmlns:a16="http://schemas.microsoft.com/office/drawing/2014/main" id="{170CFF5E-DEDA-48F0-AFA9-C9229F8921E8}"/>
              </a:ext>
            </a:extLst>
          </p:cNvPr>
          <p:cNvSpPr/>
          <p:nvPr/>
        </p:nvSpPr>
        <p:spPr>
          <a:xfrm>
            <a:off x="4709728" y="4996605"/>
            <a:ext cx="4134465" cy="307777"/>
          </a:xfrm>
          <a:prstGeom prst="rect">
            <a:avLst/>
          </a:prstGeom>
        </p:spPr>
        <p:txBody>
          <a:bodyPr wrap="square">
            <a:spAutoFit/>
          </a:bodyPr>
          <a:lstStyle/>
          <a:p>
            <a:r>
              <a:rPr lang="zh-CN" altLang="en-US" sz="1400" dirty="0">
                <a:solidFill>
                  <a:srgbClr val="3399FF"/>
                </a:solidFill>
                <a:latin typeface="宋体e眠副浡渀."/>
              </a:rPr>
              <a:t>对比实验三：与基于深度学习的算法分类模型对比</a:t>
            </a:r>
            <a:endParaRPr lang="zh-CN" altLang="en-US" sz="1400" dirty="0">
              <a:solidFill>
                <a:srgbClr val="3399FF"/>
              </a:solidFill>
            </a:endParaRPr>
          </a:p>
        </p:txBody>
      </p:sp>
      <p:graphicFrame>
        <p:nvGraphicFramePr>
          <p:cNvPr id="12" name="表格 12">
            <a:extLst>
              <a:ext uri="{FF2B5EF4-FFF2-40B4-BE49-F238E27FC236}">
                <a16:creationId xmlns:a16="http://schemas.microsoft.com/office/drawing/2014/main" id="{BE72B883-0027-4C9D-B232-808BAB841FDB}"/>
              </a:ext>
            </a:extLst>
          </p:cNvPr>
          <p:cNvGraphicFramePr>
            <a:graphicFrameLocks noGrp="1"/>
          </p:cNvGraphicFramePr>
          <p:nvPr>
            <p:extLst>
              <p:ext uri="{D42A27DB-BD31-4B8C-83A1-F6EECF244321}">
                <p14:modId xmlns:p14="http://schemas.microsoft.com/office/powerpoint/2010/main" val="2035585447"/>
              </p:ext>
            </p:extLst>
          </p:nvPr>
        </p:nvGraphicFramePr>
        <p:xfrm>
          <a:off x="4709729" y="1810142"/>
          <a:ext cx="4546599" cy="891540"/>
        </p:xfrm>
        <a:graphic>
          <a:graphicData uri="http://schemas.openxmlformats.org/drawingml/2006/table">
            <a:tbl>
              <a:tblPr firstRow="1" bandRow="1">
                <a:tableStyleId>{5C22544A-7EE6-4342-B048-85BDC9FD1C3A}</a:tableStyleId>
              </a:tblPr>
              <a:tblGrid>
                <a:gridCol w="1515533">
                  <a:extLst>
                    <a:ext uri="{9D8B030D-6E8A-4147-A177-3AD203B41FA5}">
                      <a16:colId xmlns:a16="http://schemas.microsoft.com/office/drawing/2014/main" val="1427614340"/>
                    </a:ext>
                  </a:extLst>
                </a:gridCol>
                <a:gridCol w="1515533">
                  <a:extLst>
                    <a:ext uri="{9D8B030D-6E8A-4147-A177-3AD203B41FA5}">
                      <a16:colId xmlns:a16="http://schemas.microsoft.com/office/drawing/2014/main" val="314066065"/>
                    </a:ext>
                  </a:extLst>
                </a:gridCol>
                <a:gridCol w="1515533">
                  <a:extLst>
                    <a:ext uri="{9D8B030D-6E8A-4147-A177-3AD203B41FA5}">
                      <a16:colId xmlns:a16="http://schemas.microsoft.com/office/drawing/2014/main" val="3584057571"/>
                    </a:ext>
                  </a:extLst>
                </a:gridCol>
              </a:tblGrid>
              <a:tr h="0">
                <a:tc>
                  <a:txBody>
                    <a:bodyPr/>
                    <a:lstStyle/>
                    <a:p>
                      <a:r>
                        <a:rPr lang="zh-CN" altLang="en-US" dirty="0"/>
                        <a:t>方法</a:t>
                      </a:r>
                    </a:p>
                  </a:txBody>
                  <a:tcPr>
                    <a:solidFill>
                      <a:srgbClr val="C00000"/>
                    </a:solidFill>
                  </a:tcPr>
                </a:tc>
                <a:tc>
                  <a:txBody>
                    <a:bodyPr/>
                    <a:lstStyle/>
                    <a:p>
                      <a:r>
                        <a:rPr lang="zh-CN" altLang="en-US" dirty="0"/>
                        <a:t>数据集</a:t>
                      </a:r>
                    </a:p>
                  </a:txBody>
                  <a:tcPr>
                    <a:solidFill>
                      <a:srgbClr val="C00000"/>
                    </a:solidFill>
                  </a:tcPr>
                </a:tc>
                <a:tc>
                  <a:txBody>
                    <a:bodyPr/>
                    <a:lstStyle/>
                    <a:p>
                      <a:r>
                        <a:rPr lang="zh-CN" altLang="en-US" dirty="0"/>
                        <a:t>准确率（</a:t>
                      </a:r>
                      <a:r>
                        <a:rPr lang="en-US" altLang="zh-CN" dirty="0"/>
                        <a:t>%</a:t>
                      </a:r>
                      <a:r>
                        <a:rPr lang="zh-CN" altLang="en-US" dirty="0"/>
                        <a:t>）</a:t>
                      </a:r>
                    </a:p>
                  </a:txBody>
                  <a:tcPr>
                    <a:solidFill>
                      <a:srgbClr val="C00000"/>
                    </a:solidFill>
                  </a:tcPr>
                </a:tc>
                <a:extLst>
                  <a:ext uri="{0D108BD9-81ED-4DB2-BD59-A6C34878D82A}">
                    <a16:rowId xmlns:a16="http://schemas.microsoft.com/office/drawing/2014/main" val="589605122"/>
                  </a:ext>
                </a:extLst>
              </a:tr>
              <a:tr h="0">
                <a:tc>
                  <a:txBody>
                    <a:bodyPr/>
                    <a:lstStyle/>
                    <a:p>
                      <a:r>
                        <a:rPr lang="en-US" altLang="zh-CN" dirty="0"/>
                        <a:t>Pluto</a:t>
                      </a:r>
                      <a:endParaRPr lang="zh-CN" altLang="en-US" dirty="0"/>
                    </a:p>
                  </a:txBody>
                  <a:tcPr/>
                </a:tc>
                <a:tc>
                  <a:txBody>
                    <a:bodyPr/>
                    <a:lstStyle/>
                    <a:p>
                      <a:r>
                        <a:rPr lang="zh-CN" altLang="en-US" dirty="0"/>
                        <a:t>裁剪前的</a:t>
                      </a:r>
                      <a:r>
                        <a:rPr lang="en-US" altLang="zh-CN" dirty="0"/>
                        <a:t>GFCPD</a:t>
                      </a:r>
                      <a:endParaRPr lang="zh-CN" altLang="en-US" dirty="0"/>
                    </a:p>
                  </a:txBody>
                  <a:tcPr/>
                </a:tc>
                <a:tc>
                  <a:txBody>
                    <a:bodyPr/>
                    <a:lstStyle/>
                    <a:p>
                      <a:r>
                        <a:rPr lang="en-US" altLang="zh-CN" dirty="0"/>
                        <a:t>71.60</a:t>
                      </a:r>
                      <a:endParaRPr lang="zh-CN" altLang="en-US" dirty="0"/>
                    </a:p>
                  </a:txBody>
                  <a:tcPr/>
                </a:tc>
                <a:extLst>
                  <a:ext uri="{0D108BD9-81ED-4DB2-BD59-A6C34878D82A}">
                    <a16:rowId xmlns:a16="http://schemas.microsoft.com/office/drawing/2014/main" val="4271918037"/>
                  </a:ext>
                </a:extLst>
              </a:tr>
              <a:tr h="0">
                <a:tc>
                  <a:txBody>
                    <a:bodyPr/>
                    <a:lstStyle/>
                    <a:p>
                      <a:r>
                        <a:rPr lang="en-US" altLang="zh-CN" dirty="0"/>
                        <a:t>DGCNN</a:t>
                      </a:r>
                      <a:endParaRPr lang="zh-CN" altLang="en-US" dirty="0"/>
                    </a:p>
                  </a:txBody>
                  <a:tcPr/>
                </a:tc>
                <a:tc>
                  <a:txBody>
                    <a:bodyPr/>
                    <a:lstStyle/>
                    <a:p>
                      <a:r>
                        <a:rPr lang="zh-CN" altLang="en-US" dirty="0"/>
                        <a:t>裁剪前的</a:t>
                      </a:r>
                      <a:r>
                        <a:rPr lang="en-US" altLang="zh-CN" dirty="0"/>
                        <a:t>GFCPD</a:t>
                      </a:r>
                      <a:endParaRPr lang="zh-CN" altLang="en-US" dirty="0"/>
                    </a:p>
                  </a:txBody>
                  <a:tcPr/>
                </a:tc>
                <a:tc>
                  <a:txBody>
                    <a:bodyPr/>
                    <a:lstStyle/>
                    <a:p>
                      <a:r>
                        <a:rPr lang="en-US" altLang="zh-CN" dirty="0"/>
                        <a:t>86.79</a:t>
                      </a:r>
                      <a:endParaRPr lang="zh-CN" altLang="en-US" dirty="0"/>
                    </a:p>
                  </a:txBody>
                  <a:tcPr/>
                </a:tc>
                <a:extLst>
                  <a:ext uri="{0D108BD9-81ED-4DB2-BD59-A6C34878D82A}">
                    <a16:rowId xmlns:a16="http://schemas.microsoft.com/office/drawing/2014/main" val="889822409"/>
                  </a:ext>
                </a:extLst>
              </a:tr>
            </a:tbl>
          </a:graphicData>
        </a:graphic>
      </p:graphicFrame>
      <p:graphicFrame>
        <p:nvGraphicFramePr>
          <p:cNvPr id="18" name="表格 12">
            <a:extLst>
              <a:ext uri="{FF2B5EF4-FFF2-40B4-BE49-F238E27FC236}">
                <a16:creationId xmlns:a16="http://schemas.microsoft.com/office/drawing/2014/main" id="{67BE5BD0-0D06-44F4-BB9F-3BD3ED83C9C5}"/>
              </a:ext>
            </a:extLst>
          </p:cNvPr>
          <p:cNvGraphicFramePr>
            <a:graphicFrameLocks noGrp="1"/>
          </p:cNvGraphicFramePr>
          <p:nvPr>
            <p:extLst>
              <p:ext uri="{D42A27DB-BD31-4B8C-83A1-F6EECF244321}">
                <p14:modId xmlns:p14="http://schemas.microsoft.com/office/powerpoint/2010/main" val="3758006385"/>
              </p:ext>
            </p:extLst>
          </p:nvPr>
        </p:nvGraphicFramePr>
        <p:xfrm>
          <a:off x="4709729" y="3343623"/>
          <a:ext cx="4546599" cy="1485900"/>
        </p:xfrm>
        <a:graphic>
          <a:graphicData uri="http://schemas.openxmlformats.org/drawingml/2006/table">
            <a:tbl>
              <a:tblPr firstRow="1" bandRow="1">
                <a:tableStyleId>{5C22544A-7EE6-4342-B048-85BDC9FD1C3A}</a:tableStyleId>
              </a:tblPr>
              <a:tblGrid>
                <a:gridCol w="1515533">
                  <a:extLst>
                    <a:ext uri="{9D8B030D-6E8A-4147-A177-3AD203B41FA5}">
                      <a16:colId xmlns:a16="http://schemas.microsoft.com/office/drawing/2014/main" val="1427614340"/>
                    </a:ext>
                  </a:extLst>
                </a:gridCol>
                <a:gridCol w="1515533">
                  <a:extLst>
                    <a:ext uri="{9D8B030D-6E8A-4147-A177-3AD203B41FA5}">
                      <a16:colId xmlns:a16="http://schemas.microsoft.com/office/drawing/2014/main" val="314066065"/>
                    </a:ext>
                  </a:extLst>
                </a:gridCol>
                <a:gridCol w="1515533">
                  <a:extLst>
                    <a:ext uri="{9D8B030D-6E8A-4147-A177-3AD203B41FA5}">
                      <a16:colId xmlns:a16="http://schemas.microsoft.com/office/drawing/2014/main" val="3584057571"/>
                    </a:ext>
                  </a:extLst>
                </a:gridCol>
              </a:tblGrid>
              <a:tr h="0">
                <a:tc>
                  <a:txBody>
                    <a:bodyPr/>
                    <a:lstStyle/>
                    <a:p>
                      <a:r>
                        <a:rPr lang="zh-CN" altLang="en-US" dirty="0"/>
                        <a:t>方法</a:t>
                      </a:r>
                    </a:p>
                  </a:txBody>
                  <a:tcPr>
                    <a:solidFill>
                      <a:srgbClr val="C00000"/>
                    </a:solidFill>
                  </a:tcPr>
                </a:tc>
                <a:tc>
                  <a:txBody>
                    <a:bodyPr/>
                    <a:lstStyle/>
                    <a:p>
                      <a:r>
                        <a:rPr lang="zh-CN" altLang="en-US" dirty="0"/>
                        <a:t>数据集</a:t>
                      </a:r>
                    </a:p>
                  </a:txBody>
                  <a:tcPr>
                    <a:solidFill>
                      <a:srgbClr val="C00000"/>
                    </a:solidFill>
                  </a:tcPr>
                </a:tc>
                <a:tc>
                  <a:txBody>
                    <a:bodyPr/>
                    <a:lstStyle/>
                    <a:p>
                      <a:r>
                        <a:rPr lang="zh-CN" altLang="en-US" dirty="0"/>
                        <a:t>准确率（</a:t>
                      </a:r>
                      <a:r>
                        <a:rPr lang="en-US" altLang="zh-CN" dirty="0"/>
                        <a:t>%</a:t>
                      </a:r>
                      <a:r>
                        <a:rPr lang="zh-CN" altLang="en-US" dirty="0"/>
                        <a:t>）</a:t>
                      </a:r>
                    </a:p>
                  </a:txBody>
                  <a:tcPr>
                    <a:solidFill>
                      <a:srgbClr val="C00000"/>
                    </a:solidFill>
                  </a:tcPr>
                </a:tc>
                <a:extLst>
                  <a:ext uri="{0D108BD9-81ED-4DB2-BD59-A6C34878D82A}">
                    <a16:rowId xmlns:a16="http://schemas.microsoft.com/office/drawing/2014/main" val="589605122"/>
                  </a:ext>
                </a:extLst>
              </a:tr>
              <a:tr h="0">
                <a:tc>
                  <a:txBody>
                    <a:bodyPr/>
                    <a:lstStyle/>
                    <a:p>
                      <a:r>
                        <a:rPr lang="en-US" altLang="zh-CN" dirty="0"/>
                        <a:t>SVM</a:t>
                      </a:r>
                      <a:endParaRPr lang="zh-CN" altLang="en-US" dirty="0"/>
                    </a:p>
                  </a:txBody>
                  <a:tcPr/>
                </a:tc>
                <a:tc>
                  <a:txBody>
                    <a:bodyPr/>
                    <a:lstStyle/>
                    <a:p>
                      <a:r>
                        <a:rPr lang="en-US" altLang="zh-CN" dirty="0"/>
                        <a:t>NPB</a:t>
                      </a:r>
                      <a:endParaRPr lang="zh-CN" altLang="en-US" dirty="0"/>
                    </a:p>
                  </a:txBody>
                  <a:tcPr/>
                </a:tc>
                <a:tc>
                  <a:txBody>
                    <a:bodyPr/>
                    <a:lstStyle/>
                    <a:p>
                      <a:r>
                        <a:rPr lang="en-US" altLang="zh-CN" dirty="0"/>
                        <a:t>85</a:t>
                      </a:r>
                      <a:endParaRPr lang="zh-CN" altLang="en-US" dirty="0"/>
                    </a:p>
                  </a:txBody>
                  <a:tcPr/>
                </a:tc>
                <a:extLst>
                  <a:ext uri="{0D108BD9-81ED-4DB2-BD59-A6C34878D82A}">
                    <a16:rowId xmlns:a16="http://schemas.microsoft.com/office/drawing/2014/main" val="4271918037"/>
                  </a:ext>
                </a:extLst>
              </a:tr>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Decision Tree </a:t>
                      </a:r>
                    </a:p>
                  </a:txBody>
                  <a:tcPr/>
                </a:tc>
                <a:tc>
                  <a:txBody>
                    <a:bodyPr/>
                    <a:lstStyle/>
                    <a:p>
                      <a:r>
                        <a:rPr lang="en-US" altLang="zh-CN" dirty="0"/>
                        <a:t>NPB</a:t>
                      </a:r>
                      <a:endParaRPr lang="zh-CN" altLang="en-US" dirty="0"/>
                    </a:p>
                  </a:txBody>
                  <a:tcPr/>
                </a:tc>
                <a:tc>
                  <a:txBody>
                    <a:bodyPr/>
                    <a:lstStyle/>
                    <a:p>
                      <a:r>
                        <a:rPr lang="en-US" altLang="zh-CN" dirty="0"/>
                        <a:t>85</a:t>
                      </a:r>
                      <a:endParaRPr lang="zh-CN" altLang="en-US" dirty="0"/>
                    </a:p>
                  </a:txBody>
                  <a:tcPr/>
                </a:tc>
                <a:extLst>
                  <a:ext uri="{0D108BD9-81ED-4DB2-BD59-A6C34878D82A}">
                    <a16:rowId xmlns:a16="http://schemas.microsoft.com/office/drawing/2014/main" val="626901204"/>
                  </a:ext>
                </a:extLst>
              </a:tr>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AdaBoost </a:t>
                      </a:r>
                    </a:p>
                  </a:txBody>
                  <a:tcPr/>
                </a:tc>
                <a:tc>
                  <a:txBody>
                    <a:bodyPr/>
                    <a:lstStyle/>
                    <a:p>
                      <a:r>
                        <a:rPr lang="en-US" altLang="zh-CN" dirty="0"/>
                        <a:t>NPB</a:t>
                      </a:r>
                      <a:endParaRPr lang="zh-CN" altLang="en-US" dirty="0"/>
                    </a:p>
                  </a:txBody>
                  <a:tcPr/>
                </a:tc>
                <a:tc>
                  <a:txBody>
                    <a:bodyPr/>
                    <a:lstStyle/>
                    <a:p>
                      <a:r>
                        <a:rPr lang="en-US" altLang="zh-CN" dirty="0"/>
                        <a:t>92</a:t>
                      </a:r>
                      <a:endParaRPr lang="zh-CN" altLang="en-US" dirty="0"/>
                    </a:p>
                  </a:txBody>
                  <a:tcPr/>
                </a:tc>
                <a:extLst>
                  <a:ext uri="{0D108BD9-81ED-4DB2-BD59-A6C34878D82A}">
                    <a16:rowId xmlns:a16="http://schemas.microsoft.com/office/drawing/2014/main" val="1692442668"/>
                  </a:ext>
                </a:extLst>
              </a:tr>
              <a:tr h="0">
                <a:tc>
                  <a:txBody>
                    <a:bodyPr/>
                    <a:lstStyle/>
                    <a:p>
                      <a:r>
                        <a:rPr lang="en-US" altLang="zh-CN" dirty="0"/>
                        <a:t>DGCNN</a:t>
                      </a:r>
                      <a:endParaRPr lang="zh-CN" altLang="en-US" dirty="0"/>
                    </a:p>
                  </a:txBody>
                  <a:tcPr/>
                </a:tc>
                <a:tc>
                  <a:txBody>
                    <a:bodyPr/>
                    <a:lstStyle/>
                    <a:p>
                      <a:r>
                        <a:rPr lang="en-US" altLang="zh-CN" dirty="0"/>
                        <a:t>NPB</a:t>
                      </a:r>
                      <a:endParaRPr lang="zh-CN" altLang="en-US" dirty="0"/>
                    </a:p>
                  </a:txBody>
                  <a:tcPr/>
                </a:tc>
                <a:tc>
                  <a:txBody>
                    <a:bodyPr/>
                    <a:lstStyle/>
                    <a:p>
                      <a:r>
                        <a:rPr lang="en-US" altLang="zh-CN" dirty="0"/>
                        <a:t>87.20</a:t>
                      </a:r>
                      <a:endParaRPr lang="zh-CN" altLang="en-US" dirty="0"/>
                    </a:p>
                  </a:txBody>
                  <a:tcPr/>
                </a:tc>
                <a:extLst>
                  <a:ext uri="{0D108BD9-81ED-4DB2-BD59-A6C34878D82A}">
                    <a16:rowId xmlns:a16="http://schemas.microsoft.com/office/drawing/2014/main" val="889822409"/>
                  </a:ext>
                </a:extLst>
              </a:tr>
            </a:tbl>
          </a:graphicData>
        </a:graphic>
      </p:graphicFrame>
      <p:graphicFrame>
        <p:nvGraphicFramePr>
          <p:cNvPr id="20" name="表格 12">
            <a:extLst>
              <a:ext uri="{FF2B5EF4-FFF2-40B4-BE49-F238E27FC236}">
                <a16:creationId xmlns:a16="http://schemas.microsoft.com/office/drawing/2014/main" id="{D4907F78-AC6F-413B-A8A9-40A35CDB1BEC}"/>
              </a:ext>
            </a:extLst>
          </p:cNvPr>
          <p:cNvGraphicFramePr>
            <a:graphicFrameLocks noGrp="1"/>
          </p:cNvGraphicFramePr>
          <p:nvPr>
            <p:extLst>
              <p:ext uri="{D42A27DB-BD31-4B8C-83A1-F6EECF244321}">
                <p14:modId xmlns:p14="http://schemas.microsoft.com/office/powerpoint/2010/main" val="732484295"/>
              </p:ext>
            </p:extLst>
          </p:nvPr>
        </p:nvGraphicFramePr>
        <p:xfrm>
          <a:off x="4709729" y="5369122"/>
          <a:ext cx="4546599" cy="1188720"/>
        </p:xfrm>
        <a:graphic>
          <a:graphicData uri="http://schemas.openxmlformats.org/drawingml/2006/table">
            <a:tbl>
              <a:tblPr firstRow="1" bandRow="1">
                <a:tableStyleId>{5C22544A-7EE6-4342-B048-85BDC9FD1C3A}</a:tableStyleId>
              </a:tblPr>
              <a:tblGrid>
                <a:gridCol w="1621369">
                  <a:extLst>
                    <a:ext uri="{9D8B030D-6E8A-4147-A177-3AD203B41FA5}">
                      <a16:colId xmlns:a16="http://schemas.microsoft.com/office/drawing/2014/main" val="1427614340"/>
                    </a:ext>
                  </a:extLst>
                </a:gridCol>
                <a:gridCol w="1409697">
                  <a:extLst>
                    <a:ext uri="{9D8B030D-6E8A-4147-A177-3AD203B41FA5}">
                      <a16:colId xmlns:a16="http://schemas.microsoft.com/office/drawing/2014/main" val="314066065"/>
                    </a:ext>
                  </a:extLst>
                </a:gridCol>
                <a:gridCol w="1515533">
                  <a:extLst>
                    <a:ext uri="{9D8B030D-6E8A-4147-A177-3AD203B41FA5}">
                      <a16:colId xmlns:a16="http://schemas.microsoft.com/office/drawing/2014/main" val="3584057571"/>
                    </a:ext>
                  </a:extLst>
                </a:gridCol>
              </a:tblGrid>
              <a:tr h="0">
                <a:tc>
                  <a:txBody>
                    <a:bodyPr/>
                    <a:lstStyle/>
                    <a:p>
                      <a:r>
                        <a:rPr lang="zh-CN" altLang="en-US" dirty="0"/>
                        <a:t>方法</a:t>
                      </a:r>
                    </a:p>
                  </a:txBody>
                  <a:tcPr>
                    <a:solidFill>
                      <a:srgbClr val="C00000"/>
                    </a:solidFill>
                  </a:tcPr>
                </a:tc>
                <a:tc>
                  <a:txBody>
                    <a:bodyPr/>
                    <a:lstStyle/>
                    <a:p>
                      <a:r>
                        <a:rPr lang="zh-CN" altLang="en-US" dirty="0"/>
                        <a:t>数据集</a:t>
                      </a:r>
                    </a:p>
                  </a:txBody>
                  <a:tcPr>
                    <a:solidFill>
                      <a:srgbClr val="C00000"/>
                    </a:solidFill>
                  </a:tcPr>
                </a:tc>
                <a:tc>
                  <a:txBody>
                    <a:bodyPr/>
                    <a:lstStyle/>
                    <a:p>
                      <a:r>
                        <a:rPr lang="zh-CN" altLang="en-US" dirty="0"/>
                        <a:t>准确率（</a:t>
                      </a:r>
                      <a:r>
                        <a:rPr lang="en-US" altLang="zh-CN" dirty="0"/>
                        <a:t>%</a:t>
                      </a:r>
                      <a:r>
                        <a:rPr lang="zh-CN" altLang="en-US" dirty="0"/>
                        <a:t>）</a:t>
                      </a:r>
                    </a:p>
                  </a:txBody>
                  <a:tcPr>
                    <a:solidFill>
                      <a:srgbClr val="C00000"/>
                    </a:solidFill>
                  </a:tcPr>
                </a:tc>
                <a:extLst>
                  <a:ext uri="{0D108BD9-81ED-4DB2-BD59-A6C34878D82A}">
                    <a16:rowId xmlns:a16="http://schemas.microsoft.com/office/drawing/2014/main" val="589605122"/>
                  </a:ext>
                </a:extLst>
              </a:tr>
              <a:tr h="0">
                <a:tc>
                  <a:txBody>
                    <a:bodyPr/>
                    <a:lstStyle/>
                    <a:p>
                      <a:r>
                        <a:rPr lang="en-US" altLang="zh-CN" dirty="0"/>
                        <a:t>NCC-Model</a:t>
                      </a:r>
                      <a:endParaRPr lang="zh-CN" altLang="en-US" dirty="0"/>
                    </a:p>
                  </a:txBody>
                  <a:tcPr/>
                </a:tc>
                <a:tc>
                  <a:txBody>
                    <a:bodyPr/>
                    <a:lstStyle/>
                    <a:p>
                      <a:r>
                        <a:rPr lang="en-US" altLang="zh-CN" dirty="0"/>
                        <a:t>GFCPD</a:t>
                      </a:r>
                      <a:endParaRPr lang="zh-CN" altLang="en-US" dirty="0"/>
                    </a:p>
                  </a:txBody>
                  <a:tcPr/>
                </a:tc>
                <a:tc>
                  <a:txBody>
                    <a:bodyPr/>
                    <a:lstStyle/>
                    <a:p>
                      <a:r>
                        <a:rPr lang="en-US" altLang="zh-CN" dirty="0"/>
                        <a:t>67.44</a:t>
                      </a:r>
                      <a:endParaRPr lang="zh-CN" altLang="en-US" dirty="0"/>
                    </a:p>
                  </a:txBody>
                  <a:tcPr/>
                </a:tc>
                <a:extLst>
                  <a:ext uri="{0D108BD9-81ED-4DB2-BD59-A6C34878D82A}">
                    <a16:rowId xmlns:a16="http://schemas.microsoft.com/office/drawing/2014/main" val="4271918037"/>
                  </a:ext>
                </a:extLst>
              </a:tr>
              <a:tr h="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CNN+NCC-Model </a:t>
                      </a:r>
                    </a:p>
                  </a:txBody>
                  <a:tcPr/>
                </a:tc>
                <a:tc>
                  <a:txBody>
                    <a:bodyPr/>
                    <a:lstStyle/>
                    <a:p>
                      <a:r>
                        <a:rPr lang="en-US" altLang="zh-CN" dirty="0"/>
                        <a:t>GFCPD</a:t>
                      </a:r>
                      <a:endParaRPr lang="zh-CN" altLang="en-US" dirty="0"/>
                    </a:p>
                  </a:txBody>
                  <a:tcPr/>
                </a:tc>
                <a:tc>
                  <a:txBody>
                    <a:bodyPr/>
                    <a:lstStyle/>
                    <a:p>
                      <a:r>
                        <a:rPr lang="en-US" altLang="zh-CN" dirty="0"/>
                        <a:t>67.97</a:t>
                      </a:r>
                      <a:endParaRPr lang="zh-CN" altLang="en-US" dirty="0"/>
                    </a:p>
                  </a:txBody>
                  <a:tcPr/>
                </a:tc>
                <a:extLst>
                  <a:ext uri="{0D108BD9-81ED-4DB2-BD59-A6C34878D82A}">
                    <a16:rowId xmlns:a16="http://schemas.microsoft.com/office/drawing/2014/main" val="2980201800"/>
                  </a:ext>
                </a:extLst>
              </a:tr>
              <a:tr h="0">
                <a:tc>
                  <a:txBody>
                    <a:bodyPr/>
                    <a:lstStyle/>
                    <a:p>
                      <a:r>
                        <a:rPr lang="en-US" altLang="zh-CN" dirty="0"/>
                        <a:t>DGCNN</a:t>
                      </a:r>
                      <a:endParaRPr lang="zh-CN" altLang="en-US" dirty="0"/>
                    </a:p>
                  </a:txBody>
                  <a:tcPr/>
                </a:tc>
                <a:tc>
                  <a:txBody>
                    <a:bodyPr/>
                    <a:lstStyle/>
                    <a:p>
                      <a:r>
                        <a:rPr lang="en-US" altLang="zh-CN" dirty="0"/>
                        <a:t>GFCPD</a:t>
                      </a:r>
                      <a:endParaRPr lang="zh-CN" altLang="en-US" dirty="0"/>
                    </a:p>
                  </a:txBody>
                  <a:tcPr/>
                </a:tc>
                <a:tc>
                  <a:txBody>
                    <a:bodyPr/>
                    <a:lstStyle/>
                    <a:p>
                      <a:r>
                        <a:rPr lang="en-US" altLang="zh-CN" dirty="0"/>
                        <a:t>87.59</a:t>
                      </a:r>
                      <a:endParaRPr lang="zh-CN" altLang="en-US" dirty="0"/>
                    </a:p>
                  </a:txBody>
                  <a:tcPr/>
                </a:tc>
                <a:extLst>
                  <a:ext uri="{0D108BD9-81ED-4DB2-BD59-A6C34878D82A}">
                    <a16:rowId xmlns:a16="http://schemas.microsoft.com/office/drawing/2014/main" val="889822409"/>
                  </a:ext>
                </a:extLst>
              </a:tr>
            </a:tbl>
          </a:graphicData>
        </a:graphic>
      </p:graphicFrame>
      <p:sp>
        <p:nvSpPr>
          <p:cNvPr id="15" name="文本框 14">
            <a:extLst>
              <a:ext uri="{FF2B5EF4-FFF2-40B4-BE49-F238E27FC236}">
                <a16:creationId xmlns:a16="http://schemas.microsoft.com/office/drawing/2014/main" id="{C232040D-1103-4DEF-A25A-120323D9ED84}"/>
              </a:ext>
            </a:extLst>
          </p:cNvPr>
          <p:cNvSpPr txBox="1"/>
          <p:nvPr/>
        </p:nvSpPr>
        <p:spPr>
          <a:xfrm>
            <a:off x="330200" y="5504745"/>
            <a:ext cx="3691468" cy="1200329"/>
          </a:xfrm>
          <a:prstGeom prst="rect">
            <a:avLst/>
          </a:prstGeom>
          <a:noFill/>
        </p:spPr>
        <p:txBody>
          <a:bodyPr wrap="square" rtlCol="0">
            <a:spAutoFit/>
          </a:bodyPr>
          <a:lstStyle/>
          <a:p>
            <a:r>
              <a:rPr lang="en-US" altLang="zh-CN" dirty="0">
                <a:solidFill>
                  <a:srgbClr val="FF0000"/>
                </a:solidFill>
              </a:rPr>
              <a:t>DGCNN</a:t>
            </a:r>
            <a:r>
              <a:rPr lang="zh-CN" altLang="en-US" dirty="0">
                <a:solidFill>
                  <a:srgbClr val="FF0000"/>
                </a:solidFill>
              </a:rPr>
              <a:t>模型在识别程序的并行性问题上具备良好的可行性与有效性，且相较于其他手段均表现出强大的竞争力。</a:t>
            </a:r>
          </a:p>
        </p:txBody>
      </p:sp>
      <p:sp>
        <p:nvSpPr>
          <p:cNvPr id="3" name="矩形 2">
            <a:extLst>
              <a:ext uri="{FF2B5EF4-FFF2-40B4-BE49-F238E27FC236}">
                <a16:creationId xmlns:a16="http://schemas.microsoft.com/office/drawing/2014/main" id="{391477B7-BC00-470C-9212-95DB2612CAB6}"/>
              </a:ext>
            </a:extLst>
          </p:cNvPr>
          <p:cNvSpPr/>
          <p:nvPr/>
        </p:nvSpPr>
        <p:spPr>
          <a:xfrm>
            <a:off x="9357063" y="3609519"/>
            <a:ext cx="2834937" cy="954107"/>
          </a:xfrm>
          <a:prstGeom prst="rect">
            <a:avLst/>
          </a:prstGeom>
        </p:spPr>
        <p:txBody>
          <a:bodyPr wrap="square">
            <a:spAutoFit/>
          </a:bodyPr>
          <a:lstStyle/>
          <a:p>
            <a:r>
              <a:rPr lang="en-US" altLang="zh-CN" sz="1400" dirty="0">
                <a:latin typeface="Times New Roman" panose="02020603050405020304" pitchFamily="18" charset="0"/>
                <a:ea typeface="宋体" panose="02010600030101010101" pitchFamily="2" charset="-122"/>
              </a:rPr>
              <a:t>Li Z. Discovery of potential parallelism in sequential programs[D]. </a:t>
            </a:r>
            <a:r>
              <a:rPr lang="en-US" altLang="zh-CN" sz="1400" dirty="0" err="1">
                <a:latin typeface="Times New Roman" panose="02020603050405020304" pitchFamily="18" charset="0"/>
                <a:ea typeface="宋体" panose="02010600030101010101" pitchFamily="2" charset="-122"/>
              </a:rPr>
              <a:t>Technische</a:t>
            </a:r>
            <a:r>
              <a:rPr lang="en-US" altLang="zh-CN" sz="1400" dirty="0">
                <a:latin typeface="Times New Roman" panose="02020603050405020304" pitchFamily="18" charset="0"/>
                <a:ea typeface="宋体" panose="02010600030101010101" pitchFamily="2" charset="-122"/>
              </a:rPr>
              <a:t> Universität Darmstadt, 2016</a:t>
            </a:r>
            <a:endParaRPr lang="zh-CN" altLang="en-US" sz="1400" dirty="0">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BC172BE9-56C7-4BFE-B131-E1AF56B11502}"/>
              </a:ext>
            </a:extLst>
          </p:cNvPr>
          <p:cNvSpPr/>
          <p:nvPr/>
        </p:nvSpPr>
        <p:spPr>
          <a:xfrm>
            <a:off x="9357063" y="5369122"/>
            <a:ext cx="2772913" cy="1384995"/>
          </a:xfrm>
          <a:prstGeom prst="rect">
            <a:avLst/>
          </a:prstGeom>
        </p:spPr>
        <p:txBody>
          <a:bodyPr wrap="square">
            <a:spAutoFit/>
          </a:bodyPr>
          <a:lstStyle/>
          <a:p>
            <a:r>
              <a:rPr lang="en-US" altLang="zh-CN" sz="1400" dirty="0">
                <a:latin typeface="Times New Roman" panose="02020603050405020304" pitchFamily="18" charset="0"/>
                <a:ea typeface="宋体" panose="02010600030101010101" pitchFamily="2" charset="-122"/>
              </a:rPr>
              <a:t>Ben-Nun T, </a:t>
            </a:r>
            <a:r>
              <a:rPr lang="en-US" altLang="zh-CN" sz="1400" dirty="0" err="1">
                <a:latin typeface="Times New Roman" panose="02020603050405020304" pitchFamily="18" charset="0"/>
                <a:ea typeface="宋体" panose="02010600030101010101" pitchFamily="2" charset="-122"/>
              </a:rPr>
              <a:t>Jakobovits</a:t>
            </a:r>
            <a:r>
              <a:rPr lang="en-US" altLang="zh-CN" sz="1400" dirty="0">
                <a:latin typeface="Times New Roman" panose="02020603050405020304" pitchFamily="18" charset="0"/>
                <a:ea typeface="宋体" panose="02010600030101010101" pitchFamily="2" charset="-122"/>
              </a:rPr>
              <a:t> A S, </a:t>
            </a:r>
            <a:r>
              <a:rPr lang="en-US" altLang="zh-CN" sz="1400" dirty="0" err="1">
                <a:latin typeface="Times New Roman" panose="02020603050405020304" pitchFamily="18" charset="0"/>
                <a:ea typeface="宋体" panose="02010600030101010101" pitchFamily="2" charset="-122"/>
              </a:rPr>
              <a:t>Hoefler</a:t>
            </a:r>
            <a:r>
              <a:rPr lang="en-US" altLang="zh-CN" sz="1400" dirty="0">
                <a:latin typeface="Times New Roman" panose="02020603050405020304" pitchFamily="18" charset="0"/>
                <a:ea typeface="宋体" panose="02010600030101010101" pitchFamily="2" charset="-122"/>
              </a:rPr>
              <a:t> T. Neural code comprehension: A learnable representation of code semantics[C]//Advances in Neural Information Processing Systems. 2018: 3585-3597</a:t>
            </a:r>
            <a:endParaRPr lang="zh-CN" altLang="en-US" sz="1400" dirty="0"/>
          </a:p>
        </p:txBody>
      </p:sp>
    </p:spTree>
    <p:custDataLst>
      <p:tags r:id="rId1"/>
    </p:custDataLst>
    <p:extLst>
      <p:ext uri="{BB962C8B-B14F-4D97-AF65-F5344CB8AC3E}">
        <p14:creationId xmlns:p14="http://schemas.microsoft.com/office/powerpoint/2010/main" val="2492362345"/>
      </p:ext>
    </p:extLst>
  </p:cSld>
  <p:clrMapOvr>
    <a:masterClrMapping/>
  </p:clrMapOvr>
  <mc:AlternateContent xmlns:mc="http://schemas.openxmlformats.org/markup-compatibility/2006" xmlns:p14="http://schemas.microsoft.com/office/powerpoint/2010/main">
    <mc:Choice Requires="p14">
      <p:transition spd="slow" p14:dur="2000" advTm="125970"/>
    </mc:Choice>
    <mc:Fallback xmlns="">
      <p:transition spd="slow" advTm="1259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P spid="15" grpId="0"/>
      <p:bldP spid="3"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1838096" y="2526245"/>
            <a:ext cx="5000249" cy="1805510"/>
            <a:chOff x="1453775" y="1538312"/>
            <a:chExt cx="3122975" cy="867798"/>
          </a:xfrm>
        </p:grpSpPr>
        <p:sp>
          <p:nvSpPr>
            <p:cNvPr id="4" name="矩形 3">
              <a:extLst>
                <a:ext uri="{FF2B5EF4-FFF2-40B4-BE49-F238E27FC236}">
                  <a16:creationId xmlns:a16="http://schemas.microsoft.com/office/drawing/2014/main" id="{0D880657-C374-4E41-A898-33D6E759EDB2}"/>
                </a:ext>
              </a:extLst>
            </p:cNvPr>
            <p:cNvSpPr/>
            <p:nvPr>
              <p:custDataLst>
                <p:tags r:id="rId2"/>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并行程序开发方面</a:t>
              </a:r>
            </a:p>
          </p:txBody>
        </p:sp>
        <p:sp>
          <p:nvSpPr>
            <p:cNvPr id="5" name="文本框 4">
              <a:extLst>
                <a:ext uri="{FF2B5EF4-FFF2-40B4-BE49-F238E27FC236}">
                  <a16:creationId xmlns:a16="http://schemas.microsoft.com/office/drawing/2014/main" id="{386774D1-64BA-4936-9A35-D6A584D21087}"/>
                </a:ext>
              </a:extLst>
            </p:cNvPr>
            <p:cNvSpPr txBox="1"/>
            <p:nvPr>
              <p:custDataLst>
                <p:tags r:id="rId3"/>
              </p:custDataLst>
            </p:nvPr>
          </p:nvSpPr>
          <p:spPr>
            <a:xfrm>
              <a:off x="1453775" y="1538312"/>
              <a:ext cx="847365"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2.2</a:t>
              </a:r>
              <a:endParaRPr lang="zh-CN" altLang="en-US" sz="6000" b="1" dirty="0">
                <a:solidFill>
                  <a:srgbClr val="FFC000"/>
                </a:solidFill>
              </a:endParaRPr>
            </a:p>
          </p:txBody>
        </p:sp>
      </p:grpSp>
      <p:sp>
        <p:nvSpPr>
          <p:cNvPr id="11" name="矩形 10">
            <a:extLst>
              <a:ext uri="{FF2B5EF4-FFF2-40B4-BE49-F238E27FC236}">
                <a16:creationId xmlns:a16="http://schemas.microsoft.com/office/drawing/2014/main" id="{16DC3CB3-9E8C-4E69-A7BF-6F343D28BBE6}"/>
              </a:ext>
            </a:extLst>
          </p:cNvPr>
          <p:cNvSpPr/>
          <p:nvPr>
            <p:custDataLst>
              <p:tags r:id="rId1"/>
            </p:custDataLst>
          </p:nvPr>
        </p:nvSpPr>
        <p:spPr>
          <a:xfrm>
            <a:off x="7442703" y="2768423"/>
            <a:ext cx="3456620" cy="1369045"/>
          </a:xfrm>
          <a:prstGeom prst="rect">
            <a:avLst/>
          </a:prstGeom>
        </p:spPr>
        <p:txBody>
          <a:bodyPr wrap="square">
            <a:noAutofit/>
          </a:bodyPr>
          <a:lstStyle/>
          <a:p>
            <a:pPr marL="342900" indent="-342900">
              <a:lnSpc>
                <a:spcPct val="120000"/>
              </a:lnSpc>
              <a:buAutoNum type="alphaLcParenR"/>
            </a:pPr>
            <a:r>
              <a:rPr lang="zh-CN" altLang="en-US" sz="1600" dirty="0"/>
              <a:t>并行标记语言</a:t>
            </a:r>
            <a:r>
              <a:rPr lang="en-US" altLang="zh-CN" sz="1600" dirty="0"/>
              <a:t>PML</a:t>
            </a:r>
          </a:p>
          <a:p>
            <a:pPr marL="342900" indent="-342900">
              <a:lnSpc>
                <a:spcPct val="120000"/>
              </a:lnSpc>
              <a:buAutoNum type="alphaLcParenR"/>
            </a:pPr>
            <a:endParaRPr lang="en-US" altLang="zh-CN" sz="1600" dirty="0"/>
          </a:p>
          <a:p>
            <a:pPr marL="342900" indent="-342900">
              <a:lnSpc>
                <a:spcPct val="120000"/>
              </a:lnSpc>
              <a:buAutoNum type="alphaLcParenR"/>
            </a:pPr>
            <a:endParaRPr lang="en-US" altLang="zh-CN" sz="1600" dirty="0"/>
          </a:p>
          <a:p>
            <a:pPr marL="342900" indent="-342900">
              <a:lnSpc>
                <a:spcPct val="120000"/>
              </a:lnSpc>
              <a:buAutoNum type="alphaLcParenR"/>
            </a:pPr>
            <a:r>
              <a:rPr lang="zh-CN" altLang="en-US" sz="1600" dirty="0"/>
              <a:t>并行编程辅助平台</a:t>
            </a:r>
            <a:endParaRPr lang="en-US" altLang="zh-CN" sz="1600" dirty="0"/>
          </a:p>
        </p:txBody>
      </p:sp>
      <p:sp>
        <p:nvSpPr>
          <p:cNvPr id="12" name="左大括号 11">
            <a:extLst>
              <a:ext uri="{FF2B5EF4-FFF2-40B4-BE49-F238E27FC236}">
                <a16:creationId xmlns:a16="http://schemas.microsoft.com/office/drawing/2014/main" id="{2D4F26DA-14B3-4645-9BED-F854D425FD62}"/>
              </a:ext>
            </a:extLst>
          </p:cNvPr>
          <p:cNvSpPr/>
          <p:nvPr/>
        </p:nvSpPr>
        <p:spPr>
          <a:xfrm>
            <a:off x="7011604" y="2720532"/>
            <a:ext cx="337440" cy="14169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782894194"/>
      </p:ext>
    </p:extLst>
  </p:cSld>
  <p:clrMapOvr>
    <a:masterClrMapping/>
  </p:clrMapOvr>
  <mc:AlternateContent xmlns:mc="http://schemas.openxmlformats.org/markup-compatibility/2006" xmlns:p14="http://schemas.microsoft.com/office/powerpoint/2010/main">
    <mc:Choice Requires="p14">
      <p:transition spd="slow" p14:dur="2000" advTm="6715"/>
    </mc:Choice>
    <mc:Fallback xmlns="">
      <p:transition spd="slow" advTm="6715"/>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210339" y="2526245"/>
            <a:ext cx="5385785" cy="1805510"/>
            <a:chOff x="1212983" y="1538312"/>
            <a:chExt cx="3363767"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并行标记语言</a:t>
              </a:r>
              <a:r>
                <a:rPr lang="en-US" altLang="zh-CN" sz="2000" dirty="0">
                  <a:latin typeface="Arial" panose="020B0604020202020204" pitchFamily="34" charset="0"/>
                  <a:ea typeface="黑体" panose="02010609060101010101" charset="-122"/>
                  <a:cs typeface="+mn-ea"/>
                </a:rPr>
                <a:t>PML</a:t>
              </a:r>
              <a:endParaRPr lang="zh-CN" altLang="en-US" sz="2000" dirty="0">
                <a:latin typeface="Arial" panose="020B0604020202020204" pitchFamily="34" charset="0"/>
                <a:ea typeface="黑体" panose="02010609060101010101" charset="-122"/>
                <a:cs typeface="+mn-ea"/>
              </a:endParaRP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212983" y="1538312"/>
              <a:ext cx="1088157"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2.2.1</a:t>
              </a:r>
              <a:endParaRPr lang="zh-CN" altLang="en-US" sz="6000" b="1" dirty="0">
                <a:solidFill>
                  <a:srgbClr val="FFC000"/>
                </a:solidFill>
              </a:endParaRPr>
            </a:p>
          </p:txBody>
        </p:sp>
      </p:grpSp>
    </p:spTree>
    <p:extLst>
      <p:ext uri="{BB962C8B-B14F-4D97-AF65-F5344CB8AC3E}">
        <p14:creationId xmlns:p14="http://schemas.microsoft.com/office/powerpoint/2010/main" val="2626685563"/>
      </p:ext>
    </p:extLst>
  </p:cSld>
  <p:clrMapOvr>
    <a:masterClrMapping/>
  </p:clrMapOvr>
  <mc:AlternateContent xmlns:mc="http://schemas.openxmlformats.org/markup-compatibility/2006" xmlns:p14="http://schemas.microsoft.com/office/powerpoint/2010/main">
    <mc:Choice Requires="p14">
      <p:transition spd="slow" p14:dur="2000" advTm="12892"/>
    </mc:Choice>
    <mc:Fallback xmlns="">
      <p:transition spd="slow" advTm="12892"/>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6" y="300158"/>
            <a:ext cx="4030134" cy="584775"/>
          </a:xfrm>
          <a:prstGeom prst="rect">
            <a:avLst/>
          </a:prstGeom>
          <a:noFill/>
        </p:spPr>
        <p:txBody>
          <a:bodyPr wrap="square" rtlCol="0">
            <a:spAutoFit/>
          </a:bodyPr>
          <a:lstStyle/>
          <a:p>
            <a:r>
              <a:rPr lang="en-US" altLang="zh-CN" sz="3200" b="1" dirty="0">
                <a:latin typeface="+mn-ea"/>
              </a:rPr>
              <a:t>PML</a:t>
            </a:r>
            <a:r>
              <a:rPr lang="zh-CN" altLang="en-US" sz="3200" b="1" dirty="0">
                <a:latin typeface="+mn-ea"/>
              </a:rPr>
              <a:t>的设计与实现</a:t>
            </a:r>
          </a:p>
        </p:txBody>
      </p:sp>
      <p:sp>
        <p:nvSpPr>
          <p:cNvPr id="10" name="文本框 9">
            <a:extLst>
              <a:ext uri="{FF2B5EF4-FFF2-40B4-BE49-F238E27FC236}">
                <a16:creationId xmlns:a16="http://schemas.microsoft.com/office/drawing/2014/main" id="{EE92D474-7E10-4C4D-9342-0A36662B307C}"/>
              </a:ext>
            </a:extLst>
          </p:cNvPr>
          <p:cNvSpPr txBox="1"/>
          <p:nvPr/>
        </p:nvSpPr>
        <p:spPr>
          <a:xfrm>
            <a:off x="330200" y="1353255"/>
            <a:ext cx="2627642" cy="369332"/>
          </a:xfrm>
          <a:prstGeom prst="rect">
            <a:avLst/>
          </a:prstGeom>
          <a:noFill/>
        </p:spPr>
        <p:txBody>
          <a:bodyPr wrap="none" rtlCol="0">
            <a:spAutoFit/>
          </a:bodyPr>
          <a:lstStyle/>
          <a:p>
            <a:pPr marL="285750" indent="-285750">
              <a:buFont typeface="Wingdings" panose="05000000000000000000" pitchFamily="2" charset="2"/>
              <a:buChar char="u"/>
            </a:pPr>
            <a:r>
              <a:rPr lang="en-US" altLang="zh-CN" dirty="0"/>
              <a:t>PML—— </a:t>
            </a:r>
            <a:r>
              <a:rPr lang="zh-CN" altLang="en-US" dirty="0"/>
              <a:t>可行性分析</a:t>
            </a:r>
          </a:p>
        </p:txBody>
      </p:sp>
      <p:sp>
        <p:nvSpPr>
          <p:cNvPr id="2" name="文本框 1">
            <a:extLst>
              <a:ext uri="{FF2B5EF4-FFF2-40B4-BE49-F238E27FC236}">
                <a16:creationId xmlns:a16="http://schemas.microsoft.com/office/drawing/2014/main" id="{AC8AC50B-CE40-49BE-89D6-D8F8450B7C0E}"/>
              </a:ext>
            </a:extLst>
          </p:cNvPr>
          <p:cNvSpPr txBox="1"/>
          <p:nvPr/>
        </p:nvSpPr>
        <p:spPr>
          <a:xfrm>
            <a:off x="660400" y="2133600"/>
            <a:ext cx="10020692" cy="1477328"/>
          </a:xfrm>
          <a:prstGeom prst="rect">
            <a:avLst/>
          </a:prstGeom>
          <a:noFill/>
        </p:spPr>
        <p:txBody>
          <a:bodyPr wrap="none" rtlCol="0">
            <a:spAutoFit/>
          </a:bodyPr>
          <a:lstStyle/>
          <a:p>
            <a:r>
              <a:rPr lang="en-US" altLang="zh-CN" dirty="0"/>
              <a:t>1</a:t>
            </a:r>
            <a:r>
              <a:rPr lang="zh-CN" altLang="en-US" dirty="0"/>
              <a:t>、并行编程模型可以看作是一种类</a:t>
            </a:r>
            <a:r>
              <a:rPr lang="en-US" altLang="zh-CN" dirty="0"/>
              <a:t>XML</a:t>
            </a:r>
            <a:r>
              <a:rPr lang="zh-CN" altLang="en-US" dirty="0"/>
              <a:t>的标记语言</a:t>
            </a:r>
            <a:endParaRPr lang="en-US" altLang="zh-CN" dirty="0"/>
          </a:p>
          <a:p>
            <a:endParaRPr lang="en-US" altLang="zh-CN" dirty="0"/>
          </a:p>
          <a:p>
            <a:r>
              <a:rPr lang="en-US" altLang="zh-CN" dirty="0"/>
              <a:t>2</a:t>
            </a:r>
            <a:r>
              <a:rPr lang="zh-CN" altLang="en-US" dirty="0"/>
              <a:t>、</a:t>
            </a:r>
            <a:r>
              <a:rPr lang="en-US" altLang="zh-CN" dirty="0"/>
              <a:t>XML</a:t>
            </a:r>
            <a:r>
              <a:rPr lang="zh-CN" altLang="en-US" dirty="0"/>
              <a:t>技术优势显著（可读性好、可扩展、便于检索、支持各种字符、与代码类似的层级结构）</a:t>
            </a:r>
            <a:endParaRPr lang="en-US" altLang="zh-CN" dirty="0"/>
          </a:p>
          <a:p>
            <a:endParaRPr lang="en-US" altLang="zh-CN" dirty="0"/>
          </a:p>
          <a:p>
            <a:r>
              <a:rPr lang="en-US" altLang="zh-CN" dirty="0"/>
              <a:t>3</a:t>
            </a:r>
            <a:r>
              <a:rPr lang="zh-CN" altLang="en-US" dirty="0"/>
              <a:t>、存在使用</a:t>
            </a:r>
            <a:r>
              <a:rPr lang="en-US" altLang="zh-CN" dirty="0"/>
              <a:t>XML</a:t>
            </a:r>
            <a:r>
              <a:rPr lang="zh-CN" altLang="en-US" dirty="0"/>
              <a:t>设计并实现标记语言的研究（化学标记语言</a:t>
            </a:r>
            <a:r>
              <a:rPr lang="en-US" altLang="zh-CN" dirty="0"/>
              <a:t>CML</a:t>
            </a:r>
            <a:r>
              <a:rPr lang="zh-CN" altLang="en-US" dirty="0"/>
              <a:t>、矢量图形标记语言</a:t>
            </a:r>
            <a:r>
              <a:rPr lang="en-US" altLang="zh-CN" dirty="0"/>
              <a:t>VML</a:t>
            </a:r>
            <a:r>
              <a:rPr lang="zh-CN" altLang="en-US" dirty="0"/>
              <a:t>等）</a:t>
            </a:r>
          </a:p>
        </p:txBody>
      </p:sp>
      <p:sp>
        <p:nvSpPr>
          <p:cNvPr id="3" name="文本框 2">
            <a:extLst>
              <a:ext uri="{FF2B5EF4-FFF2-40B4-BE49-F238E27FC236}">
                <a16:creationId xmlns:a16="http://schemas.microsoft.com/office/drawing/2014/main" id="{192292BA-6EC6-4142-AEC8-417A08BD54A5}"/>
              </a:ext>
            </a:extLst>
          </p:cNvPr>
          <p:cNvSpPr txBox="1"/>
          <p:nvPr/>
        </p:nvSpPr>
        <p:spPr>
          <a:xfrm>
            <a:off x="660400" y="4440767"/>
            <a:ext cx="10148932" cy="369332"/>
          </a:xfrm>
          <a:prstGeom prst="rect">
            <a:avLst/>
          </a:prstGeom>
          <a:noFill/>
        </p:spPr>
        <p:txBody>
          <a:bodyPr wrap="none" rtlCol="0">
            <a:spAutoFit/>
          </a:bodyPr>
          <a:lstStyle/>
          <a:p>
            <a:r>
              <a:rPr lang="en-US" altLang="zh-CN" dirty="0">
                <a:solidFill>
                  <a:srgbClr val="FF0000"/>
                </a:solidFill>
              </a:rPr>
              <a:t>XML</a:t>
            </a:r>
            <a:r>
              <a:rPr lang="zh-CN" altLang="en-US" dirty="0">
                <a:solidFill>
                  <a:srgbClr val="FF0000"/>
                </a:solidFill>
              </a:rPr>
              <a:t>是定义新的标记语言的一个不错的选择，基于</a:t>
            </a:r>
            <a:r>
              <a:rPr lang="en-US" altLang="zh-CN" dirty="0">
                <a:solidFill>
                  <a:srgbClr val="FF0000"/>
                </a:solidFill>
              </a:rPr>
              <a:t>XML</a:t>
            </a:r>
            <a:r>
              <a:rPr lang="zh-CN" altLang="en-US" dirty="0">
                <a:solidFill>
                  <a:srgbClr val="FF0000"/>
                </a:solidFill>
              </a:rPr>
              <a:t>技术来实现并行标记语言</a:t>
            </a:r>
            <a:r>
              <a:rPr lang="en-US" altLang="zh-CN" dirty="0">
                <a:solidFill>
                  <a:srgbClr val="FF0000"/>
                </a:solidFill>
              </a:rPr>
              <a:t>PML</a:t>
            </a:r>
            <a:r>
              <a:rPr lang="zh-CN" altLang="en-US" dirty="0">
                <a:solidFill>
                  <a:srgbClr val="FF0000"/>
                </a:solidFill>
              </a:rPr>
              <a:t>是完全可行的</a:t>
            </a:r>
          </a:p>
        </p:txBody>
      </p:sp>
    </p:spTree>
    <p:custDataLst>
      <p:tags r:id="rId1"/>
    </p:custDataLst>
    <p:extLst>
      <p:ext uri="{BB962C8B-B14F-4D97-AF65-F5344CB8AC3E}">
        <p14:creationId xmlns:p14="http://schemas.microsoft.com/office/powerpoint/2010/main" val="501515106"/>
      </p:ext>
    </p:extLst>
  </p:cSld>
  <p:clrMapOvr>
    <a:masterClrMapping/>
  </p:clrMapOvr>
  <mc:AlternateContent xmlns:mc="http://schemas.openxmlformats.org/markup-compatibility/2006" xmlns:p14="http://schemas.microsoft.com/office/powerpoint/2010/main">
    <mc:Choice Requires="p14">
      <p:transition spd="slow" p14:dur="2000" advTm="14175"/>
    </mc:Choice>
    <mc:Fallback xmlns="">
      <p:transition spd="slow" advTm="141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6" y="300158"/>
            <a:ext cx="4030134" cy="584775"/>
          </a:xfrm>
          <a:prstGeom prst="rect">
            <a:avLst/>
          </a:prstGeom>
          <a:noFill/>
        </p:spPr>
        <p:txBody>
          <a:bodyPr wrap="square" rtlCol="0">
            <a:spAutoFit/>
          </a:bodyPr>
          <a:lstStyle/>
          <a:p>
            <a:r>
              <a:rPr lang="en-US" altLang="zh-CN" sz="3200" b="1" dirty="0">
                <a:latin typeface="+mn-ea"/>
              </a:rPr>
              <a:t>PML</a:t>
            </a:r>
            <a:r>
              <a:rPr lang="zh-CN" altLang="en-US" sz="3200" b="1" dirty="0">
                <a:latin typeface="+mn-ea"/>
              </a:rPr>
              <a:t>的设计与实现</a:t>
            </a:r>
          </a:p>
        </p:txBody>
      </p:sp>
      <p:sp>
        <p:nvSpPr>
          <p:cNvPr id="10" name="文本框 9">
            <a:extLst>
              <a:ext uri="{FF2B5EF4-FFF2-40B4-BE49-F238E27FC236}">
                <a16:creationId xmlns:a16="http://schemas.microsoft.com/office/drawing/2014/main" id="{EE92D474-7E10-4C4D-9342-0A36662B307C}"/>
              </a:ext>
            </a:extLst>
          </p:cNvPr>
          <p:cNvSpPr txBox="1"/>
          <p:nvPr/>
        </p:nvSpPr>
        <p:spPr>
          <a:xfrm>
            <a:off x="330200" y="1353255"/>
            <a:ext cx="3550972" cy="369332"/>
          </a:xfrm>
          <a:prstGeom prst="rect">
            <a:avLst/>
          </a:prstGeom>
          <a:noFill/>
        </p:spPr>
        <p:txBody>
          <a:bodyPr wrap="none" rtlCol="0">
            <a:spAutoFit/>
          </a:bodyPr>
          <a:lstStyle/>
          <a:p>
            <a:pPr marL="285750" indent="-285750">
              <a:buFont typeface="Wingdings" panose="05000000000000000000" pitchFamily="2" charset="2"/>
              <a:buChar char="u"/>
            </a:pPr>
            <a:r>
              <a:rPr lang="en-US" altLang="zh-CN" dirty="0"/>
              <a:t>PML—— </a:t>
            </a:r>
            <a:r>
              <a:rPr lang="zh-CN" altLang="en-US" dirty="0"/>
              <a:t>技术路线与标签详情</a:t>
            </a:r>
          </a:p>
        </p:txBody>
      </p:sp>
      <p:pic>
        <p:nvPicPr>
          <p:cNvPr id="3" name="图片 2">
            <a:extLst>
              <a:ext uri="{FF2B5EF4-FFF2-40B4-BE49-F238E27FC236}">
                <a16:creationId xmlns:a16="http://schemas.microsoft.com/office/drawing/2014/main" id="{6D5EC9A9-E0EB-48F4-9831-3F49BE32BA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867" y="1954783"/>
            <a:ext cx="5757334" cy="2948434"/>
          </a:xfrm>
          <a:prstGeom prst="rect">
            <a:avLst/>
          </a:prstGeom>
        </p:spPr>
      </p:pic>
      <p:graphicFrame>
        <p:nvGraphicFramePr>
          <p:cNvPr id="4" name="表格 6">
            <a:extLst>
              <a:ext uri="{FF2B5EF4-FFF2-40B4-BE49-F238E27FC236}">
                <a16:creationId xmlns:a16="http://schemas.microsoft.com/office/drawing/2014/main" id="{6F82E975-2183-44D8-854C-B6AA94824143}"/>
              </a:ext>
            </a:extLst>
          </p:cNvPr>
          <p:cNvGraphicFramePr>
            <a:graphicFrameLocks noGrp="1"/>
          </p:cNvGraphicFramePr>
          <p:nvPr>
            <p:extLst>
              <p:ext uri="{D42A27DB-BD31-4B8C-83A1-F6EECF244321}">
                <p14:modId xmlns:p14="http://schemas.microsoft.com/office/powerpoint/2010/main" val="1262533638"/>
              </p:ext>
            </p:extLst>
          </p:nvPr>
        </p:nvGraphicFramePr>
        <p:xfrm>
          <a:off x="6510868" y="2168114"/>
          <a:ext cx="4834465" cy="2810433"/>
        </p:xfrm>
        <a:graphic>
          <a:graphicData uri="http://schemas.openxmlformats.org/drawingml/2006/table">
            <a:tbl>
              <a:tblPr firstRow="1" bandRow="1">
                <a:tableStyleId>{5C22544A-7EE6-4342-B048-85BDC9FD1C3A}</a:tableStyleId>
              </a:tblPr>
              <a:tblGrid>
                <a:gridCol w="1389446">
                  <a:extLst>
                    <a:ext uri="{9D8B030D-6E8A-4147-A177-3AD203B41FA5}">
                      <a16:colId xmlns:a16="http://schemas.microsoft.com/office/drawing/2014/main" val="1513505221"/>
                    </a:ext>
                  </a:extLst>
                </a:gridCol>
                <a:gridCol w="930419">
                  <a:extLst>
                    <a:ext uri="{9D8B030D-6E8A-4147-A177-3AD203B41FA5}">
                      <a16:colId xmlns:a16="http://schemas.microsoft.com/office/drawing/2014/main" val="6686585"/>
                    </a:ext>
                  </a:extLst>
                </a:gridCol>
                <a:gridCol w="2514600">
                  <a:extLst>
                    <a:ext uri="{9D8B030D-6E8A-4147-A177-3AD203B41FA5}">
                      <a16:colId xmlns:a16="http://schemas.microsoft.com/office/drawing/2014/main" val="984117319"/>
                    </a:ext>
                  </a:extLst>
                </a:gridCol>
              </a:tblGrid>
              <a:tr h="395791">
                <a:tc>
                  <a:txBody>
                    <a:bodyPr/>
                    <a:lstStyle/>
                    <a:p>
                      <a:pPr algn="ctr"/>
                      <a:r>
                        <a:rPr lang="zh-CN" altLang="en-US" dirty="0"/>
                        <a:t>标签类型</a:t>
                      </a:r>
                    </a:p>
                  </a:txBody>
                  <a:tcPr anchor="ctr">
                    <a:solidFill>
                      <a:srgbClr val="C00000"/>
                    </a:solidFill>
                  </a:tcPr>
                </a:tc>
                <a:tc>
                  <a:txBody>
                    <a:bodyPr/>
                    <a:lstStyle/>
                    <a:p>
                      <a:pPr algn="ctr"/>
                      <a:r>
                        <a:rPr lang="zh-CN" altLang="en-US" dirty="0"/>
                        <a:t>数量（个）</a:t>
                      </a:r>
                    </a:p>
                  </a:txBody>
                  <a:tcPr anchor="ctr">
                    <a:solidFill>
                      <a:srgbClr val="C00000"/>
                    </a:solidFill>
                  </a:tcPr>
                </a:tc>
                <a:tc>
                  <a:txBody>
                    <a:bodyPr/>
                    <a:lstStyle/>
                    <a:p>
                      <a:pPr algn="ctr"/>
                      <a:r>
                        <a:rPr lang="zh-CN" altLang="en-US" dirty="0"/>
                        <a:t>详情</a:t>
                      </a:r>
                    </a:p>
                  </a:txBody>
                  <a:tcPr anchor="ctr">
                    <a:solidFill>
                      <a:srgbClr val="C00000"/>
                    </a:solidFill>
                  </a:tcPr>
                </a:tc>
                <a:extLst>
                  <a:ext uri="{0D108BD9-81ED-4DB2-BD59-A6C34878D82A}">
                    <a16:rowId xmlns:a16="http://schemas.microsoft.com/office/drawing/2014/main" val="3933498121"/>
                  </a:ext>
                </a:extLst>
              </a:tr>
              <a:tr h="395791">
                <a:tc>
                  <a:txBody>
                    <a:bodyPr/>
                    <a:lstStyle/>
                    <a:p>
                      <a:pPr algn="ctr"/>
                      <a:r>
                        <a:rPr lang="zh-CN" altLang="en-US" dirty="0"/>
                        <a:t>根节点标签</a:t>
                      </a:r>
                    </a:p>
                  </a:txBody>
                  <a:tcPr anchor="ctr"/>
                </a:tc>
                <a:tc>
                  <a:txBody>
                    <a:bodyPr/>
                    <a:lstStyle/>
                    <a:p>
                      <a:pPr algn="ctr"/>
                      <a:r>
                        <a:rPr lang="en-US" altLang="zh-CN" dirty="0"/>
                        <a:t>1</a:t>
                      </a:r>
                      <a:endParaRPr lang="zh-CN" altLang="en-US" dirty="0"/>
                    </a:p>
                  </a:txBody>
                  <a:tcPr anchor="ctr"/>
                </a:tc>
                <a:tc>
                  <a:txBody>
                    <a:bodyPr/>
                    <a:lstStyle/>
                    <a:p>
                      <a:r>
                        <a:rPr lang="en-US" altLang="zh-CN" dirty="0"/>
                        <a:t>&lt;PML&gt;&lt;/PML&gt;</a:t>
                      </a:r>
                      <a:endParaRPr lang="zh-CN" altLang="en-US" dirty="0"/>
                    </a:p>
                  </a:txBody>
                  <a:tcPr/>
                </a:tc>
                <a:extLst>
                  <a:ext uri="{0D108BD9-81ED-4DB2-BD59-A6C34878D82A}">
                    <a16:rowId xmlns:a16="http://schemas.microsoft.com/office/drawing/2014/main" val="2069903768"/>
                  </a:ext>
                </a:extLst>
              </a:tr>
              <a:tr h="395791">
                <a:tc>
                  <a:txBody>
                    <a:bodyPr/>
                    <a:lstStyle/>
                    <a:p>
                      <a:pPr algn="ctr"/>
                      <a:r>
                        <a:rPr lang="en-US" altLang="zh-CN" dirty="0"/>
                        <a:t>MPI</a:t>
                      </a:r>
                      <a:r>
                        <a:rPr lang="zh-CN" altLang="en-US" dirty="0"/>
                        <a:t>相关标签</a:t>
                      </a:r>
                    </a:p>
                  </a:txBody>
                  <a:tcPr anchor="ctr"/>
                </a:tc>
                <a:tc>
                  <a:txBody>
                    <a:bodyPr/>
                    <a:lstStyle/>
                    <a:p>
                      <a:pPr algn="ctr"/>
                      <a:r>
                        <a:rPr lang="en-US" altLang="zh-CN" dirty="0"/>
                        <a:t>36</a:t>
                      </a:r>
                      <a:endParaRPr lang="zh-CN" altLang="en-US" dirty="0"/>
                    </a:p>
                  </a:txBody>
                  <a:tcPr anchor="ctr"/>
                </a:tc>
                <a:tc>
                  <a:txBody>
                    <a:bodyPr/>
                    <a:lstStyle/>
                    <a:p>
                      <a:r>
                        <a:rPr lang="en-US" altLang="zh-CN" dirty="0"/>
                        <a:t>MPI</a:t>
                      </a:r>
                      <a:r>
                        <a:rPr lang="zh-CN" altLang="en-US" dirty="0"/>
                        <a:t>初等例程（</a:t>
                      </a:r>
                      <a:r>
                        <a:rPr lang="en-US" altLang="zh-CN" dirty="0"/>
                        <a:t>5</a:t>
                      </a:r>
                      <a:r>
                        <a:rPr lang="zh-CN" altLang="en-US" dirty="0"/>
                        <a:t>个）</a:t>
                      </a:r>
                      <a:endParaRPr lang="en-US" altLang="zh-CN" dirty="0"/>
                    </a:p>
                    <a:p>
                      <a:r>
                        <a:rPr lang="zh-CN" altLang="en-US" dirty="0"/>
                        <a:t>点对点消息传递例程（</a:t>
                      </a:r>
                      <a:r>
                        <a:rPr lang="en-US" altLang="zh-CN" dirty="0"/>
                        <a:t>8</a:t>
                      </a:r>
                      <a:r>
                        <a:rPr lang="zh-CN" altLang="en-US" dirty="0"/>
                        <a:t>个）</a:t>
                      </a:r>
                      <a:endParaRPr lang="en-US" altLang="zh-CN" dirty="0"/>
                    </a:p>
                    <a:p>
                      <a:r>
                        <a:rPr lang="zh-CN" altLang="en-US" dirty="0"/>
                        <a:t>组通信例程（</a:t>
                      </a:r>
                      <a:r>
                        <a:rPr lang="en-US" altLang="zh-CN" dirty="0"/>
                        <a:t>6</a:t>
                      </a:r>
                      <a:r>
                        <a:rPr lang="zh-CN" altLang="en-US" dirty="0"/>
                        <a:t>个）</a:t>
                      </a:r>
                      <a:endParaRPr lang="en-US" altLang="zh-CN" dirty="0"/>
                    </a:p>
                    <a:p>
                      <a:r>
                        <a:rPr lang="zh-CN" altLang="en-US" dirty="0"/>
                        <a:t>常用参数（</a:t>
                      </a:r>
                      <a:r>
                        <a:rPr lang="en-US" altLang="zh-CN" dirty="0"/>
                        <a:t>17</a:t>
                      </a:r>
                      <a:r>
                        <a:rPr lang="zh-CN" altLang="en-US" dirty="0"/>
                        <a:t>个）</a:t>
                      </a:r>
                    </a:p>
                  </a:txBody>
                  <a:tcPr/>
                </a:tc>
                <a:extLst>
                  <a:ext uri="{0D108BD9-81ED-4DB2-BD59-A6C34878D82A}">
                    <a16:rowId xmlns:a16="http://schemas.microsoft.com/office/drawing/2014/main" val="2067479946"/>
                  </a:ext>
                </a:extLst>
              </a:tr>
              <a:tr h="395791">
                <a:tc>
                  <a:txBody>
                    <a:bodyPr/>
                    <a:lstStyle/>
                    <a:p>
                      <a:pPr algn="ctr"/>
                      <a:r>
                        <a:rPr lang="en-US" altLang="zh-CN" dirty="0"/>
                        <a:t>OpenMP</a:t>
                      </a:r>
                      <a:r>
                        <a:rPr lang="zh-CN" altLang="en-US" dirty="0"/>
                        <a:t>相关标签</a:t>
                      </a:r>
                    </a:p>
                  </a:txBody>
                  <a:tcPr anchor="ctr"/>
                </a:tc>
                <a:tc>
                  <a:txBody>
                    <a:bodyPr/>
                    <a:lstStyle/>
                    <a:p>
                      <a:pPr algn="ctr"/>
                      <a:r>
                        <a:rPr lang="en-US" altLang="zh-CN" dirty="0"/>
                        <a:t>33</a:t>
                      </a:r>
                      <a:endParaRPr lang="zh-CN" altLang="en-US" dirty="0"/>
                    </a:p>
                  </a:txBody>
                  <a:tcPr anchor="ctr"/>
                </a:tc>
                <a:tc>
                  <a:txBody>
                    <a:bodyPr/>
                    <a:lstStyle/>
                    <a:p>
                      <a:r>
                        <a:rPr lang="zh-CN" altLang="en-US" dirty="0"/>
                        <a:t>常用指令（</a:t>
                      </a:r>
                      <a:r>
                        <a:rPr lang="en-US" altLang="zh-CN" dirty="0"/>
                        <a:t>13</a:t>
                      </a:r>
                      <a:r>
                        <a:rPr lang="zh-CN" altLang="en-US" dirty="0"/>
                        <a:t>个）</a:t>
                      </a:r>
                      <a:endParaRPr lang="en-US" altLang="zh-CN" dirty="0"/>
                    </a:p>
                    <a:p>
                      <a:r>
                        <a:rPr lang="zh-CN" altLang="en-US" dirty="0"/>
                        <a:t>常用</a:t>
                      </a:r>
                      <a:r>
                        <a:rPr lang="en-US" altLang="zh-CN" dirty="0"/>
                        <a:t>API</a:t>
                      </a:r>
                      <a:r>
                        <a:rPr lang="zh-CN" altLang="en-US" dirty="0"/>
                        <a:t>库函数（</a:t>
                      </a:r>
                      <a:r>
                        <a:rPr lang="en-US" altLang="zh-CN" dirty="0"/>
                        <a:t>8</a:t>
                      </a:r>
                      <a:r>
                        <a:rPr lang="zh-CN" altLang="en-US" dirty="0"/>
                        <a:t>个）</a:t>
                      </a:r>
                      <a:endParaRPr lang="en-US" altLang="zh-CN" dirty="0"/>
                    </a:p>
                    <a:p>
                      <a:r>
                        <a:rPr lang="zh-CN" altLang="en-US" dirty="0"/>
                        <a:t>常用子句（</a:t>
                      </a:r>
                      <a:r>
                        <a:rPr lang="en-US" altLang="zh-CN" dirty="0"/>
                        <a:t>12</a:t>
                      </a:r>
                      <a:r>
                        <a:rPr lang="zh-CN" altLang="en-US" dirty="0"/>
                        <a:t>个）</a:t>
                      </a:r>
                    </a:p>
                  </a:txBody>
                  <a:tcPr/>
                </a:tc>
                <a:extLst>
                  <a:ext uri="{0D108BD9-81ED-4DB2-BD59-A6C34878D82A}">
                    <a16:rowId xmlns:a16="http://schemas.microsoft.com/office/drawing/2014/main" val="15646130"/>
                  </a:ext>
                </a:extLst>
              </a:tr>
              <a:tr h="395791">
                <a:tc>
                  <a:txBody>
                    <a:bodyPr/>
                    <a:lstStyle/>
                    <a:p>
                      <a:pPr algn="ctr"/>
                      <a:r>
                        <a:rPr lang="zh-CN" altLang="en-US" dirty="0"/>
                        <a:t>总数</a:t>
                      </a:r>
                    </a:p>
                  </a:txBody>
                  <a:tcPr anchor="ctr"/>
                </a:tc>
                <a:tc>
                  <a:txBody>
                    <a:bodyPr/>
                    <a:lstStyle/>
                    <a:p>
                      <a:pPr algn="ctr"/>
                      <a:r>
                        <a:rPr lang="en-US" altLang="zh-CN" dirty="0"/>
                        <a:t>70</a:t>
                      </a:r>
                      <a:endParaRPr lang="zh-CN" altLang="en-US" dirty="0"/>
                    </a:p>
                  </a:txBody>
                  <a:tcPr anchor="ctr"/>
                </a:tc>
                <a:tc>
                  <a:txBody>
                    <a:bodyPr/>
                    <a:lstStyle/>
                    <a:p>
                      <a:pPr algn="ctr"/>
                      <a:r>
                        <a:rPr lang="en-US" altLang="zh-CN" dirty="0"/>
                        <a:t>--</a:t>
                      </a:r>
                      <a:endParaRPr lang="zh-CN" altLang="en-US" dirty="0"/>
                    </a:p>
                  </a:txBody>
                  <a:tcPr anchor="ctr"/>
                </a:tc>
                <a:extLst>
                  <a:ext uri="{0D108BD9-81ED-4DB2-BD59-A6C34878D82A}">
                    <a16:rowId xmlns:a16="http://schemas.microsoft.com/office/drawing/2014/main" val="3896519573"/>
                  </a:ext>
                </a:extLst>
              </a:tr>
            </a:tbl>
          </a:graphicData>
        </a:graphic>
      </p:graphicFrame>
    </p:spTree>
    <p:custDataLst>
      <p:tags r:id="rId1"/>
    </p:custDataLst>
    <p:extLst>
      <p:ext uri="{BB962C8B-B14F-4D97-AF65-F5344CB8AC3E}">
        <p14:creationId xmlns:p14="http://schemas.microsoft.com/office/powerpoint/2010/main" val="3945140154"/>
      </p:ext>
    </p:extLst>
  </p:cSld>
  <p:clrMapOvr>
    <a:masterClrMapping/>
  </p:clrMapOvr>
  <mc:AlternateContent xmlns:mc="http://schemas.openxmlformats.org/markup-compatibility/2006" xmlns:p14="http://schemas.microsoft.com/office/powerpoint/2010/main">
    <mc:Choice Requires="p14">
      <p:transition spd="slow" p14:dur="2000" advTm="44143"/>
    </mc:Choice>
    <mc:Fallback xmlns="">
      <p:transition spd="slow" advTm="441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6" y="300158"/>
            <a:ext cx="4030134" cy="584775"/>
          </a:xfrm>
          <a:prstGeom prst="rect">
            <a:avLst/>
          </a:prstGeom>
          <a:noFill/>
        </p:spPr>
        <p:txBody>
          <a:bodyPr wrap="square" rtlCol="0">
            <a:spAutoFit/>
          </a:bodyPr>
          <a:lstStyle/>
          <a:p>
            <a:r>
              <a:rPr lang="en-US" altLang="zh-CN" sz="3200" b="1" dirty="0">
                <a:latin typeface="+mn-ea"/>
              </a:rPr>
              <a:t>PML</a:t>
            </a:r>
            <a:r>
              <a:rPr lang="zh-CN" altLang="en-US" sz="3200" b="1" dirty="0">
                <a:latin typeface="+mn-ea"/>
              </a:rPr>
              <a:t>的设计与实现</a:t>
            </a:r>
          </a:p>
        </p:txBody>
      </p:sp>
      <p:sp>
        <p:nvSpPr>
          <p:cNvPr id="10" name="文本框 9">
            <a:extLst>
              <a:ext uri="{FF2B5EF4-FFF2-40B4-BE49-F238E27FC236}">
                <a16:creationId xmlns:a16="http://schemas.microsoft.com/office/drawing/2014/main" id="{EE92D474-7E10-4C4D-9342-0A36662B307C}"/>
              </a:ext>
            </a:extLst>
          </p:cNvPr>
          <p:cNvSpPr txBox="1"/>
          <p:nvPr/>
        </p:nvSpPr>
        <p:spPr>
          <a:xfrm>
            <a:off x="330200" y="1353255"/>
            <a:ext cx="2452338" cy="369332"/>
          </a:xfrm>
          <a:prstGeom prst="rect">
            <a:avLst/>
          </a:prstGeom>
          <a:noFill/>
        </p:spPr>
        <p:txBody>
          <a:bodyPr wrap="none" rtlCol="0">
            <a:spAutoFit/>
          </a:bodyPr>
          <a:lstStyle/>
          <a:p>
            <a:pPr marL="285750" indent="-285750">
              <a:buFont typeface="Wingdings" panose="05000000000000000000" pitchFamily="2" charset="2"/>
              <a:buChar char="u"/>
            </a:pPr>
            <a:r>
              <a:rPr lang="en-US" altLang="zh-CN" dirty="0"/>
              <a:t>PML</a:t>
            </a:r>
            <a:r>
              <a:rPr lang="zh-CN" altLang="en-US" dirty="0"/>
              <a:t> </a:t>
            </a:r>
            <a:r>
              <a:rPr lang="en-US" altLang="zh-CN" dirty="0"/>
              <a:t>—— </a:t>
            </a:r>
            <a:r>
              <a:rPr lang="zh-CN" altLang="en-US" dirty="0"/>
              <a:t>转换原理</a:t>
            </a:r>
          </a:p>
        </p:txBody>
      </p:sp>
      <p:pic>
        <p:nvPicPr>
          <p:cNvPr id="3" name="图片 2">
            <a:extLst>
              <a:ext uri="{FF2B5EF4-FFF2-40B4-BE49-F238E27FC236}">
                <a16:creationId xmlns:a16="http://schemas.microsoft.com/office/drawing/2014/main" id="{1715A6E3-A4BD-4B3F-9343-54D068C44A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333" y="1722595"/>
            <a:ext cx="4521128" cy="3178658"/>
          </a:xfrm>
          <a:prstGeom prst="rect">
            <a:avLst/>
          </a:prstGeom>
        </p:spPr>
      </p:pic>
      <p:pic>
        <p:nvPicPr>
          <p:cNvPr id="7" name="图片 6">
            <a:extLst>
              <a:ext uri="{FF2B5EF4-FFF2-40B4-BE49-F238E27FC236}">
                <a16:creationId xmlns:a16="http://schemas.microsoft.com/office/drawing/2014/main" id="{6A150736-9728-4628-A143-26007723AE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7267" y="1537921"/>
            <a:ext cx="6766800" cy="4029124"/>
          </a:xfrm>
          <a:prstGeom prst="rect">
            <a:avLst/>
          </a:prstGeom>
        </p:spPr>
      </p:pic>
      <p:pic>
        <p:nvPicPr>
          <p:cNvPr id="11" name="图片 10">
            <a:extLst>
              <a:ext uri="{FF2B5EF4-FFF2-40B4-BE49-F238E27FC236}">
                <a16:creationId xmlns:a16="http://schemas.microsoft.com/office/drawing/2014/main" id="{088B1CEE-E3D3-4E03-A3C3-C5771595CC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200" y="5132779"/>
            <a:ext cx="4366638" cy="1425063"/>
          </a:xfrm>
          <a:prstGeom prst="rect">
            <a:avLst/>
          </a:prstGeom>
        </p:spPr>
      </p:pic>
      <p:sp>
        <p:nvSpPr>
          <p:cNvPr id="12" name="矩形 11">
            <a:extLst>
              <a:ext uri="{FF2B5EF4-FFF2-40B4-BE49-F238E27FC236}">
                <a16:creationId xmlns:a16="http://schemas.microsoft.com/office/drawing/2014/main" id="{AA2016F6-87A2-4FAD-81C9-9C99791E40AC}"/>
              </a:ext>
            </a:extLst>
          </p:cNvPr>
          <p:cNvSpPr/>
          <p:nvPr/>
        </p:nvSpPr>
        <p:spPr>
          <a:xfrm>
            <a:off x="2513519" y="3081867"/>
            <a:ext cx="1855281" cy="118533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487405172"/>
      </p:ext>
    </p:extLst>
  </p:cSld>
  <p:clrMapOvr>
    <a:masterClrMapping/>
  </p:clrMapOvr>
  <mc:AlternateContent xmlns:mc="http://schemas.openxmlformats.org/markup-compatibility/2006" xmlns:p14="http://schemas.microsoft.com/office/powerpoint/2010/main">
    <mc:Choice Requires="p14">
      <p:transition spd="slow" p14:dur="2000" advTm="55761"/>
    </mc:Choice>
    <mc:Fallback xmlns="">
      <p:transition spd="slow" advTm="5576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230217" y="2526245"/>
            <a:ext cx="5365907" cy="1805510"/>
            <a:chOff x="1225398" y="1538312"/>
            <a:chExt cx="3351352"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FFC00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并行编程辅助平台</a:t>
              </a: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225398" y="1538312"/>
              <a:ext cx="1075742" cy="830095"/>
            </a:xfrm>
            <a:prstGeom prst="rect">
              <a:avLst/>
            </a:prstGeom>
            <a:noFill/>
          </p:spPr>
          <p:txBody>
            <a:bodyPr wrap="square" lIns="0" tIns="0" rIns="0" bIns="0" rtlCol="0" anchor="ctr" anchorCtr="1">
              <a:normAutofit/>
            </a:bodyPr>
            <a:lstStyle/>
            <a:p>
              <a:pPr algn="ctr"/>
              <a:r>
                <a:rPr lang="en-US" altLang="zh-CN" sz="6000" b="1" dirty="0">
                  <a:solidFill>
                    <a:srgbClr val="FFC000"/>
                  </a:solidFill>
                </a:rPr>
                <a:t>2.2.2</a:t>
              </a:r>
              <a:endParaRPr lang="zh-CN" altLang="en-US" sz="6000" b="1" dirty="0">
                <a:solidFill>
                  <a:srgbClr val="FFC000"/>
                </a:solidFill>
              </a:endParaRPr>
            </a:p>
          </p:txBody>
        </p:sp>
      </p:grpSp>
    </p:spTree>
    <p:extLst>
      <p:ext uri="{BB962C8B-B14F-4D97-AF65-F5344CB8AC3E}">
        <p14:creationId xmlns:p14="http://schemas.microsoft.com/office/powerpoint/2010/main" val="647292458"/>
      </p:ext>
    </p:extLst>
  </p:cSld>
  <p:clrMapOvr>
    <a:masterClrMapping/>
  </p:clrMapOvr>
  <mc:AlternateContent xmlns:mc="http://schemas.openxmlformats.org/markup-compatibility/2006" xmlns:p14="http://schemas.microsoft.com/office/powerpoint/2010/main">
    <mc:Choice Requires="p14">
      <p:transition spd="slow" p14:dur="2000" advTm="3566"/>
    </mc:Choice>
    <mc:Fallback xmlns="">
      <p:transition spd="slow" advTm="3566"/>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并行编程辅助平台</a:t>
            </a:r>
          </a:p>
        </p:txBody>
      </p:sp>
      <p:pic>
        <p:nvPicPr>
          <p:cNvPr id="3" name="图片 2">
            <a:extLst>
              <a:ext uri="{FF2B5EF4-FFF2-40B4-BE49-F238E27FC236}">
                <a16:creationId xmlns:a16="http://schemas.microsoft.com/office/drawing/2014/main" id="{AF036770-D9CF-4CB3-9F02-92AF6AC637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7065" y="1722587"/>
            <a:ext cx="6191471" cy="5132605"/>
          </a:xfrm>
          <a:prstGeom prst="rect">
            <a:avLst/>
          </a:prstGeom>
        </p:spPr>
      </p:pic>
      <p:sp>
        <p:nvSpPr>
          <p:cNvPr id="7" name="文本框 6">
            <a:extLst>
              <a:ext uri="{FF2B5EF4-FFF2-40B4-BE49-F238E27FC236}">
                <a16:creationId xmlns:a16="http://schemas.microsoft.com/office/drawing/2014/main" id="{E788E393-4963-4A02-9746-242690114B67}"/>
              </a:ext>
            </a:extLst>
          </p:cNvPr>
          <p:cNvSpPr txBox="1"/>
          <p:nvPr/>
        </p:nvSpPr>
        <p:spPr>
          <a:xfrm>
            <a:off x="330200" y="1353255"/>
            <a:ext cx="290977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辅助平台 </a:t>
            </a:r>
            <a:r>
              <a:rPr lang="en-US" altLang="zh-CN" dirty="0"/>
              <a:t>—— </a:t>
            </a:r>
            <a:r>
              <a:rPr lang="zh-CN" altLang="en-US" dirty="0"/>
              <a:t>整体架构</a:t>
            </a:r>
          </a:p>
        </p:txBody>
      </p:sp>
      <p:graphicFrame>
        <p:nvGraphicFramePr>
          <p:cNvPr id="4" name="表格 8">
            <a:extLst>
              <a:ext uri="{FF2B5EF4-FFF2-40B4-BE49-F238E27FC236}">
                <a16:creationId xmlns:a16="http://schemas.microsoft.com/office/drawing/2014/main" id="{32B6C187-8452-4F59-A87A-785C9791B53F}"/>
              </a:ext>
            </a:extLst>
          </p:cNvPr>
          <p:cNvGraphicFramePr>
            <a:graphicFrameLocks noGrp="1"/>
          </p:cNvGraphicFramePr>
          <p:nvPr>
            <p:extLst>
              <p:ext uri="{D42A27DB-BD31-4B8C-83A1-F6EECF244321}">
                <p14:modId xmlns:p14="http://schemas.microsoft.com/office/powerpoint/2010/main" val="4257228083"/>
              </p:ext>
            </p:extLst>
          </p:nvPr>
        </p:nvGraphicFramePr>
        <p:xfrm>
          <a:off x="7035801" y="1670557"/>
          <a:ext cx="4919134" cy="1005840"/>
        </p:xfrm>
        <a:graphic>
          <a:graphicData uri="http://schemas.openxmlformats.org/drawingml/2006/table">
            <a:tbl>
              <a:tblPr firstRow="1" bandRow="1">
                <a:tableStyleId>{5C22544A-7EE6-4342-B048-85BDC9FD1C3A}</a:tableStyleId>
              </a:tblPr>
              <a:tblGrid>
                <a:gridCol w="2459567">
                  <a:extLst>
                    <a:ext uri="{9D8B030D-6E8A-4147-A177-3AD203B41FA5}">
                      <a16:colId xmlns:a16="http://schemas.microsoft.com/office/drawing/2014/main" val="588199643"/>
                    </a:ext>
                  </a:extLst>
                </a:gridCol>
                <a:gridCol w="2459567">
                  <a:extLst>
                    <a:ext uri="{9D8B030D-6E8A-4147-A177-3AD203B41FA5}">
                      <a16:colId xmlns:a16="http://schemas.microsoft.com/office/drawing/2014/main" val="1415202639"/>
                    </a:ext>
                  </a:extLst>
                </a:gridCol>
              </a:tblGrid>
              <a:tr h="0">
                <a:tc>
                  <a:txBody>
                    <a:bodyPr/>
                    <a:lstStyle/>
                    <a:p>
                      <a:pPr algn="ctr"/>
                      <a:r>
                        <a:rPr lang="zh-CN" altLang="en-US" dirty="0"/>
                        <a:t>实现机制</a:t>
                      </a:r>
                    </a:p>
                  </a:txBody>
                  <a:tcPr anchor="ctr">
                    <a:solidFill>
                      <a:srgbClr val="C00000"/>
                    </a:solidFill>
                  </a:tcPr>
                </a:tc>
                <a:tc>
                  <a:txBody>
                    <a:bodyPr/>
                    <a:lstStyle/>
                    <a:p>
                      <a:pPr algn="ctr"/>
                      <a:r>
                        <a:rPr lang="zh-CN" altLang="en-US" dirty="0"/>
                        <a:t>作用</a:t>
                      </a:r>
                    </a:p>
                  </a:txBody>
                  <a:tcPr anchor="ctr">
                    <a:solidFill>
                      <a:srgbClr val="C00000"/>
                    </a:solidFill>
                  </a:tcPr>
                </a:tc>
                <a:extLst>
                  <a:ext uri="{0D108BD9-81ED-4DB2-BD59-A6C34878D82A}">
                    <a16:rowId xmlns:a16="http://schemas.microsoft.com/office/drawing/2014/main" val="1677613657"/>
                  </a:ext>
                </a:extLst>
              </a:tr>
              <a:tr h="0">
                <a:tc>
                  <a:txBody>
                    <a:bodyPr/>
                    <a:lstStyle/>
                    <a:p>
                      <a:r>
                        <a:rPr lang="zh-CN" altLang="en-US" dirty="0"/>
                        <a:t>数据库表（</a:t>
                      </a:r>
                      <a:r>
                        <a:rPr lang="en-US" altLang="zh-CN" dirty="0"/>
                        <a:t>3</a:t>
                      </a:r>
                      <a:r>
                        <a:rPr lang="zh-CN" altLang="en-US" dirty="0"/>
                        <a:t>张）</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dirty="0"/>
                        <a:t>Java</a:t>
                      </a:r>
                      <a:r>
                        <a:rPr lang="zh-CN" altLang="en-US" dirty="0"/>
                        <a:t>实体类（</a:t>
                      </a:r>
                      <a:r>
                        <a:rPr lang="en-US" altLang="zh-CN" dirty="0"/>
                        <a:t>3</a:t>
                      </a:r>
                      <a:r>
                        <a:rPr lang="zh-CN" altLang="en-US" dirty="0"/>
                        <a:t>个）</a:t>
                      </a:r>
                    </a:p>
                  </a:txBody>
                  <a:tcPr anchor="ctr"/>
                </a:tc>
                <a:tc>
                  <a:txBody>
                    <a:bodyPr/>
                    <a:lstStyle/>
                    <a:p>
                      <a:r>
                        <a:rPr lang="zh-CN" altLang="en-US" sz="1350" b="0" i="0" u="none" strike="noStrike" kern="1200" baseline="0" dirty="0">
                          <a:solidFill>
                            <a:schemeClr val="dk1"/>
                          </a:solidFill>
                          <a:latin typeface="+mn-lt"/>
                          <a:ea typeface="+mn-ea"/>
                          <a:cs typeface="+mn-cs"/>
                        </a:rPr>
                        <a:t>为数据相关的操作提供支持服务，保证数据的一致性与稳定性</a:t>
                      </a:r>
                      <a:endParaRPr lang="zh-CN" altLang="en-US" dirty="0"/>
                    </a:p>
                  </a:txBody>
                  <a:tcPr anchor="ctr"/>
                </a:tc>
                <a:extLst>
                  <a:ext uri="{0D108BD9-81ED-4DB2-BD59-A6C34878D82A}">
                    <a16:rowId xmlns:a16="http://schemas.microsoft.com/office/drawing/2014/main" val="1754115297"/>
                  </a:ext>
                </a:extLst>
              </a:tr>
            </a:tbl>
          </a:graphicData>
        </a:graphic>
      </p:graphicFrame>
      <p:graphicFrame>
        <p:nvGraphicFramePr>
          <p:cNvPr id="10" name="表格 8">
            <a:extLst>
              <a:ext uri="{FF2B5EF4-FFF2-40B4-BE49-F238E27FC236}">
                <a16:creationId xmlns:a16="http://schemas.microsoft.com/office/drawing/2014/main" id="{01509EEB-C82C-4D4E-BE4E-AB1635362033}"/>
              </a:ext>
            </a:extLst>
          </p:cNvPr>
          <p:cNvGraphicFramePr>
            <a:graphicFrameLocks noGrp="1"/>
          </p:cNvGraphicFramePr>
          <p:nvPr>
            <p:extLst>
              <p:ext uri="{D42A27DB-BD31-4B8C-83A1-F6EECF244321}">
                <p14:modId xmlns:p14="http://schemas.microsoft.com/office/powerpoint/2010/main" val="1536827452"/>
              </p:ext>
            </p:extLst>
          </p:nvPr>
        </p:nvGraphicFramePr>
        <p:xfrm>
          <a:off x="7035801" y="3227859"/>
          <a:ext cx="4919134" cy="1005840"/>
        </p:xfrm>
        <a:graphic>
          <a:graphicData uri="http://schemas.openxmlformats.org/drawingml/2006/table">
            <a:tbl>
              <a:tblPr firstRow="1" bandRow="1">
                <a:tableStyleId>{5C22544A-7EE6-4342-B048-85BDC9FD1C3A}</a:tableStyleId>
              </a:tblPr>
              <a:tblGrid>
                <a:gridCol w="2459567">
                  <a:extLst>
                    <a:ext uri="{9D8B030D-6E8A-4147-A177-3AD203B41FA5}">
                      <a16:colId xmlns:a16="http://schemas.microsoft.com/office/drawing/2014/main" val="588199643"/>
                    </a:ext>
                  </a:extLst>
                </a:gridCol>
                <a:gridCol w="2459567">
                  <a:extLst>
                    <a:ext uri="{9D8B030D-6E8A-4147-A177-3AD203B41FA5}">
                      <a16:colId xmlns:a16="http://schemas.microsoft.com/office/drawing/2014/main" val="1415202639"/>
                    </a:ext>
                  </a:extLst>
                </a:gridCol>
              </a:tblGrid>
              <a:tr h="0">
                <a:tc>
                  <a:txBody>
                    <a:bodyPr/>
                    <a:lstStyle/>
                    <a:p>
                      <a:pPr algn="ctr"/>
                      <a:r>
                        <a:rPr lang="zh-CN" altLang="en-US" dirty="0"/>
                        <a:t>实现机制</a:t>
                      </a:r>
                    </a:p>
                  </a:txBody>
                  <a:tcPr anchor="ctr">
                    <a:solidFill>
                      <a:srgbClr val="C00000"/>
                    </a:solidFill>
                  </a:tcPr>
                </a:tc>
                <a:tc>
                  <a:txBody>
                    <a:bodyPr/>
                    <a:lstStyle/>
                    <a:p>
                      <a:pPr algn="ctr"/>
                      <a:r>
                        <a:rPr lang="zh-CN" altLang="en-US"/>
                        <a:t>作用</a:t>
                      </a:r>
                      <a:endParaRPr lang="zh-CN" altLang="en-US" dirty="0"/>
                    </a:p>
                  </a:txBody>
                  <a:tcPr anchor="ctr">
                    <a:solidFill>
                      <a:srgbClr val="C00000"/>
                    </a:solidFill>
                  </a:tcPr>
                </a:tc>
                <a:extLst>
                  <a:ext uri="{0D108BD9-81ED-4DB2-BD59-A6C34878D82A}">
                    <a16:rowId xmlns:a16="http://schemas.microsoft.com/office/drawing/2014/main" val="1677613657"/>
                  </a:ext>
                </a:extLst>
              </a:tr>
              <a:tr h="0">
                <a:tc>
                  <a:txBody>
                    <a:bodyPr/>
                    <a:lstStyle/>
                    <a:p>
                      <a:r>
                        <a:rPr lang="en-US" altLang="zh-CN" sz="1350" b="0" i="0" u="none" strike="noStrike" kern="1200" baseline="0" dirty="0" err="1">
                          <a:solidFill>
                            <a:schemeClr val="dk1"/>
                          </a:solidFill>
                          <a:latin typeface="+mn-lt"/>
                          <a:ea typeface="+mn-ea"/>
                          <a:cs typeface="+mn-cs"/>
                        </a:rPr>
                        <a:t>BootStrap</a:t>
                      </a:r>
                      <a:endParaRPr lang="en-US" altLang="zh-CN" sz="1350" b="0" i="0" u="none" strike="noStrike" kern="1200" baseline="0" dirty="0">
                        <a:solidFill>
                          <a:schemeClr val="dk1"/>
                        </a:solidFill>
                        <a:latin typeface="+mn-lt"/>
                        <a:ea typeface="+mn-ea"/>
                        <a:cs typeface="+mn-cs"/>
                      </a:endParaRPr>
                    </a:p>
                    <a:p>
                      <a:r>
                        <a:rPr lang="en-US" altLang="zh-CN" sz="1350" b="0" i="0" u="none" strike="noStrike" kern="1200" baseline="0" dirty="0">
                          <a:solidFill>
                            <a:schemeClr val="dk1"/>
                          </a:solidFill>
                          <a:latin typeface="+mn-lt"/>
                          <a:ea typeface="+mn-ea"/>
                          <a:cs typeface="+mn-cs"/>
                        </a:rPr>
                        <a:t>HTML5+CSS3+JavaScript</a:t>
                      </a:r>
                    </a:p>
                    <a:p>
                      <a:r>
                        <a:rPr lang="en-US" altLang="zh-CN" sz="1350" b="0" i="0" u="none" strike="noStrike" kern="1200" baseline="0" dirty="0">
                          <a:solidFill>
                            <a:schemeClr val="dk1"/>
                          </a:solidFill>
                          <a:latin typeface="+mn-lt"/>
                          <a:ea typeface="+mn-ea"/>
                          <a:cs typeface="+mn-cs"/>
                        </a:rPr>
                        <a:t>Ace Editor</a:t>
                      </a:r>
                    </a:p>
                  </a:txBody>
                  <a:tcPr anchor="ctr"/>
                </a:tc>
                <a:tc>
                  <a:txBody>
                    <a:bodyPr/>
                    <a:lstStyle/>
                    <a:p>
                      <a:r>
                        <a:rPr lang="zh-CN" altLang="en-US" sz="1350" b="0" i="0" u="none" strike="noStrike" kern="1200" baseline="0" dirty="0">
                          <a:solidFill>
                            <a:schemeClr val="dk1"/>
                          </a:solidFill>
                          <a:latin typeface="+mn-lt"/>
                          <a:ea typeface="+mn-ea"/>
                          <a:cs typeface="+mn-cs"/>
                        </a:rPr>
                        <a:t>为用户提供全面的功能服务和良好的交互体验</a:t>
                      </a:r>
                      <a:endParaRPr lang="zh-CN" altLang="en-US" dirty="0"/>
                    </a:p>
                  </a:txBody>
                  <a:tcPr anchor="ctr"/>
                </a:tc>
                <a:extLst>
                  <a:ext uri="{0D108BD9-81ED-4DB2-BD59-A6C34878D82A}">
                    <a16:rowId xmlns:a16="http://schemas.microsoft.com/office/drawing/2014/main" val="1754115297"/>
                  </a:ext>
                </a:extLst>
              </a:tr>
            </a:tbl>
          </a:graphicData>
        </a:graphic>
      </p:graphicFrame>
      <p:graphicFrame>
        <p:nvGraphicFramePr>
          <p:cNvPr id="11" name="表格 8">
            <a:extLst>
              <a:ext uri="{FF2B5EF4-FFF2-40B4-BE49-F238E27FC236}">
                <a16:creationId xmlns:a16="http://schemas.microsoft.com/office/drawing/2014/main" id="{DFA6FC81-E5AF-4BF1-9A21-9FB18BB6611B}"/>
              </a:ext>
            </a:extLst>
          </p:cNvPr>
          <p:cNvGraphicFramePr>
            <a:graphicFrameLocks noGrp="1"/>
          </p:cNvGraphicFramePr>
          <p:nvPr>
            <p:extLst>
              <p:ext uri="{D42A27DB-BD31-4B8C-83A1-F6EECF244321}">
                <p14:modId xmlns:p14="http://schemas.microsoft.com/office/powerpoint/2010/main" val="171282487"/>
              </p:ext>
            </p:extLst>
          </p:nvPr>
        </p:nvGraphicFramePr>
        <p:xfrm>
          <a:off x="7035801" y="5187443"/>
          <a:ext cx="4919134" cy="1417320"/>
        </p:xfrm>
        <a:graphic>
          <a:graphicData uri="http://schemas.openxmlformats.org/drawingml/2006/table">
            <a:tbl>
              <a:tblPr firstRow="1" bandRow="1">
                <a:tableStyleId>{5C22544A-7EE6-4342-B048-85BDC9FD1C3A}</a:tableStyleId>
              </a:tblPr>
              <a:tblGrid>
                <a:gridCol w="2459567">
                  <a:extLst>
                    <a:ext uri="{9D8B030D-6E8A-4147-A177-3AD203B41FA5}">
                      <a16:colId xmlns:a16="http://schemas.microsoft.com/office/drawing/2014/main" val="588199643"/>
                    </a:ext>
                  </a:extLst>
                </a:gridCol>
                <a:gridCol w="2459567">
                  <a:extLst>
                    <a:ext uri="{9D8B030D-6E8A-4147-A177-3AD203B41FA5}">
                      <a16:colId xmlns:a16="http://schemas.microsoft.com/office/drawing/2014/main" val="1415202639"/>
                    </a:ext>
                  </a:extLst>
                </a:gridCol>
              </a:tblGrid>
              <a:tr h="0">
                <a:tc>
                  <a:txBody>
                    <a:bodyPr/>
                    <a:lstStyle/>
                    <a:p>
                      <a:pPr algn="ctr"/>
                      <a:r>
                        <a:rPr lang="zh-CN" altLang="en-US"/>
                        <a:t>实现机制</a:t>
                      </a:r>
                      <a:endParaRPr lang="zh-CN" altLang="en-US" dirty="0"/>
                    </a:p>
                  </a:txBody>
                  <a:tcPr anchor="ctr">
                    <a:solidFill>
                      <a:srgbClr val="C00000"/>
                    </a:solidFill>
                  </a:tcPr>
                </a:tc>
                <a:tc>
                  <a:txBody>
                    <a:bodyPr/>
                    <a:lstStyle/>
                    <a:p>
                      <a:pPr algn="ctr"/>
                      <a:r>
                        <a:rPr lang="zh-CN" altLang="en-US"/>
                        <a:t>作用</a:t>
                      </a:r>
                      <a:endParaRPr lang="zh-CN" altLang="en-US" dirty="0"/>
                    </a:p>
                  </a:txBody>
                  <a:tcPr anchor="ctr">
                    <a:solidFill>
                      <a:srgbClr val="C00000"/>
                    </a:solidFill>
                  </a:tcPr>
                </a:tc>
                <a:extLst>
                  <a:ext uri="{0D108BD9-81ED-4DB2-BD59-A6C34878D82A}">
                    <a16:rowId xmlns:a16="http://schemas.microsoft.com/office/drawing/2014/main" val="1677613657"/>
                  </a:ext>
                </a:extLst>
              </a:tr>
              <a:tr h="0">
                <a:tc>
                  <a:txBody>
                    <a:bodyPr/>
                    <a:lstStyle/>
                    <a:p>
                      <a:r>
                        <a:rPr lang="en-US" altLang="zh-CN" sz="1350" b="0" i="0" u="none" strike="noStrike" kern="1200" baseline="0" dirty="0">
                          <a:solidFill>
                            <a:schemeClr val="dk1"/>
                          </a:solidFill>
                          <a:latin typeface="+mn-lt"/>
                          <a:ea typeface="+mn-ea"/>
                          <a:cs typeface="+mn-cs"/>
                        </a:rPr>
                        <a:t>Apache Tomcat7.0 	</a:t>
                      </a:r>
                    </a:p>
                    <a:p>
                      <a:r>
                        <a:rPr lang="en-US" altLang="zh-CN" sz="1350" b="0" i="0" u="none" strike="noStrike" kern="1200" baseline="0" dirty="0" err="1">
                          <a:solidFill>
                            <a:schemeClr val="dk1"/>
                          </a:solidFill>
                          <a:latin typeface="+mn-lt"/>
                          <a:ea typeface="+mn-ea"/>
                          <a:cs typeface="+mn-cs"/>
                        </a:rPr>
                        <a:t>GateOne</a:t>
                      </a:r>
                      <a:r>
                        <a:rPr lang="en-US" altLang="zh-CN" sz="1350" b="0" i="0" u="none" strike="noStrike" kern="1200" baseline="0" dirty="0">
                          <a:solidFill>
                            <a:schemeClr val="dk1"/>
                          </a:solidFill>
                          <a:latin typeface="+mn-lt"/>
                          <a:ea typeface="+mn-ea"/>
                          <a:cs typeface="+mn-cs"/>
                        </a:rPr>
                        <a:t> 	</a:t>
                      </a:r>
                    </a:p>
                    <a:p>
                      <a:r>
                        <a:rPr lang="en-US" altLang="zh-CN" sz="1350" b="0" i="0" u="none" strike="noStrike" kern="1200" baseline="0" dirty="0">
                          <a:solidFill>
                            <a:schemeClr val="dk1"/>
                          </a:solidFill>
                          <a:latin typeface="+mn-lt"/>
                          <a:ea typeface="+mn-ea"/>
                          <a:cs typeface="+mn-cs"/>
                        </a:rPr>
                        <a:t>JDBC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XSLT+</a:t>
                      </a:r>
                      <a:r>
                        <a:rPr lang="zh-CN" altLang="en-US" sz="1350" b="0" i="0" u="none" strike="noStrike" kern="1200" baseline="0" dirty="0">
                          <a:solidFill>
                            <a:schemeClr val="dk1"/>
                          </a:solidFill>
                          <a:latin typeface="+mn-lt"/>
                          <a:ea typeface="+mn-ea"/>
                          <a:cs typeface="+mn-cs"/>
                        </a:rPr>
                        <a:t>转换程序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350" b="0" i="0" u="none" strike="noStrike" kern="1200" baseline="0" dirty="0">
                          <a:solidFill>
                            <a:schemeClr val="dk1"/>
                          </a:solidFill>
                          <a:latin typeface="+mn-lt"/>
                          <a:ea typeface="+mn-ea"/>
                          <a:cs typeface="+mn-cs"/>
                        </a:rPr>
                        <a:t>DGCNN</a:t>
                      </a:r>
                      <a:r>
                        <a:rPr lang="zh-CN" altLang="en-US" sz="1350" b="0" i="0" u="none" strike="noStrike" kern="1200" baseline="0" dirty="0">
                          <a:solidFill>
                            <a:schemeClr val="dk1"/>
                          </a:solidFill>
                          <a:latin typeface="+mn-lt"/>
                          <a:ea typeface="+mn-ea"/>
                          <a:cs typeface="+mn-cs"/>
                        </a:rPr>
                        <a:t>识别模型 	</a:t>
                      </a:r>
                    </a:p>
                  </a:txBody>
                  <a:tcPr anchor="ctr"/>
                </a:tc>
                <a:tc>
                  <a:txBody>
                    <a:bodyPr/>
                    <a:lstStyle/>
                    <a:p>
                      <a:r>
                        <a:rPr lang="zh-CN" altLang="en-US" sz="1350" b="0" i="0" u="none" strike="noStrike" kern="1200" baseline="0" dirty="0">
                          <a:solidFill>
                            <a:schemeClr val="dk1"/>
                          </a:solidFill>
                          <a:latin typeface="+mn-lt"/>
                          <a:ea typeface="+mn-ea"/>
                          <a:cs typeface="+mn-cs"/>
                        </a:rPr>
                        <a:t>整个平台的逻辑核心，在保证平台被用户正常访问的前提下，稳定持续地为用户提供服务</a:t>
                      </a:r>
                      <a:endParaRPr lang="zh-CN" altLang="en-US" dirty="0"/>
                    </a:p>
                  </a:txBody>
                  <a:tcPr anchor="ctr"/>
                </a:tc>
                <a:extLst>
                  <a:ext uri="{0D108BD9-81ED-4DB2-BD59-A6C34878D82A}">
                    <a16:rowId xmlns:a16="http://schemas.microsoft.com/office/drawing/2014/main" val="1754115297"/>
                  </a:ext>
                </a:extLst>
              </a:tr>
            </a:tbl>
          </a:graphicData>
        </a:graphic>
      </p:graphicFrame>
      <p:cxnSp>
        <p:nvCxnSpPr>
          <p:cNvPr id="13" name="直接箭头连接符 12">
            <a:extLst>
              <a:ext uri="{FF2B5EF4-FFF2-40B4-BE49-F238E27FC236}">
                <a16:creationId xmlns:a16="http://schemas.microsoft.com/office/drawing/2014/main" id="{33CC908B-947C-4B17-BE71-60D2E37BCCF4}"/>
              </a:ext>
            </a:extLst>
          </p:cNvPr>
          <p:cNvCxnSpPr/>
          <p:nvPr/>
        </p:nvCxnSpPr>
        <p:spPr>
          <a:xfrm>
            <a:off x="6239933" y="2311400"/>
            <a:ext cx="719667"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54A1CFC6-F5E0-47C7-AF0D-B2B5413AA67C}"/>
              </a:ext>
            </a:extLst>
          </p:cNvPr>
          <p:cNvCxnSpPr/>
          <p:nvPr/>
        </p:nvCxnSpPr>
        <p:spPr>
          <a:xfrm>
            <a:off x="6239932" y="3793067"/>
            <a:ext cx="719667"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4C535F83-3EEE-40B6-85E4-BC8962FCCF77}"/>
              </a:ext>
            </a:extLst>
          </p:cNvPr>
          <p:cNvCxnSpPr/>
          <p:nvPr/>
        </p:nvCxnSpPr>
        <p:spPr>
          <a:xfrm>
            <a:off x="6239932" y="6104467"/>
            <a:ext cx="719667" cy="0"/>
          </a:xfrm>
          <a:prstGeom prst="straightConnector1">
            <a:avLst/>
          </a:prstGeom>
          <a:ln w="38100">
            <a:solidFill>
              <a:srgbClr val="44B36E"/>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42695157"/>
      </p:ext>
    </p:extLst>
  </p:cSld>
  <p:clrMapOvr>
    <a:masterClrMapping/>
  </p:clrMapOvr>
  <mc:AlternateContent xmlns:mc="http://schemas.openxmlformats.org/markup-compatibility/2006" xmlns:p14="http://schemas.microsoft.com/office/powerpoint/2010/main">
    <mc:Choice Requires="p14">
      <p:transition spd="slow" p14:dur="2000" advTm="38816"/>
    </mc:Choice>
    <mc:Fallback xmlns="">
      <p:transition spd="slow" advTm="388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并行编程辅助平台</a:t>
            </a:r>
          </a:p>
        </p:txBody>
      </p:sp>
      <p:sp>
        <p:nvSpPr>
          <p:cNvPr id="7" name="文本框 6">
            <a:extLst>
              <a:ext uri="{FF2B5EF4-FFF2-40B4-BE49-F238E27FC236}">
                <a16:creationId xmlns:a16="http://schemas.microsoft.com/office/drawing/2014/main" id="{E788E393-4963-4A02-9746-242690114B67}"/>
              </a:ext>
            </a:extLst>
          </p:cNvPr>
          <p:cNvSpPr txBox="1"/>
          <p:nvPr/>
        </p:nvSpPr>
        <p:spPr>
          <a:xfrm>
            <a:off x="330200" y="1353255"/>
            <a:ext cx="4063933"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辅助平台 </a:t>
            </a:r>
            <a:r>
              <a:rPr lang="en-US" altLang="zh-CN" dirty="0"/>
              <a:t>—— </a:t>
            </a:r>
            <a:r>
              <a:rPr lang="zh-CN" altLang="en-US" dirty="0"/>
              <a:t>开发实例并行性识别</a:t>
            </a:r>
          </a:p>
        </p:txBody>
      </p:sp>
      <p:pic>
        <p:nvPicPr>
          <p:cNvPr id="9" name="图片 8">
            <a:extLst>
              <a:ext uri="{FF2B5EF4-FFF2-40B4-BE49-F238E27FC236}">
                <a16:creationId xmlns:a16="http://schemas.microsoft.com/office/drawing/2014/main" id="{83D8AA19-240B-4670-8E56-36B136CB8C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2149" y="1728440"/>
            <a:ext cx="6702501" cy="4854890"/>
          </a:xfrm>
          <a:prstGeom prst="rect">
            <a:avLst/>
          </a:prstGeom>
        </p:spPr>
      </p:pic>
      <p:sp>
        <p:nvSpPr>
          <p:cNvPr id="12" name="文本框 11">
            <a:extLst>
              <a:ext uri="{FF2B5EF4-FFF2-40B4-BE49-F238E27FC236}">
                <a16:creationId xmlns:a16="http://schemas.microsoft.com/office/drawing/2014/main" id="{476187C7-F5DE-42EA-8EB3-7DFF292CE554}"/>
              </a:ext>
            </a:extLst>
          </p:cNvPr>
          <p:cNvSpPr txBox="1"/>
          <p:nvPr/>
        </p:nvSpPr>
        <p:spPr>
          <a:xfrm>
            <a:off x="237065" y="2238189"/>
            <a:ext cx="3025187" cy="923330"/>
          </a:xfrm>
          <a:prstGeom prst="rect">
            <a:avLst/>
          </a:prstGeom>
          <a:noFill/>
        </p:spPr>
        <p:txBody>
          <a:bodyPr wrap="none" rtlCol="0">
            <a:spAutoFit/>
          </a:bodyPr>
          <a:lstStyle/>
          <a:p>
            <a:r>
              <a:rPr lang="zh-CN" altLang="en-US" dirty="0"/>
              <a:t>使用</a:t>
            </a:r>
            <a:r>
              <a:rPr lang="en-US" altLang="zh-CN" dirty="0" err="1"/>
              <a:t>MPI+OpenMP</a:t>
            </a:r>
            <a:r>
              <a:rPr lang="zh-CN" altLang="en-US" dirty="0"/>
              <a:t>混合编程</a:t>
            </a:r>
            <a:endParaRPr lang="en-US" altLang="zh-CN" dirty="0"/>
          </a:p>
          <a:p>
            <a:r>
              <a:rPr lang="zh-CN" altLang="en-US" dirty="0"/>
              <a:t>模型，对计算</a:t>
            </a:r>
            <a:r>
              <a:rPr lang="en-US" altLang="zh-CN" dirty="0"/>
              <a:t>PI</a:t>
            </a:r>
            <a:r>
              <a:rPr lang="zh-CN" altLang="en-US" dirty="0"/>
              <a:t>的程序进行</a:t>
            </a:r>
            <a:endParaRPr lang="en-US" altLang="zh-CN" dirty="0"/>
          </a:p>
          <a:p>
            <a:r>
              <a:rPr lang="zh-CN" altLang="en-US" dirty="0"/>
              <a:t>并行化。</a:t>
            </a:r>
          </a:p>
        </p:txBody>
      </p:sp>
    </p:spTree>
    <p:custDataLst>
      <p:tags r:id="rId1"/>
    </p:custDataLst>
    <p:extLst>
      <p:ext uri="{BB962C8B-B14F-4D97-AF65-F5344CB8AC3E}">
        <p14:creationId xmlns:p14="http://schemas.microsoft.com/office/powerpoint/2010/main" val="668843906"/>
      </p:ext>
    </p:extLst>
  </p:cSld>
  <p:clrMapOvr>
    <a:masterClrMapping/>
  </p:clrMapOvr>
  <mc:AlternateContent xmlns:mc="http://schemas.openxmlformats.org/markup-compatibility/2006" xmlns:p14="http://schemas.microsoft.com/office/powerpoint/2010/main">
    <mc:Choice Requires="p14">
      <p:transition spd="slow" p14:dur="2000" advTm="25653"/>
    </mc:Choice>
    <mc:Fallback xmlns="">
      <p:transition spd="slow" advTm="256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并行编程辅助平台</a:t>
            </a:r>
          </a:p>
        </p:txBody>
      </p:sp>
      <p:sp>
        <p:nvSpPr>
          <p:cNvPr id="7" name="文本框 6">
            <a:extLst>
              <a:ext uri="{FF2B5EF4-FFF2-40B4-BE49-F238E27FC236}">
                <a16:creationId xmlns:a16="http://schemas.microsoft.com/office/drawing/2014/main" id="{E788E393-4963-4A02-9746-242690114B67}"/>
              </a:ext>
            </a:extLst>
          </p:cNvPr>
          <p:cNvSpPr txBox="1"/>
          <p:nvPr/>
        </p:nvSpPr>
        <p:spPr>
          <a:xfrm>
            <a:off x="330200" y="1353255"/>
            <a:ext cx="383310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辅助平台 </a:t>
            </a:r>
            <a:r>
              <a:rPr lang="en-US" altLang="zh-CN" dirty="0"/>
              <a:t>—— </a:t>
            </a:r>
            <a:r>
              <a:rPr lang="zh-CN" altLang="en-US" dirty="0"/>
              <a:t>开发实例程序转换</a:t>
            </a:r>
          </a:p>
        </p:txBody>
      </p:sp>
      <p:pic>
        <p:nvPicPr>
          <p:cNvPr id="3" name="图片 2">
            <a:extLst>
              <a:ext uri="{FF2B5EF4-FFF2-40B4-BE49-F238E27FC236}">
                <a16:creationId xmlns:a16="http://schemas.microsoft.com/office/drawing/2014/main" id="{F0580621-F77B-4D9C-8A73-38518E2F0A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2383" y="1761068"/>
            <a:ext cx="8767234" cy="4845770"/>
          </a:xfrm>
          <a:prstGeom prst="rect">
            <a:avLst/>
          </a:prstGeom>
        </p:spPr>
      </p:pic>
    </p:spTree>
    <p:custDataLst>
      <p:tags r:id="rId1"/>
    </p:custDataLst>
    <p:extLst>
      <p:ext uri="{BB962C8B-B14F-4D97-AF65-F5344CB8AC3E}">
        <p14:creationId xmlns:p14="http://schemas.microsoft.com/office/powerpoint/2010/main" val="3469716636"/>
      </p:ext>
    </p:extLst>
  </p:cSld>
  <p:clrMapOvr>
    <a:masterClrMapping/>
  </p:clrMapOvr>
  <mc:AlternateContent xmlns:mc="http://schemas.openxmlformats.org/markup-compatibility/2006" xmlns:p14="http://schemas.microsoft.com/office/powerpoint/2010/main">
    <mc:Choice Requires="p14">
      <p:transition spd="slow" p14:dur="2000" advTm="18021"/>
    </mc:Choice>
    <mc:Fallback xmlns="">
      <p:transition spd="slow" advTm="1802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并行编程辅助平台</a:t>
            </a:r>
          </a:p>
        </p:txBody>
      </p:sp>
      <p:sp>
        <p:nvSpPr>
          <p:cNvPr id="7" name="文本框 6">
            <a:extLst>
              <a:ext uri="{FF2B5EF4-FFF2-40B4-BE49-F238E27FC236}">
                <a16:creationId xmlns:a16="http://schemas.microsoft.com/office/drawing/2014/main" id="{E788E393-4963-4A02-9746-242690114B67}"/>
              </a:ext>
            </a:extLst>
          </p:cNvPr>
          <p:cNvSpPr txBox="1"/>
          <p:nvPr/>
        </p:nvSpPr>
        <p:spPr>
          <a:xfrm>
            <a:off x="330200" y="1353255"/>
            <a:ext cx="3833101"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辅助平台 </a:t>
            </a:r>
            <a:r>
              <a:rPr lang="en-US" altLang="zh-CN" dirty="0"/>
              <a:t>—— </a:t>
            </a:r>
            <a:r>
              <a:rPr lang="zh-CN" altLang="en-US" dirty="0"/>
              <a:t>开发实例远程调试</a:t>
            </a:r>
          </a:p>
        </p:txBody>
      </p:sp>
      <p:pic>
        <p:nvPicPr>
          <p:cNvPr id="4" name="图片 3">
            <a:extLst>
              <a:ext uri="{FF2B5EF4-FFF2-40B4-BE49-F238E27FC236}">
                <a16:creationId xmlns:a16="http://schemas.microsoft.com/office/drawing/2014/main" id="{8285F5DB-CD9F-48EC-B31D-15E426DE8E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76809" y="1722587"/>
            <a:ext cx="7438382" cy="4914537"/>
          </a:xfrm>
          <a:prstGeom prst="rect">
            <a:avLst/>
          </a:prstGeom>
        </p:spPr>
      </p:pic>
    </p:spTree>
    <p:custDataLst>
      <p:tags r:id="rId1"/>
    </p:custDataLst>
    <p:extLst>
      <p:ext uri="{BB962C8B-B14F-4D97-AF65-F5344CB8AC3E}">
        <p14:creationId xmlns:p14="http://schemas.microsoft.com/office/powerpoint/2010/main" val="3725577152"/>
      </p:ext>
    </p:extLst>
  </p:cSld>
  <p:clrMapOvr>
    <a:masterClrMapping/>
  </p:clrMapOvr>
  <mc:AlternateContent xmlns:mc="http://schemas.openxmlformats.org/markup-compatibility/2006" xmlns:p14="http://schemas.microsoft.com/office/powerpoint/2010/main">
    <mc:Choice Requires="p14">
      <p:transition spd="slow" p14:dur="2000" advTm="12924"/>
    </mc:Choice>
    <mc:Fallback xmlns="">
      <p:transition spd="slow" advTm="129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并行编程辅助平台</a:t>
            </a:r>
          </a:p>
        </p:txBody>
      </p:sp>
      <p:sp>
        <p:nvSpPr>
          <p:cNvPr id="7" name="文本框 6">
            <a:extLst>
              <a:ext uri="{FF2B5EF4-FFF2-40B4-BE49-F238E27FC236}">
                <a16:creationId xmlns:a16="http://schemas.microsoft.com/office/drawing/2014/main" id="{E788E393-4963-4A02-9746-242690114B67}"/>
              </a:ext>
            </a:extLst>
          </p:cNvPr>
          <p:cNvSpPr txBox="1"/>
          <p:nvPr/>
        </p:nvSpPr>
        <p:spPr>
          <a:xfrm>
            <a:off x="330200" y="1353255"/>
            <a:ext cx="3371436" cy="369332"/>
          </a:xfrm>
          <a:prstGeom prst="rect">
            <a:avLst/>
          </a:prstGeom>
          <a:noFill/>
        </p:spPr>
        <p:txBody>
          <a:bodyPr wrap="none" rtlCol="0">
            <a:spAutoFit/>
          </a:bodyPr>
          <a:lstStyle/>
          <a:p>
            <a:pPr marL="285750" indent="-285750">
              <a:buFont typeface="Wingdings" panose="05000000000000000000" pitchFamily="2" charset="2"/>
              <a:buChar char="u"/>
            </a:pPr>
            <a:r>
              <a:rPr lang="zh-CN" altLang="en-US" dirty="0"/>
              <a:t>辅助平台 </a:t>
            </a:r>
            <a:r>
              <a:rPr lang="en-US" altLang="zh-CN" dirty="0"/>
              <a:t>—— </a:t>
            </a:r>
            <a:r>
              <a:rPr lang="zh-CN" altLang="en-US" dirty="0"/>
              <a:t>时间性能评估</a:t>
            </a:r>
          </a:p>
        </p:txBody>
      </p:sp>
      <p:pic>
        <p:nvPicPr>
          <p:cNvPr id="3" name="图片 2">
            <a:extLst>
              <a:ext uri="{FF2B5EF4-FFF2-40B4-BE49-F238E27FC236}">
                <a16:creationId xmlns:a16="http://schemas.microsoft.com/office/drawing/2014/main" id="{F80A9AF4-A272-46E9-8F3D-5F72140F5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2332" y="1722587"/>
            <a:ext cx="5561304" cy="2570648"/>
          </a:xfrm>
          <a:prstGeom prst="rect">
            <a:avLst/>
          </a:prstGeom>
        </p:spPr>
      </p:pic>
      <p:sp>
        <p:nvSpPr>
          <p:cNvPr id="4" name="文本框 3">
            <a:extLst>
              <a:ext uri="{FF2B5EF4-FFF2-40B4-BE49-F238E27FC236}">
                <a16:creationId xmlns:a16="http://schemas.microsoft.com/office/drawing/2014/main" id="{DDA9C65F-57FD-4531-AF1C-9775F39D03B7}"/>
              </a:ext>
            </a:extLst>
          </p:cNvPr>
          <p:cNvSpPr txBox="1"/>
          <p:nvPr/>
        </p:nvSpPr>
        <p:spPr>
          <a:xfrm>
            <a:off x="330200" y="2302933"/>
            <a:ext cx="3877985" cy="2031325"/>
          </a:xfrm>
          <a:prstGeom prst="rect">
            <a:avLst/>
          </a:prstGeom>
          <a:noFill/>
        </p:spPr>
        <p:txBody>
          <a:bodyPr wrap="none" rtlCol="0">
            <a:spAutoFit/>
          </a:bodyPr>
          <a:lstStyle/>
          <a:p>
            <a:r>
              <a:rPr lang="zh-CN" altLang="en-US" dirty="0"/>
              <a:t>对于</a:t>
            </a:r>
            <a:r>
              <a:rPr lang="en-US" altLang="zh-CN" dirty="0"/>
              <a:t>100</a:t>
            </a:r>
            <a:r>
              <a:rPr lang="zh-CN" altLang="en-US" dirty="0"/>
              <a:t>个循环片段，分别采用</a:t>
            </a:r>
            <a:r>
              <a:rPr lang="en-US" altLang="zh-CN" dirty="0"/>
              <a:t>Pluto</a:t>
            </a:r>
          </a:p>
          <a:p>
            <a:r>
              <a:rPr lang="zh-CN" altLang="en-US" dirty="0"/>
              <a:t>和</a:t>
            </a:r>
            <a:r>
              <a:rPr lang="en-US" altLang="zh-CN" dirty="0"/>
              <a:t>DGCNN</a:t>
            </a:r>
            <a:r>
              <a:rPr lang="zh-CN" altLang="en-US" dirty="0"/>
              <a:t>模型进行并行性识别</a:t>
            </a:r>
            <a:endParaRPr lang="en-US" altLang="zh-CN" dirty="0"/>
          </a:p>
          <a:p>
            <a:endParaRPr lang="en-US" altLang="zh-CN" dirty="0"/>
          </a:p>
          <a:p>
            <a:endParaRPr lang="en-US" altLang="zh-CN" dirty="0"/>
          </a:p>
          <a:p>
            <a:r>
              <a:rPr lang="zh-CN" altLang="en-US" dirty="0"/>
              <a:t>以此评估辅助平台在处理多个案例时</a:t>
            </a:r>
            <a:endParaRPr lang="en-US" altLang="zh-CN" dirty="0"/>
          </a:p>
          <a:p>
            <a:r>
              <a:rPr lang="zh-CN" altLang="en-US" dirty="0"/>
              <a:t>相较于其他并行性分析工具的时间性</a:t>
            </a:r>
            <a:endParaRPr lang="en-US" altLang="zh-CN" dirty="0"/>
          </a:p>
          <a:p>
            <a:r>
              <a:rPr lang="zh-CN" altLang="en-US" dirty="0"/>
              <a:t>能</a:t>
            </a:r>
          </a:p>
        </p:txBody>
      </p:sp>
      <p:graphicFrame>
        <p:nvGraphicFramePr>
          <p:cNvPr id="9" name="表格 9">
            <a:extLst>
              <a:ext uri="{FF2B5EF4-FFF2-40B4-BE49-F238E27FC236}">
                <a16:creationId xmlns:a16="http://schemas.microsoft.com/office/drawing/2014/main" id="{AF924417-36A2-4455-8450-BB70DDA54B94}"/>
              </a:ext>
            </a:extLst>
          </p:cNvPr>
          <p:cNvGraphicFramePr>
            <a:graphicFrameLocks noGrp="1"/>
          </p:cNvGraphicFramePr>
          <p:nvPr>
            <p:extLst>
              <p:ext uri="{D42A27DB-BD31-4B8C-83A1-F6EECF244321}">
                <p14:modId xmlns:p14="http://schemas.microsoft.com/office/powerpoint/2010/main" val="463084243"/>
              </p:ext>
            </p:extLst>
          </p:nvPr>
        </p:nvGraphicFramePr>
        <p:xfrm>
          <a:off x="330200" y="4648200"/>
          <a:ext cx="8128000" cy="8915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63359627"/>
                    </a:ext>
                  </a:extLst>
                </a:gridCol>
                <a:gridCol w="2032000">
                  <a:extLst>
                    <a:ext uri="{9D8B030D-6E8A-4147-A177-3AD203B41FA5}">
                      <a16:colId xmlns:a16="http://schemas.microsoft.com/office/drawing/2014/main" val="3521589063"/>
                    </a:ext>
                  </a:extLst>
                </a:gridCol>
                <a:gridCol w="2032000">
                  <a:extLst>
                    <a:ext uri="{9D8B030D-6E8A-4147-A177-3AD203B41FA5}">
                      <a16:colId xmlns:a16="http://schemas.microsoft.com/office/drawing/2014/main" val="4145455216"/>
                    </a:ext>
                  </a:extLst>
                </a:gridCol>
                <a:gridCol w="2032000">
                  <a:extLst>
                    <a:ext uri="{9D8B030D-6E8A-4147-A177-3AD203B41FA5}">
                      <a16:colId xmlns:a16="http://schemas.microsoft.com/office/drawing/2014/main" val="2563173902"/>
                    </a:ext>
                  </a:extLst>
                </a:gridCol>
              </a:tblGrid>
              <a:tr h="0">
                <a:tc>
                  <a:txBody>
                    <a:bodyPr/>
                    <a:lstStyle/>
                    <a:p>
                      <a:r>
                        <a:rPr lang="zh-CN" altLang="en-US" dirty="0"/>
                        <a:t>工具</a:t>
                      </a:r>
                    </a:p>
                  </a:txBody>
                  <a:tcPr>
                    <a:solidFill>
                      <a:srgbClr val="C00000"/>
                    </a:solidFill>
                  </a:tcPr>
                </a:tc>
                <a:tc>
                  <a:txBody>
                    <a:bodyPr/>
                    <a:lstStyle/>
                    <a:p>
                      <a:r>
                        <a:rPr lang="zh-CN" altLang="en-US" dirty="0"/>
                        <a:t>案例数量</a:t>
                      </a:r>
                    </a:p>
                  </a:txBody>
                  <a:tcPr>
                    <a:solidFill>
                      <a:srgbClr val="C00000"/>
                    </a:solidFill>
                  </a:tcPr>
                </a:tc>
                <a:tc>
                  <a:txBody>
                    <a:bodyPr/>
                    <a:lstStyle/>
                    <a:p>
                      <a:r>
                        <a:rPr lang="zh-CN" altLang="en-US" dirty="0"/>
                        <a:t>总时间（</a:t>
                      </a:r>
                      <a:r>
                        <a:rPr lang="en-US" altLang="zh-CN" dirty="0"/>
                        <a:t>s</a:t>
                      </a:r>
                      <a:r>
                        <a:rPr lang="zh-CN" altLang="en-US" dirty="0"/>
                        <a:t>）</a:t>
                      </a:r>
                    </a:p>
                  </a:txBody>
                  <a:tcPr>
                    <a:solidFill>
                      <a:srgbClr val="C00000"/>
                    </a:solidFill>
                  </a:tcPr>
                </a:tc>
                <a:tc>
                  <a:txBody>
                    <a:bodyPr/>
                    <a:lstStyle/>
                    <a:p>
                      <a:r>
                        <a:rPr lang="zh-CN" altLang="en-US" dirty="0"/>
                        <a:t>平均时间（</a:t>
                      </a:r>
                      <a:r>
                        <a:rPr lang="en-US" altLang="zh-CN" dirty="0"/>
                        <a:t>s</a:t>
                      </a:r>
                      <a:r>
                        <a:rPr lang="zh-CN" altLang="en-US" dirty="0"/>
                        <a:t>）</a:t>
                      </a:r>
                    </a:p>
                  </a:txBody>
                  <a:tcPr>
                    <a:solidFill>
                      <a:srgbClr val="C00000"/>
                    </a:solidFill>
                  </a:tcPr>
                </a:tc>
                <a:extLst>
                  <a:ext uri="{0D108BD9-81ED-4DB2-BD59-A6C34878D82A}">
                    <a16:rowId xmlns:a16="http://schemas.microsoft.com/office/drawing/2014/main" val="1352593080"/>
                  </a:ext>
                </a:extLst>
              </a:tr>
              <a:tr h="0">
                <a:tc>
                  <a:txBody>
                    <a:bodyPr/>
                    <a:lstStyle/>
                    <a:p>
                      <a:r>
                        <a:rPr lang="en-US" altLang="zh-CN" dirty="0"/>
                        <a:t>Pluto</a:t>
                      </a:r>
                      <a:endParaRPr lang="zh-CN" altLang="en-US" dirty="0"/>
                    </a:p>
                  </a:txBody>
                  <a:tcPr/>
                </a:tc>
                <a:tc>
                  <a:txBody>
                    <a:bodyPr/>
                    <a:lstStyle/>
                    <a:p>
                      <a:r>
                        <a:rPr lang="en-US" altLang="zh-CN" dirty="0"/>
                        <a:t>100</a:t>
                      </a:r>
                      <a:endParaRPr lang="zh-CN" altLang="en-US" dirty="0"/>
                    </a:p>
                  </a:txBody>
                  <a:tcPr/>
                </a:tc>
                <a:tc>
                  <a:txBody>
                    <a:bodyPr/>
                    <a:lstStyle/>
                    <a:p>
                      <a:r>
                        <a:rPr lang="en-US" altLang="zh-CN" dirty="0"/>
                        <a:t>2732.41</a:t>
                      </a:r>
                      <a:endParaRPr lang="zh-CN" altLang="en-US" dirty="0"/>
                    </a:p>
                  </a:txBody>
                  <a:tcPr/>
                </a:tc>
                <a:tc>
                  <a:txBody>
                    <a:bodyPr/>
                    <a:lstStyle/>
                    <a:p>
                      <a:r>
                        <a:rPr lang="en-US" altLang="zh-CN" dirty="0"/>
                        <a:t>27.324</a:t>
                      </a:r>
                      <a:endParaRPr lang="zh-CN" altLang="en-US" dirty="0"/>
                    </a:p>
                  </a:txBody>
                  <a:tcPr/>
                </a:tc>
                <a:extLst>
                  <a:ext uri="{0D108BD9-81ED-4DB2-BD59-A6C34878D82A}">
                    <a16:rowId xmlns:a16="http://schemas.microsoft.com/office/drawing/2014/main" val="252672727"/>
                  </a:ext>
                </a:extLst>
              </a:tr>
              <a:tr h="0">
                <a:tc>
                  <a:txBody>
                    <a:bodyPr/>
                    <a:lstStyle/>
                    <a:p>
                      <a:r>
                        <a:rPr lang="en-US" altLang="zh-CN" dirty="0"/>
                        <a:t>DGCNN</a:t>
                      </a:r>
                      <a:endParaRPr lang="zh-CN" altLang="en-US" dirty="0"/>
                    </a:p>
                  </a:txBody>
                  <a:tcPr/>
                </a:tc>
                <a:tc>
                  <a:txBody>
                    <a:bodyPr/>
                    <a:lstStyle/>
                    <a:p>
                      <a:r>
                        <a:rPr lang="en-US" altLang="zh-CN" dirty="0"/>
                        <a:t>100</a:t>
                      </a:r>
                      <a:endParaRPr lang="zh-CN" altLang="en-US" dirty="0"/>
                    </a:p>
                  </a:txBody>
                  <a:tcPr/>
                </a:tc>
                <a:tc>
                  <a:txBody>
                    <a:bodyPr/>
                    <a:lstStyle/>
                    <a:p>
                      <a:r>
                        <a:rPr lang="en-US" altLang="zh-CN" dirty="0"/>
                        <a:t>1154.26</a:t>
                      </a:r>
                      <a:endParaRPr lang="zh-CN" altLang="en-US" dirty="0"/>
                    </a:p>
                  </a:txBody>
                  <a:tcPr/>
                </a:tc>
                <a:tc>
                  <a:txBody>
                    <a:bodyPr/>
                    <a:lstStyle/>
                    <a:p>
                      <a:r>
                        <a:rPr lang="en-US" altLang="zh-CN" dirty="0"/>
                        <a:t>11.543</a:t>
                      </a:r>
                      <a:endParaRPr lang="zh-CN" altLang="en-US" dirty="0"/>
                    </a:p>
                  </a:txBody>
                  <a:tcPr/>
                </a:tc>
                <a:extLst>
                  <a:ext uri="{0D108BD9-81ED-4DB2-BD59-A6C34878D82A}">
                    <a16:rowId xmlns:a16="http://schemas.microsoft.com/office/drawing/2014/main" val="765474414"/>
                  </a:ext>
                </a:extLst>
              </a:tr>
            </a:tbl>
          </a:graphicData>
        </a:graphic>
      </p:graphicFrame>
      <p:sp>
        <p:nvSpPr>
          <p:cNvPr id="11" name="文本框 10">
            <a:extLst>
              <a:ext uri="{FF2B5EF4-FFF2-40B4-BE49-F238E27FC236}">
                <a16:creationId xmlns:a16="http://schemas.microsoft.com/office/drawing/2014/main" id="{09D2B48F-37E5-497B-992F-EEB17D9414CA}"/>
              </a:ext>
            </a:extLst>
          </p:cNvPr>
          <p:cNvSpPr txBox="1"/>
          <p:nvPr/>
        </p:nvSpPr>
        <p:spPr>
          <a:xfrm>
            <a:off x="237065" y="5738906"/>
            <a:ext cx="9635971" cy="923330"/>
          </a:xfrm>
          <a:prstGeom prst="rect">
            <a:avLst/>
          </a:prstGeom>
          <a:noFill/>
        </p:spPr>
        <p:txBody>
          <a:bodyPr wrap="none" rtlCol="0">
            <a:spAutoFit/>
          </a:bodyPr>
          <a:lstStyle/>
          <a:p>
            <a:r>
              <a:rPr lang="en-US" altLang="zh-CN" dirty="0">
                <a:solidFill>
                  <a:srgbClr val="FF0000"/>
                </a:solidFill>
              </a:rPr>
              <a:t>DGCNN</a:t>
            </a:r>
            <a:r>
              <a:rPr lang="zh-CN" altLang="en-US" dirty="0">
                <a:solidFill>
                  <a:srgbClr val="FF0000"/>
                </a:solidFill>
              </a:rPr>
              <a:t>模型从数据预处理到完成识别整个过程所需的时间，远远小于</a:t>
            </a:r>
            <a:r>
              <a:rPr lang="en-US" altLang="zh-CN" dirty="0">
                <a:solidFill>
                  <a:srgbClr val="FF0000"/>
                </a:solidFill>
              </a:rPr>
              <a:t>Pluto</a:t>
            </a:r>
            <a:r>
              <a:rPr lang="zh-CN" altLang="en-US" dirty="0">
                <a:solidFill>
                  <a:srgbClr val="FF0000"/>
                </a:solidFill>
              </a:rPr>
              <a:t>编译器所需的时间</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处理多个案例时，使用并行编程辅助平台处的时间成本要远小于其他程序并行性分析工具</a:t>
            </a:r>
          </a:p>
        </p:txBody>
      </p:sp>
    </p:spTree>
    <p:custDataLst>
      <p:tags r:id="rId1"/>
    </p:custDataLst>
    <p:extLst>
      <p:ext uri="{BB962C8B-B14F-4D97-AF65-F5344CB8AC3E}">
        <p14:creationId xmlns:p14="http://schemas.microsoft.com/office/powerpoint/2010/main" val="4145919959"/>
      </p:ext>
    </p:extLst>
  </p:cSld>
  <p:clrMapOvr>
    <a:masterClrMapping/>
  </p:clrMapOvr>
  <mc:AlternateContent xmlns:mc="http://schemas.openxmlformats.org/markup-compatibility/2006" xmlns:p14="http://schemas.microsoft.com/office/powerpoint/2010/main">
    <mc:Choice Requires="p14">
      <p:transition spd="slow" p14:dur="2000" advTm="50164"/>
    </mc:Choice>
    <mc:Fallback xmlns="">
      <p:transition spd="slow" advTm="501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2CCC60F-6D0A-4E17-84D1-AE695982405D}"/>
              </a:ext>
            </a:extLst>
          </p:cNvPr>
          <p:cNvGrpSpPr/>
          <p:nvPr/>
        </p:nvGrpSpPr>
        <p:grpSpPr>
          <a:xfrm>
            <a:off x="3595875" y="2526245"/>
            <a:ext cx="5000249" cy="1805510"/>
            <a:chOff x="1453775" y="1538312"/>
            <a:chExt cx="3122975" cy="867798"/>
          </a:xfrm>
        </p:grpSpPr>
        <p:sp>
          <p:nvSpPr>
            <p:cNvPr id="4" name="矩形 3">
              <a:extLst>
                <a:ext uri="{FF2B5EF4-FFF2-40B4-BE49-F238E27FC236}">
                  <a16:creationId xmlns:a16="http://schemas.microsoft.com/office/drawing/2014/main" id="{0D880657-C374-4E41-A898-33D6E759EDB2}"/>
                </a:ext>
              </a:extLst>
            </p:cNvPr>
            <p:cNvSpPr/>
            <p:nvPr>
              <p:custDataLst>
                <p:tags r:id="rId1"/>
              </p:custDataLst>
            </p:nvPr>
          </p:nvSpPr>
          <p:spPr>
            <a:xfrm>
              <a:off x="2514728" y="1570867"/>
              <a:ext cx="2062022" cy="835243"/>
            </a:xfrm>
            <a:prstGeom prst="rect">
              <a:avLst/>
            </a:prstGeom>
            <a:solidFill>
              <a:srgbClr val="00B0F0"/>
            </a:solidFill>
            <a:ln>
              <a:noFill/>
            </a:ln>
          </p:spPr>
          <p:style>
            <a:lnRef idx="2">
              <a:srgbClr val="018BE9">
                <a:shade val="50000"/>
              </a:srgbClr>
            </a:lnRef>
            <a:fillRef idx="1">
              <a:srgbClr val="018BE9"/>
            </a:fillRef>
            <a:effectRef idx="0">
              <a:srgbClr val="018BE9"/>
            </a:effectRef>
            <a:fontRef idx="minor">
              <a:srgbClr val="FFFFFF"/>
            </a:fontRef>
          </p:style>
          <p:txBody>
            <a:bodyPr rtlCol="0" anchor="ctr">
              <a:normAutofit/>
            </a:bodyPr>
            <a:lstStyle/>
            <a:p>
              <a:pPr algn="ctr"/>
              <a:r>
                <a:rPr lang="zh-CN" altLang="en-US" sz="2000" dirty="0">
                  <a:latin typeface="Arial" panose="020B0604020202020204" pitchFamily="34" charset="0"/>
                  <a:ea typeface="黑体" panose="02010609060101010101" charset="-122"/>
                  <a:cs typeface="+mn-ea"/>
                </a:rPr>
                <a:t>总结与展望</a:t>
              </a:r>
            </a:p>
          </p:txBody>
        </p:sp>
        <p:sp>
          <p:nvSpPr>
            <p:cNvPr id="5" name="文本框 4">
              <a:extLst>
                <a:ext uri="{FF2B5EF4-FFF2-40B4-BE49-F238E27FC236}">
                  <a16:creationId xmlns:a16="http://schemas.microsoft.com/office/drawing/2014/main" id="{386774D1-64BA-4936-9A35-D6A584D21087}"/>
                </a:ext>
              </a:extLst>
            </p:cNvPr>
            <p:cNvSpPr txBox="1"/>
            <p:nvPr>
              <p:custDataLst>
                <p:tags r:id="rId2"/>
              </p:custDataLst>
            </p:nvPr>
          </p:nvSpPr>
          <p:spPr>
            <a:xfrm>
              <a:off x="1453775" y="1538312"/>
              <a:ext cx="847365" cy="830095"/>
            </a:xfrm>
            <a:prstGeom prst="rect">
              <a:avLst/>
            </a:prstGeom>
            <a:noFill/>
          </p:spPr>
          <p:txBody>
            <a:bodyPr wrap="square" lIns="0" tIns="0" rIns="0" bIns="0" rtlCol="0" anchor="ctr" anchorCtr="1">
              <a:normAutofit/>
            </a:bodyPr>
            <a:lstStyle/>
            <a:p>
              <a:pPr algn="ctr"/>
              <a:r>
                <a:rPr lang="en-US" altLang="zh-CN" sz="6000" b="1" dirty="0">
                  <a:solidFill>
                    <a:srgbClr val="00B0F0"/>
                  </a:solidFill>
                </a:rPr>
                <a:t>3</a:t>
              </a:r>
              <a:endParaRPr lang="zh-CN" altLang="en-US" sz="6000" b="1" dirty="0">
                <a:solidFill>
                  <a:srgbClr val="00B0F0"/>
                </a:solidFill>
              </a:endParaRPr>
            </a:p>
          </p:txBody>
        </p:sp>
      </p:grpSp>
    </p:spTree>
    <p:extLst>
      <p:ext uri="{BB962C8B-B14F-4D97-AF65-F5344CB8AC3E}">
        <p14:creationId xmlns:p14="http://schemas.microsoft.com/office/powerpoint/2010/main" val="3364115762"/>
      </p:ext>
    </p:extLst>
  </p:cSld>
  <p:clrMapOvr>
    <a:masterClrMapping/>
  </p:clrMapOvr>
  <mc:AlternateContent xmlns:mc="http://schemas.openxmlformats.org/markup-compatibility/2006" xmlns:p14="http://schemas.microsoft.com/office/powerpoint/2010/main">
    <mc:Choice Requires="p14">
      <p:transition spd="slow" p14:dur="2000" advTm="1364"/>
    </mc:Choice>
    <mc:Fallback xmlns="">
      <p:transition spd="slow" advTm="1364"/>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431BF6D-CC90-4547-9FDF-012946E425C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46964" y="0"/>
            <a:ext cx="1045036" cy="1119094"/>
          </a:xfrm>
          <a:prstGeom prst="rect">
            <a:avLst/>
          </a:prstGeom>
        </p:spPr>
      </p:pic>
      <p:cxnSp>
        <p:nvCxnSpPr>
          <p:cNvPr id="8" name="直接连接符 7">
            <a:extLst>
              <a:ext uri="{FF2B5EF4-FFF2-40B4-BE49-F238E27FC236}">
                <a16:creationId xmlns:a16="http://schemas.microsoft.com/office/drawing/2014/main" id="{B347B52B-B1FD-4D91-A1D0-917DB546E2B1}"/>
              </a:ext>
            </a:extLst>
          </p:cNvPr>
          <p:cNvCxnSpPr/>
          <p:nvPr/>
        </p:nvCxnSpPr>
        <p:spPr>
          <a:xfrm>
            <a:off x="0" y="1119094"/>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0F64C5D6-2B49-4D29-9CF0-4DD9F81DBD8C}"/>
              </a:ext>
            </a:extLst>
          </p:cNvPr>
          <p:cNvSpPr txBox="1"/>
          <p:nvPr/>
        </p:nvSpPr>
        <p:spPr>
          <a:xfrm>
            <a:off x="237065" y="300158"/>
            <a:ext cx="3691467" cy="584775"/>
          </a:xfrm>
          <a:prstGeom prst="rect">
            <a:avLst/>
          </a:prstGeom>
          <a:noFill/>
        </p:spPr>
        <p:txBody>
          <a:bodyPr wrap="square" rtlCol="0">
            <a:spAutoFit/>
          </a:bodyPr>
          <a:lstStyle/>
          <a:p>
            <a:r>
              <a:rPr lang="zh-CN" altLang="en-US" sz="3200" b="1" dirty="0">
                <a:latin typeface="+mn-ea"/>
              </a:rPr>
              <a:t>总结与展望</a:t>
            </a:r>
          </a:p>
        </p:txBody>
      </p:sp>
      <p:sp>
        <p:nvSpPr>
          <p:cNvPr id="7" name="文本框 6">
            <a:extLst>
              <a:ext uri="{FF2B5EF4-FFF2-40B4-BE49-F238E27FC236}">
                <a16:creationId xmlns:a16="http://schemas.microsoft.com/office/drawing/2014/main" id="{E788E393-4963-4A02-9746-242690114B67}"/>
              </a:ext>
            </a:extLst>
          </p:cNvPr>
          <p:cNvSpPr txBox="1"/>
          <p:nvPr/>
        </p:nvSpPr>
        <p:spPr>
          <a:xfrm>
            <a:off x="330200" y="1989360"/>
            <a:ext cx="5666936" cy="1704954"/>
          </a:xfrm>
          <a:prstGeom prst="rect">
            <a:avLst/>
          </a:prstGeom>
          <a:noFill/>
        </p:spPr>
        <p:txBody>
          <a:bodyPr wrap="none" rtlCol="0">
            <a:spAutoFit/>
          </a:bodyPr>
          <a:lstStyle/>
          <a:p>
            <a:pPr marL="285750" indent="-285750">
              <a:lnSpc>
                <a:spcPct val="150000"/>
              </a:lnSpc>
              <a:buFont typeface="Wingdings" panose="05000000000000000000" pitchFamily="2" charset="2"/>
              <a:buChar char="u"/>
            </a:pPr>
            <a:r>
              <a:rPr lang="zh-CN" altLang="en-US" dirty="0"/>
              <a:t>构造了用于程序并行性识别的通用图数据集</a:t>
            </a:r>
            <a:r>
              <a:rPr lang="en-US" altLang="zh-CN" dirty="0"/>
              <a:t>GFCPD</a:t>
            </a:r>
          </a:p>
          <a:p>
            <a:pPr marL="285750" indent="-285750">
              <a:lnSpc>
                <a:spcPct val="150000"/>
              </a:lnSpc>
              <a:buFont typeface="Wingdings" panose="05000000000000000000" pitchFamily="2" charset="2"/>
              <a:buChar char="u"/>
            </a:pPr>
            <a:r>
              <a:rPr lang="zh-CN" altLang="en-US" dirty="0"/>
              <a:t>建立了基于</a:t>
            </a:r>
            <a:r>
              <a:rPr lang="en-US" altLang="zh-CN" dirty="0"/>
              <a:t>DGCNN</a:t>
            </a:r>
            <a:r>
              <a:rPr lang="zh-CN" altLang="en-US" dirty="0"/>
              <a:t>的程序并行性识别模型</a:t>
            </a:r>
            <a:endParaRPr lang="en-US" altLang="zh-CN" dirty="0"/>
          </a:p>
          <a:p>
            <a:pPr marL="285750" indent="-285750">
              <a:lnSpc>
                <a:spcPct val="150000"/>
              </a:lnSpc>
              <a:buFont typeface="Wingdings" panose="05000000000000000000" pitchFamily="2" charset="2"/>
              <a:buChar char="u"/>
            </a:pPr>
            <a:r>
              <a:rPr lang="zh-CN" altLang="en-US" dirty="0"/>
              <a:t>设计并实现了并行标记语言</a:t>
            </a:r>
            <a:r>
              <a:rPr lang="en-US" altLang="zh-CN" dirty="0"/>
              <a:t>PML</a:t>
            </a:r>
          </a:p>
          <a:p>
            <a:pPr marL="285750" indent="-285750">
              <a:lnSpc>
                <a:spcPct val="150000"/>
              </a:lnSpc>
              <a:buFont typeface="Wingdings" panose="05000000000000000000" pitchFamily="2" charset="2"/>
              <a:buChar char="u"/>
            </a:pPr>
            <a:r>
              <a:rPr lang="zh-CN" altLang="en-US" dirty="0"/>
              <a:t>搭建了并行编程辅助平台</a:t>
            </a:r>
          </a:p>
        </p:txBody>
      </p:sp>
      <p:sp>
        <p:nvSpPr>
          <p:cNvPr id="9" name="文本框 8">
            <a:extLst>
              <a:ext uri="{FF2B5EF4-FFF2-40B4-BE49-F238E27FC236}">
                <a16:creationId xmlns:a16="http://schemas.microsoft.com/office/drawing/2014/main" id="{94C1F9EF-3B3F-4A41-877C-FDA022009429}"/>
              </a:ext>
            </a:extLst>
          </p:cNvPr>
          <p:cNvSpPr txBox="1"/>
          <p:nvPr/>
        </p:nvSpPr>
        <p:spPr>
          <a:xfrm>
            <a:off x="237065" y="4858700"/>
            <a:ext cx="4641014" cy="1289456"/>
          </a:xfrm>
          <a:prstGeom prst="rect">
            <a:avLst/>
          </a:prstGeom>
          <a:noFill/>
        </p:spPr>
        <p:txBody>
          <a:bodyPr wrap="none" rtlCol="0">
            <a:spAutoFit/>
          </a:bodyPr>
          <a:lstStyle/>
          <a:p>
            <a:pPr marL="285750" indent="-285750">
              <a:lnSpc>
                <a:spcPct val="150000"/>
              </a:lnSpc>
              <a:buFont typeface="Wingdings" panose="05000000000000000000" pitchFamily="2" charset="2"/>
              <a:buChar char="u"/>
            </a:pPr>
            <a:r>
              <a:rPr lang="zh-CN" altLang="en-US" dirty="0"/>
              <a:t>进一步扩充和完善</a:t>
            </a:r>
            <a:r>
              <a:rPr lang="en-US" altLang="zh-CN" dirty="0"/>
              <a:t>GFCPD</a:t>
            </a:r>
          </a:p>
          <a:p>
            <a:pPr marL="285750" indent="-285750">
              <a:lnSpc>
                <a:spcPct val="150000"/>
              </a:lnSpc>
              <a:buFont typeface="Wingdings" panose="05000000000000000000" pitchFamily="2" charset="2"/>
              <a:buChar char="u"/>
            </a:pPr>
            <a:r>
              <a:rPr lang="zh-CN" altLang="en-US" dirty="0"/>
              <a:t>使用多图作为模型输入</a:t>
            </a:r>
            <a:endParaRPr lang="en-US" altLang="zh-CN" dirty="0"/>
          </a:p>
          <a:p>
            <a:pPr marL="285750" indent="-285750">
              <a:lnSpc>
                <a:spcPct val="150000"/>
              </a:lnSpc>
              <a:buFont typeface="Wingdings" panose="05000000000000000000" pitchFamily="2" charset="2"/>
              <a:buChar char="u"/>
            </a:pPr>
            <a:r>
              <a:rPr lang="zh-CN" altLang="en-US" dirty="0"/>
              <a:t>简化</a:t>
            </a:r>
            <a:r>
              <a:rPr lang="en-US" altLang="zh-CN" dirty="0"/>
              <a:t>PML</a:t>
            </a:r>
            <a:r>
              <a:rPr lang="zh-CN" altLang="en-US" dirty="0"/>
              <a:t>程序并增加其他编程模型的支持</a:t>
            </a:r>
            <a:endParaRPr lang="en-US" altLang="zh-CN" dirty="0"/>
          </a:p>
        </p:txBody>
      </p:sp>
      <p:sp>
        <p:nvSpPr>
          <p:cNvPr id="2" name="右大括号 1">
            <a:extLst>
              <a:ext uri="{FF2B5EF4-FFF2-40B4-BE49-F238E27FC236}">
                <a16:creationId xmlns:a16="http://schemas.microsoft.com/office/drawing/2014/main" id="{D18A9AFD-7DEF-4D98-A988-F816CEAC4A63}"/>
              </a:ext>
            </a:extLst>
          </p:cNvPr>
          <p:cNvSpPr/>
          <p:nvPr/>
        </p:nvSpPr>
        <p:spPr>
          <a:xfrm>
            <a:off x="6705600" y="2083904"/>
            <a:ext cx="92765" cy="66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45F659FF-3086-4AE4-B0FA-361AEBFCBBD3}"/>
              </a:ext>
            </a:extLst>
          </p:cNvPr>
          <p:cNvSpPr txBox="1"/>
          <p:nvPr/>
        </p:nvSpPr>
        <p:spPr>
          <a:xfrm>
            <a:off x="7078501" y="2268577"/>
            <a:ext cx="1800493" cy="369332"/>
          </a:xfrm>
          <a:prstGeom prst="rect">
            <a:avLst/>
          </a:prstGeom>
          <a:noFill/>
        </p:spPr>
        <p:txBody>
          <a:bodyPr wrap="none" rtlCol="0">
            <a:spAutoFit/>
          </a:bodyPr>
          <a:lstStyle/>
          <a:p>
            <a:r>
              <a:rPr lang="zh-CN" altLang="en-US" dirty="0">
                <a:solidFill>
                  <a:srgbClr val="FF0000"/>
                </a:solidFill>
              </a:rPr>
              <a:t>并行性识别方面</a:t>
            </a:r>
          </a:p>
        </p:txBody>
      </p:sp>
      <p:sp>
        <p:nvSpPr>
          <p:cNvPr id="11" name="右大括号 10">
            <a:extLst>
              <a:ext uri="{FF2B5EF4-FFF2-40B4-BE49-F238E27FC236}">
                <a16:creationId xmlns:a16="http://schemas.microsoft.com/office/drawing/2014/main" id="{5E183A98-81A3-4241-9261-721A781EE7AF}"/>
              </a:ext>
            </a:extLst>
          </p:cNvPr>
          <p:cNvSpPr/>
          <p:nvPr/>
        </p:nvSpPr>
        <p:spPr>
          <a:xfrm>
            <a:off x="6705599" y="3013270"/>
            <a:ext cx="92765" cy="6678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57BA88AB-5395-42B4-86B2-A14D14319CCC}"/>
              </a:ext>
            </a:extLst>
          </p:cNvPr>
          <p:cNvSpPr txBox="1"/>
          <p:nvPr/>
        </p:nvSpPr>
        <p:spPr>
          <a:xfrm>
            <a:off x="7078500" y="3197943"/>
            <a:ext cx="2100255" cy="369332"/>
          </a:xfrm>
          <a:prstGeom prst="rect">
            <a:avLst/>
          </a:prstGeom>
          <a:noFill/>
        </p:spPr>
        <p:txBody>
          <a:bodyPr wrap="none" rtlCol="0">
            <a:spAutoFit/>
          </a:bodyPr>
          <a:lstStyle/>
          <a:p>
            <a:r>
              <a:rPr lang="zh-CN" altLang="en-US" dirty="0">
                <a:solidFill>
                  <a:srgbClr val="FF0000"/>
                </a:solidFill>
              </a:rPr>
              <a:t>并行程序开发方面</a:t>
            </a:r>
          </a:p>
        </p:txBody>
      </p:sp>
      <p:sp>
        <p:nvSpPr>
          <p:cNvPr id="14" name="矩形 13">
            <a:extLst>
              <a:ext uri="{FF2B5EF4-FFF2-40B4-BE49-F238E27FC236}">
                <a16:creationId xmlns:a16="http://schemas.microsoft.com/office/drawing/2014/main" id="{E7E0EF8E-04E0-420A-B37B-0C259C503116}"/>
              </a:ext>
            </a:extLst>
          </p:cNvPr>
          <p:cNvSpPr/>
          <p:nvPr/>
        </p:nvSpPr>
        <p:spPr>
          <a:xfrm>
            <a:off x="164329" y="1276771"/>
            <a:ext cx="1569660" cy="584775"/>
          </a:xfrm>
          <a:prstGeom prst="rect">
            <a:avLst/>
          </a:prstGeom>
          <a:noFill/>
        </p:spPr>
        <p:txBody>
          <a:bodyPr wrap="square" lIns="91440" tIns="45720" rIns="91440" bIns="45720">
            <a:spAutoFit/>
          </a:bodyPr>
          <a:lstStyle/>
          <a:p>
            <a:pPr marL="457200" indent="-457200" algn="ctr">
              <a:buFont typeface="Wingdings" panose="05000000000000000000" pitchFamily="2" charset="2"/>
              <a:buChar char="Ø"/>
            </a:pPr>
            <a:r>
              <a:rPr lang="zh-CN" alt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总结</a:t>
            </a:r>
          </a:p>
        </p:txBody>
      </p:sp>
      <p:sp>
        <p:nvSpPr>
          <p:cNvPr id="15" name="矩形 14">
            <a:extLst>
              <a:ext uri="{FF2B5EF4-FFF2-40B4-BE49-F238E27FC236}">
                <a16:creationId xmlns:a16="http://schemas.microsoft.com/office/drawing/2014/main" id="{3D67EBFA-A91B-4AB8-86DC-4F5F2E243B06}"/>
              </a:ext>
            </a:extLst>
          </p:cNvPr>
          <p:cNvSpPr/>
          <p:nvPr/>
        </p:nvSpPr>
        <p:spPr>
          <a:xfrm>
            <a:off x="0" y="4148484"/>
            <a:ext cx="2645283" cy="584775"/>
          </a:xfrm>
          <a:prstGeom prst="rect">
            <a:avLst/>
          </a:prstGeom>
          <a:noFill/>
        </p:spPr>
        <p:txBody>
          <a:bodyPr wrap="square" lIns="91440" tIns="45720" rIns="91440" bIns="45720">
            <a:spAutoFit/>
          </a:bodyPr>
          <a:lstStyle/>
          <a:p>
            <a:pPr marL="457200" indent="-457200" algn="ctr">
              <a:buFont typeface="Wingdings" panose="05000000000000000000" pitchFamily="2" charset="2"/>
              <a:buChar char="Ø"/>
            </a:pPr>
            <a:r>
              <a:rPr lang="zh-CN" altLang="en-US" sz="3200" b="1" dirty="0">
                <a:ln w="9525">
                  <a:solidFill>
                    <a:schemeClr val="bg1"/>
                  </a:solidFill>
                  <a:prstDash val="solid"/>
                </a:ln>
                <a:effectLst>
                  <a:outerShdw blurRad="12700" dist="38100" dir="2700000" algn="tl" rotWithShape="0">
                    <a:schemeClr val="bg1">
                      <a:lumMod val="50000"/>
                    </a:schemeClr>
                  </a:outerShdw>
                </a:effectLst>
              </a:rPr>
              <a:t>未来工作</a:t>
            </a:r>
            <a:endParaRPr lang="zh-CN" alt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ustDataLst>
      <p:tags r:id="rId1"/>
    </p:custDataLst>
    <p:extLst>
      <p:ext uri="{BB962C8B-B14F-4D97-AF65-F5344CB8AC3E}">
        <p14:creationId xmlns:p14="http://schemas.microsoft.com/office/powerpoint/2010/main" val="97467927"/>
      </p:ext>
    </p:extLst>
  </p:cSld>
  <p:clrMapOvr>
    <a:masterClrMapping/>
  </p:clrMapOvr>
  <mc:AlternateContent xmlns:mc="http://schemas.openxmlformats.org/markup-compatibility/2006" xmlns:p14="http://schemas.microsoft.com/office/powerpoint/2010/main">
    <mc:Choice Requires="p14">
      <p:transition spd="slow" p14:dur="2000" advTm="44088"/>
    </mc:Choice>
    <mc:Fallback xmlns="">
      <p:transition spd="slow" advTm="440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2" grpId="0" animBg="1"/>
      <p:bldP spid="3" grpId="0"/>
      <p:bldP spid="11" grpId="0" animBg="1"/>
      <p:bldP spid="13" grpId="0"/>
      <p:bldP spid="14"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p:cNvSpPr>
          <p:nvPr>
            <p:ph type="title" hasCustomPrompt="1"/>
            <p:custDataLst>
              <p:tags r:id="rId2"/>
            </p:custDataLst>
          </p:nvPr>
        </p:nvSpPr>
        <p:spPr>
          <a:xfrm>
            <a:off x="3927244" y="2762651"/>
            <a:ext cx="4337512" cy="666349"/>
          </a:xfrm>
        </p:spPr>
        <p:txBody>
          <a:bodyPr vert="horz" lIns="91440" tIns="45720" rIns="91440" bIns="45720" anchor="b">
            <a:noAutofit/>
          </a:bodyPr>
          <a:lstStyle/>
          <a:p>
            <a:pPr defTabSz="685800">
              <a:buNone/>
            </a:pPr>
            <a:r>
              <a:rPr lang="zh-CN" altLang="en-US" sz="3600" dirty="0"/>
              <a:t>请各位老师批评指正</a:t>
            </a:r>
            <a:endParaRPr lang="zh-CN" altLang="en-US" sz="3600" kern="1200" dirty="0">
              <a:latin typeface="+mj-lt"/>
              <a:ea typeface="+mj-ea"/>
              <a:cs typeface="+mj-cs"/>
            </a:endParaRPr>
          </a:p>
        </p:txBody>
      </p:sp>
      <p:sp>
        <p:nvSpPr>
          <p:cNvPr id="41986" name="文本占位符 2"/>
          <p:cNvSpPr>
            <a:spLocks noGrp="1"/>
          </p:cNvSpPr>
          <p:nvPr>
            <p:ph sz="quarter" idx="13" hasCustomPrompt="1"/>
            <p:custDataLst>
              <p:tags r:id="rId3"/>
            </p:custDataLst>
          </p:nvPr>
        </p:nvSpPr>
        <p:spPr>
          <a:xfrm>
            <a:off x="4295775" y="3617913"/>
            <a:ext cx="3513138" cy="534987"/>
          </a:xfrm>
        </p:spPr>
        <p:txBody>
          <a:bodyPr vert="horz" lIns="91440" tIns="45720" rIns="91440" bIns="45720" anchor="t"/>
          <a:lstStyle/>
          <a:p>
            <a:pPr defTabSz="685800"/>
            <a:r>
              <a:rPr lang="en-US" altLang="zh-CN" kern="1200">
                <a:latin typeface="+mn-lt"/>
                <a:ea typeface="+mn-ea"/>
                <a:cs typeface="+mn-cs"/>
              </a:rPr>
              <a:t>THANK YOU</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11"/>
    </mc:Choice>
    <mc:Fallback xmlns="">
      <p:transition spd="slow" advTm="421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20186830"/>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81909_1"/>
  <p:tag name="KSO_WM_TEMPLATE_CATEGORY" val="custom"/>
  <p:tag name="KSO_WM_TEMPLATE_INDEX" val="20186830"/>
  <p:tag name="KSO_WM_TEMPLATE_SUBCATEGORY" val="combine"/>
  <p:tag name="KSO_WM_TEMPLATE_THUMBS_INDEX" val="1、6、10、15、19、22"/>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3"/>
  <p:tag name="KSO_WM_TEMPLATE_CATEGORY" val="custom"/>
  <p:tag name="KSO_WM_TEMPLATE_INDEX" val="20184556"/>
  <p:tag name="KSO_WM_UNIT_INDEX" val="3"/>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4"/>
  <p:tag name="KSO_WM_TEMPLATE_CATEGORY" val="custom"/>
  <p:tag name="KSO_WM_TEMPLATE_INDEX" val="20184556"/>
  <p:tag name="KSO_WM_UNIT_INDEX" val="4"/>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5"/>
  <p:tag name="KSO_WM_TEMPLATE_CATEGORY" val="custom"/>
  <p:tag name="KSO_WM_TEMPLATE_INDEX" val="20184556"/>
  <p:tag name="KSO_WM_UNIT_INDEX" val="5"/>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6"/>
  <p:tag name="KSO_WM_TEMPLATE_CATEGORY" val="custom"/>
  <p:tag name="KSO_WM_TEMPLATE_INDEX" val="20184556"/>
  <p:tag name="KSO_WM_UNIT_INDEX" val="6"/>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1*i*7"/>
  <p:tag name="KSO_WM_TEMPLATE_CATEGORY" val="custom"/>
  <p:tag name="KSO_WM_TEMPLATE_INDEX" val="20184556"/>
  <p:tag name="KSO_WM_UNIT_INDEX" val="7"/>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2"/>
  <p:tag name="KSO_WM_TEMPLATE_CATEGORY" val="custom"/>
  <p:tag name="KSO_WM_TEMPLATE_INDEX" val="20184556"/>
  <p:tag name="KSO_WM_UNIT_INDEX" val="2"/>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3"/>
  <p:tag name="KSO_WM_TEMPLATE_CATEGORY" val="custom"/>
  <p:tag name="KSO_WM_TEMPLATE_INDEX" val="20184556"/>
  <p:tag name="KSO_WM_UNIT_INDEX" val="3"/>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4"/>
  <p:tag name="KSO_WM_TEMPLATE_CATEGORY" val="custom"/>
  <p:tag name="KSO_WM_TEMPLATE_INDEX" val="20184556"/>
  <p:tag name="KSO_WM_UNIT_INDEX" val="4"/>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5"/>
  <p:tag name="KSO_WM_TEMPLATE_CATEGORY" val="custom"/>
  <p:tag name="KSO_WM_TEMPLATE_INDEX" val="20184556"/>
  <p:tag name="KSO_WM_UNIT_INDEX" val="5"/>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20184556_22*i*6"/>
  <p:tag name="KSO_WM_TEMPLATE_CATEGORY" val="custom"/>
  <p:tag name="KSO_WM_TEMPLATE_INDEX" val="20184556"/>
  <p:tag name="KSO_WM_UNIT_INDEX" val="6"/>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_c"/>
  <p:tag name="KSO_WM_SLIDE_LAYOUT_CNT" val="1_1_1"/>
  <p:tag name="KSO_WM_SLIDE_TYPE" val="title"/>
  <p:tag name="KSO_WM_BEAUTIFY_FLAG" val="#wm#"/>
  <p:tag name="KSO_WM_COMBINE_RELATE_SLIDE_ID" val="background20181909_1"/>
  <p:tag name="KSO_WM_TEMPLATE_CATEGORY" val="custom"/>
  <p:tag name="KSO_WM_TEMPLATE_INDEX" val="20186830"/>
  <p:tag name="KSO_WM_SLIDE_ID" val="custom20186830_1"/>
  <p:tag name="KSO_WM_SLIDE_INDEX" val="1"/>
  <p:tag name="KSO_WM_TEMPLATE_SUBCATEGORY" val="combine"/>
  <p:tag name="KSO_WM_TEMPLATE_THUMBS_INDEX" val="1、6、10、15、19、22、"/>
  <p:tag name="KSO_WM_SLIDE_SUBTYPE" val="pureTxt"/>
  <p:tag name="KSO_WM_SLIDE_MODEL_TYPE" val="cover"/>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ID" val="custom20186830_1*a*1"/>
  <p:tag name="KSO_WM_UNIT_LAYERLEVEL" val="1"/>
  <p:tag name="KSO_WM_UNIT_VALUE" val="9"/>
  <p:tag name="KSO_WM_UNIT_ISCONTENTSTITLE" val="0"/>
  <p:tag name="KSO_WM_UNIT_HIGHLIGHT" val="0"/>
  <p:tag name="KSO_WM_UNIT_COMPATIBLE" val="0"/>
  <p:tag name="KSO_WM_UNIT_CLEAR" val="0"/>
  <p:tag name="KSO_WM_UNIT_PRESET_TEXT" val="黑白简约商务通用"/>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UNIT_TYPE" val="c"/>
  <p:tag name="KSO_WM_UNIT_INDEX" val="1"/>
  <p:tag name="KSO_WM_UNIT_ID" val="custom20186830_1*c*1"/>
  <p:tag name="KSO_WM_UNIT_LAYERLEVEL" val="1"/>
  <p:tag name="KSO_WM_UNIT_VALUE" val="3"/>
  <p:tag name="KSO_WM_UNIT_HIGHLIGHT" val="0"/>
  <p:tag name="KSO_WM_UNIT_COMPATIBLE" val="1"/>
  <p:tag name="KSO_WM_UNIT_CLEAR" val="0"/>
  <p:tag name="KSO_WM_BEAUTIFY_FLAG" val="#wm#"/>
  <p:tag name="KSO_WM_TAG_VERSION" val="1.0"/>
  <p:tag name="KSO_WM_UNIT_PRESET_TEXT" val="2018"/>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1*b*1"/>
  <p:tag name="KSO_WM_UNIT_LAYERLEVEL" val="1"/>
  <p:tag name="KSO_WM_UNIT_VALUE" val="24"/>
  <p:tag name="KSO_WM_UNIT_ISCONTENTSTITLE" val="0"/>
  <p:tag name="KSO_WM_UNIT_HIGHLIGHT" val="0"/>
  <p:tag name="KSO_WM_UNIT_COMPATIBLE" val="0"/>
  <p:tag name="KSO_WM_UNIT_CLEAR" val="0"/>
  <p:tag name="KSO_WM_UNIT_PRESET_TEXT_INDEX" val="4"/>
  <p:tag name="KSO_WM_UNIT_PRESET_TEXT_LEN" val="57"/>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1_1"/>
  <p:tag name="KSO_WM_UNIT_ID" val="diagram634_4*l_h_f*1_1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2_1"/>
  <p:tag name="KSO_WM_UNIT_ID" val="diagram634_4*l_h_a*1_2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6"/>
  <p:tag name="KSO_WM_UNIT_FILL_TYPE" val="1"/>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2"/>
  <p:tag name="KSO_WM_UNIT_ID" val="diagram634_4*l_i*1_2"/>
  <p:tag name="KSO_WM_UNIT_CLEAR" val="1"/>
  <p:tag name="KSO_WM_UNIT_LAYERLEVEL" val="1_1"/>
  <p:tag name="KSO_WM_DIAGRAM_GROUP_CODE" val="l1-1"/>
  <p:tag name="KSO_WM_UNIT_TEXT_FILL_FORE_SCHEMECOLOR_INDEX" val="6"/>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3_1"/>
  <p:tag name="KSO_WM_UNIT_ID" val="diagram634_4*l_h_a*1_3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7"/>
  <p:tag name="KSO_WM_UNIT_FILL_TYPE" val="1"/>
  <p:tag name="KSO_WM_UNIT_TEXT_FILL_FORE_SCHEMECOLOR_INDEX" val="2"/>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3"/>
  <p:tag name="KSO_WM_UNIT_ID" val="diagram634_4*l_i*1_3"/>
  <p:tag name="KSO_WM_UNIT_CLEAR" val="1"/>
  <p:tag name="KSO_WM_UNIT_LAYERLEVEL" val="1_1"/>
  <p:tag name="KSO_WM_DIAGRAM_GROUP_CODE" val="l1-1"/>
  <p:tag name="KSO_WM_UNIT_TEXT_FILL_FORE_SCHEMECOLOR_INDEX" val="7"/>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3_1"/>
  <p:tag name="KSO_WM_UNIT_ID" val="diagram634_4*l_h_f*1_3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TIMING" val="|0.7"/>
</p:tagLst>
</file>

<file path=ppt/tags/tag35.xml><?xml version="1.0" encoding="utf-8"?>
<p:tagLst xmlns:a="http://schemas.openxmlformats.org/drawingml/2006/main" xmlns:r="http://schemas.openxmlformats.org/officeDocument/2006/relationships" xmlns:p="http://schemas.openxmlformats.org/presentationml/2006/main">
  <p:tag name="TIMING" val="|0.5|7.2"/>
</p:tagLst>
</file>

<file path=ppt/tags/tag36.xml><?xml version="1.0" encoding="utf-8"?>
<p:tagLst xmlns:a="http://schemas.openxmlformats.org/drawingml/2006/main" xmlns:r="http://schemas.openxmlformats.org/officeDocument/2006/relationships" xmlns:p="http://schemas.openxmlformats.org/presentationml/2006/main">
  <p:tag name="TIMING" val="|0.6|7.4|1.8|11.2"/>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TIMING" val="|1.8|17.5|13.8"/>
</p:tagLst>
</file>

<file path=ppt/tags/tag43.xml><?xml version="1.0" encoding="utf-8"?>
<p:tagLst xmlns:a="http://schemas.openxmlformats.org/drawingml/2006/main" xmlns:r="http://schemas.openxmlformats.org/officeDocument/2006/relationships" xmlns:p="http://schemas.openxmlformats.org/presentationml/2006/main">
  <p:tag name="TIMING" val="|0.8|0.7"/>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
  <p:tag name="KSO_WM_TEMPLATE_CATEGORY" val="diagram"/>
  <p:tag name="KSO_WM_TEMPLATE_INDEX" val="634"/>
  <p:tag name="KSO_WM_UNIT_INDEX"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8"/>
  <p:tag name="KSO_WM_TEMPLATE_CATEGORY" val="diagram"/>
  <p:tag name="KSO_WM_TEMPLATE_INDEX" val="634"/>
  <p:tag name="KSO_WM_UNIT_INDEX" val="8"/>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634_4*i*15"/>
  <p:tag name="KSO_WM_TEMPLATE_CATEGORY" val="diagram"/>
  <p:tag name="KSO_WM_TEMPLATE_INDEX" val="634"/>
  <p:tag name="KSO_WM_UNIT_INDEX" val="15"/>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3_1"/>
  <p:tag name="KSO_WM_UNIT_ID" val="diagram634_4*l_h_a*1_3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7"/>
  <p:tag name="KSO_WM_UNIT_FILL_TYPE" val="1"/>
  <p:tag name="KSO_WM_UNIT_TEXT_FILL_FORE_SCHEMECOLOR_INDEX" val="2"/>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3"/>
  <p:tag name="KSO_WM_UNIT_ID" val="diagram634_4*l_i*1_3"/>
  <p:tag name="KSO_WM_UNIT_CLEAR" val="1"/>
  <p:tag name="KSO_WM_UNIT_LAYERLEVEL" val="1_1"/>
  <p:tag name="KSO_WM_DIAGRAM_GROUP_CODE" val="l1-1"/>
  <p:tag name="KSO_WM_UNIT_TEXT_FILL_FORE_SCHEMECOLOR_INDEX" val="7"/>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3_1"/>
  <p:tag name="KSO_WM_UNIT_ID" val="diagram634_4*l_h_f*1_3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2_1"/>
  <p:tag name="KSO_WM_UNIT_ID" val="diagram634_4*l_h_a*1_2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6"/>
  <p:tag name="KSO_WM_UNIT_FILL_TYPE" val="1"/>
  <p:tag name="KSO_WM_UNIT_TEXT_FILL_FORE_SCHEMECOLOR_INDEX" val="2"/>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2"/>
  <p:tag name="KSO_WM_UNIT_ID" val="diagram634_4*l_i*1_2"/>
  <p:tag name="KSO_WM_UNIT_CLEAR" val="1"/>
  <p:tag name="KSO_WM_UNIT_LAYERLEVEL" val="1_1"/>
  <p:tag name="KSO_WM_DIAGRAM_GROUP_CODE" val="l1-1"/>
  <p:tag name="KSO_WM_UNIT_TEXT_FILL_FORE_SCHEMECOLOR_INDEX" val="6"/>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1_1"/>
  <p:tag name="KSO_WM_UNIT_ID" val="diagram634_4*l_h_f*1_1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TIMING" val="|1.2"/>
</p:tagLst>
</file>

<file path=ppt/tags/tag57.xml><?xml version="1.0" encoding="utf-8"?>
<p:tagLst xmlns:a="http://schemas.openxmlformats.org/drawingml/2006/main" xmlns:r="http://schemas.openxmlformats.org/officeDocument/2006/relationships" xmlns:p="http://schemas.openxmlformats.org/presentationml/2006/main">
  <p:tag name="TIMING" val="|8.9|24.2"/>
</p:tagLst>
</file>

<file path=ppt/tags/tag58.xml><?xml version="1.0" encoding="utf-8"?>
<p:tagLst xmlns:a="http://schemas.openxmlformats.org/drawingml/2006/main" xmlns:r="http://schemas.openxmlformats.org/officeDocument/2006/relationships" xmlns:p="http://schemas.openxmlformats.org/presentationml/2006/main">
  <p:tag name="TIMING" val="|0.9"/>
</p:tagLst>
</file>

<file path=ppt/tags/tag59.xml><?xml version="1.0" encoding="utf-8"?>
<p:tagLst xmlns:a="http://schemas.openxmlformats.org/drawingml/2006/main" xmlns:r="http://schemas.openxmlformats.org/officeDocument/2006/relationships" xmlns:p="http://schemas.openxmlformats.org/presentationml/2006/main">
  <p:tag name="TIMING" val="|1.4|1.3"/>
</p:tagLst>
</file>

<file path=ppt/tags/tag60.xml><?xml version="1.0" encoding="utf-8"?>
<p:tagLst xmlns:a="http://schemas.openxmlformats.org/drawingml/2006/main" xmlns:r="http://schemas.openxmlformats.org/officeDocument/2006/relationships" xmlns:p="http://schemas.openxmlformats.org/presentationml/2006/main">
  <p:tag name="TIMING" val="|1.4|2.5|9"/>
</p:tagLst>
</file>

<file path=ppt/tags/tag6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TIMING" val="|0.9|14|10.5|8.2"/>
</p:tagLst>
</file>

<file path=ppt/tags/tag64.xml><?xml version="1.0" encoding="utf-8"?>
<p:tagLst xmlns:a="http://schemas.openxmlformats.org/drawingml/2006/main" xmlns:r="http://schemas.openxmlformats.org/officeDocument/2006/relationships" xmlns:p="http://schemas.openxmlformats.org/presentationml/2006/main">
  <p:tag name="TIMING" val="|0.5|11|5.2|5.5"/>
</p:tagLst>
</file>

<file path=ppt/tags/tag65.xml><?xml version="1.0" encoding="utf-8"?>
<p:tagLst xmlns:a="http://schemas.openxmlformats.org/drawingml/2006/main" xmlns:r="http://schemas.openxmlformats.org/officeDocument/2006/relationships" xmlns:p="http://schemas.openxmlformats.org/presentationml/2006/main">
  <p:tag name="TIMING" val="|0.7"/>
</p:tagLst>
</file>

<file path=ppt/tags/tag66.xml><?xml version="1.0" encoding="utf-8"?>
<p:tagLst xmlns:a="http://schemas.openxmlformats.org/drawingml/2006/main" xmlns:r="http://schemas.openxmlformats.org/officeDocument/2006/relationships" xmlns:p="http://schemas.openxmlformats.org/presentationml/2006/main">
  <p:tag name="TIMING" val="|3.6|38.9|13"/>
</p:tagLst>
</file>

<file path=ppt/tags/tag67.xml><?xml version="1.0" encoding="utf-8"?>
<p:tagLst xmlns:a="http://schemas.openxmlformats.org/drawingml/2006/main" xmlns:r="http://schemas.openxmlformats.org/officeDocument/2006/relationships" xmlns:p="http://schemas.openxmlformats.org/presentationml/2006/main">
  <p:tag name="TIMING" val="|0.6|10.9|5.9"/>
</p:tagLst>
</file>

<file path=ppt/tags/tag68.xml><?xml version="1.0" encoding="utf-8"?>
<p:tagLst xmlns:a="http://schemas.openxmlformats.org/drawingml/2006/main" xmlns:r="http://schemas.openxmlformats.org/officeDocument/2006/relationships" xmlns:p="http://schemas.openxmlformats.org/presentationml/2006/main">
  <p:tag name="TIMING" val="|1.7|4.2|22.4|36.2|42.3"/>
</p:tagLst>
</file>

<file path=ppt/tags/tag6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f"/>
  <p:tag name="KSO_WM_UNIT_INDEX" val="1_2_1"/>
  <p:tag name="KSO_WM_UNIT_ID" val="diagram634_4*l_h_f*1_2_1"/>
  <p:tag name="KSO_WM_UNIT_CLEAR" val="1"/>
  <p:tag name="KSO_WM_UNIT_LAYERLEVEL" val="1_1_1"/>
  <p:tag name="KSO_WM_UNIT_VALUE" val="28"/>
  <p:tag name="KSO_WM_UNIT_HIGHLIGHT" val="0"/>
  <p:tag name="KSO_WM_UNIT_COMPATIBLE" val="0"/>
  <p:tag name="KSO_WM_UNIT_PRESET_TEXT_INDEX" val="4"/>
  <p:tag name="KSO_WM_DIAGRAM_GROUP_CODE" val="l1-1"/>
  <p:tag name="KSO_WM_UNIT_PRESET_TEXT_LEN" val="57"/>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TIMING" val="|1.2|3.3"/>
</p:tagLst>
</file>

<file path=ppt/tags/tag75.xml><?xml version="1.0" encoding="utf-8"?>
<p:tagLst xmlns:a="http://schemas.openxmlformats.org/drawingml/2006/main" xmlns:r="http://schemas.openxmlformats.org/officeDocument/2006/relationships" xmlns:p="http://schemas.openxmlformats.org/presentationml/2006/main">
  <p:tag name="TIMING" val="|0.8|29.7"/>
</p:tagLst>
</file>

<file path=ppt/tags/tag76.xml><?xml version="1.0" encoding="utf-8"?>
<p:tagLst xmlns:a="http://schemas.openxmlformats.org/drawingml/2006/main" xmlns:r="http://schemas.openxmlformats.org/officeDocument/2006/relationships" xmlns:p="http://schemas.openxmlformats.org/presentationml/2006/main">
  <p:tag name="TIMING" val="|0.7|10|22.4"/>
</p:tagLst>
</file>

<file path=ppt/tags/tag77.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TIMING" val="|0.6|5.5|5|6.7"/>
</p:tagLst>
</file>

<file path=ppt/tags/tag80.xml><?xml version="1.0" encoding="utf-8"?>
<p:tagLst xmlns:a="http://schemas.openxmlformats.org/drawingml/2006/main" xmlns:r="http://schemas.openxmlformats.org/officeDocument/2006/relationships" xmlns:p="http://schemas.openxmlformats.org/presentationml/2006/main">
  <p:tag name="TIMING" val="|6.9"/>
</p:tagLst>
</file>

<file path=ppt/tags/tag81.xml><?xml version="1.0" encoding="utf-8"?>
<p:tagLst xmlns:a="http://schemas.openxmlformats.org/drawingml/2006/main" xmlns:r="http://schemas.openxmlformats.org/officeDocument/2006/relationships" xmlns:p="http://schemas.openxmlformats.org/presentationml/2006/main">
  <p:tag name="TIMING" val="|0.5"/>
</p:tagLst>
</file>

<file path=ppt/tags/tag82.xml><?xml version="1.0" encoding="utf-8"?>
<p:tagLst xmlns:a="http://schemas.openxmlformats.org/drawingml/2006/main" xmlns:r="http://schemas.openxmlformats.org/officeDocument/2006/relationships" xmlns:p="http://schemas.openxmlformats.org/presentationml/2006/main">
  <p:tag name="TIMING" val="|1.9"/>
</p:tagLst>
</file>

<file path=ppt/tags/tag83.xml><?xml version="1.0" encoding="utf-8"?>
<p:tagLst xmlns:a="http://schemas.openxmlformats.org/drawingml/2006/main" xmlns:r="http://schemas.openxmlformats.org/officeDocument/2006/relationships" xmlns:p="http://schemas.openxmlformats.org/presentationml/2006/main">
  <p:tag name="TIMING" val="|1.7|8.6|8.6|7.7"/>
</p:tagLst>
</file>

<file path=ppt/tags/tag84.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h_a"/>
  <p:tag name="KSO_WM_UNIT_INDEX" val="1_1_1"/>
  <p:tag name="KSO_WM_UNIT_ID" val="diagram634_4*l_h_a*1_1_1"/>
  <p:tag name="KSO_WM_UNIT_CLEAR" val="1"/>
  <p:tag name="KSO_WM_UNIT_LAYERLEVEL" val="1_1_1"/>
  <p:tag name="KSO_WM_UNIT_VALUE" val="24"/>
  <p:tag name="KSO_WM_UNIT_HIGHLIGHT" val="0"/>
  <p:tag name="KSO_WM_UNIT_COMPATIBLE" val="0"/>
  <p:tag name="KSO_WM_UNIT_PRESET_TEXT_INDEX" val="3"/>
  <p:tag name="KSO_WM_DIAGRAM_GROUP_CODE" val="l1-1"/>
  <p:tag name="KSO_WM_UNIT_PRESET_TEXT_LEN" val="17"/>
  <p:tag name="KSO_WM_UNIT_FILL_FORE_SCHEMECOLOR_INDEX" val="5"/>
  <p:tag name="KSO_WM_UNIT_FILL_TYPE" val="1"/>
  <p:tag name="KSO_WM_UNIT_TEXT_FILL_FORE_SCHEMECOLOR_INDEX" val="2"/>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634"/>
  <p:tag name="KSO_WM_TAG_VERSION" val="1.0"/>
  <p:tag name="KSO_WM_BEAUTIFY_FLAG" val="#wm#"/>
  <p:tag name="KSO_WM_UNIT_TYPE" val="l_i"/>
  <p:tag name="KSO_WM_UNIT_INDEX" val="1_1"/>
  <p:tag name="KSO_WM_UNIT_ID" val="diagram634_4*l_i*1_1"/>
  <p:tag name="KSO_WM_UNIT_CLEAR" val="1"/>
  <p:tag name="KSO_WM_UNIT_LAYERLEVEL" val="1_1"/>
  <p:tag name="KSO_WM_DIAGRAM_GROUP_CODE" val="l1-1"/>
  <p:tag name="KSO_WM_UNIT_TEXT_FILL_FORE_SCHEMECOLOR_INDEX" val="5"/>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TIMING" val="|0.6|19"/>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2"/>
  <p:tag name="KSO_WM_SLIDE_LAYOUT" val="a_b"/>
  <p:tag name="KSO_WM_SLIDE_LAYOUT_CNT" val="1_1"/>
  <p:tag name="KSO_WM_SLIDE_TYPE" val="endPage"/>
  <p:tag name="KSO_WM_BEAUTIFY_FLAG" val="#wm#"/>
  <p:tag name="KSO_WM_COMBINE_RELATE_SLIDE_ID" val="background20181909_19"/>
  <p:tag name="KSO_WM_TEMPLATE_CATEGORY" val="custom"/>
  <p:tag name="KSO_WM_TEMPLATE_INDEX" val="20186830"/>
  <p:tag name="KSO_WM_SLIDE_ID" val="custom20186830_22"/>
  <p:tag name="KSO_WM_SLIDE_INDEX" val="22"/>
  <p:tag name="KSO_WM_TEMPLATE_SUBCATEGORY" val="combine"/>
  <p:tag name="KSO_WM_SLIDE_SUBTYPE" val="pureTxt"/>
</p:tagLst>
</file>

<file path=ppt/tags/tag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a"/>
  <p:tag name="KSO_WM_UNIT_INDEX" val="1"/>
  <p:tag name="KSO_WM_UNIT_LAYERLEVEL" val="1"/>
  <p:tag name="KSO_WM_UNIT_VALUE" val="5"/>
  <p:tag name="KSO_WM_UNIT_ISCONTENTSTITLE" val="0"/>
  <p:tag name="KSO_WM_UNIT_HIGHLIGHT" val="0"/>
  <p:tag name="KSO_WM_UNIT_COMPATIBLE" val="0"/>
  <p:tag name="KSO_WM_UNIT_CLEAR" val="0"/>
  <p:tag name="KSO_WM_UNIT_ID" val="custom20186830_22*a*1"/>
  <p:tag name="KSO_WM_UNIT_PRESET_TEXT" val="谢谢观看"/>
</p:tagLst>
</file>

<file path=ppt/tags/tag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830"/>
  <p:tag name="KSO_WM_TAG_VERSION" val="1.0"/>
  <p:tag name="KSO_WM_BEAUTIFY_FLAG" val="#wm#"/>
  <p:tag name="KSO_WM_UNIT_TYPE" val="b"/>
  <p:tag name="KSO_WM_UNIT_INDEX" val="1"/>
  <p:tag name="KSO_WM_UNIT_ID" val="custom20186830_22*b*1"/>
  <p:tag name="KSO_WM_UNIT_LAYERLEVEL" val="1"/>
  <p:tag name="KSO_WM_UNIT_VALUE" val="13"/>
  <p:tag name="KSO_WM_UNIT_ISCONTENTSTITLE" val="0"/>
  <p:tag name="KSO_WM_UNIT_HIGHLIGHT" val="0"/>
  <p:tag name="KSO_WM_UNIT_COMPATIBLE" val="0"/>
  <p:tag name="KSO_WM_UNIT_CLEAR" val="0"/>
  <p:tag name="KSO_WM_UNIT_PRESET_TEXT" val="THANK YOU"/>
</p:tagLst>
</file>

<file path=ppt/theme/theme1.xml><?xml version="1.0" encoding="utf-8"?>
<a:theme xmlns:a="http://schemas.openxmlformats.org/drawingml/2006/main" name="1_Office 主题​​">
  <a:themeElements>
    <a:clrScheme name="自定义 218">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FFFFFF"/>
      </a:accent6>
      <a:hlink>
        <a:srgbClr val="0563C1"/>
      </a:hlink>
      <a:folHlink>
        <a:srgbClr val="954F72"/>
      </a:folHlink>
    </a:clrScheme>
    <a:fontScheme name="自定义 4">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2108</TotalTime>
  <Words>3460</Words>
  <Application>Microsoft Office PowerPoint</Application>
  <PresentationFormat>宽屏</PresentationFormat>
  <Paragraphs>704</Paragraphs>
  <Slides>47</Slides>
  <Notes>18</Notes>
  <HiddenSlides>7</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47</vt:i4>
      </vt:variant>
    </vt:vector>
  </HeadingPairs>
  <TitlesOfParts>
    <vt:vector size="56" baseType="lpstr">
      <vt:lpstr>黑体</vt:lpstr>
      <vt:lpstr>宋体e眠副浡渀.</vt:lpstr>
      <vt:lpstr>宋体砤約娀.</vt:lpstr>
      <vt:lpstr>微软雅黑</vt:lpstr>
      <vt:lpstr>Arial</vt:lpstr>
      <vt:lpstr>Calibri</vt:lpstr>
      <vt:lpstr>Times New Roman</vt:lpstr>
      <vt:lpstr>Wingdings</vt:lpstr>
      <vt:lpstr>1_Office 主题​​</vt:lpstr>
      <vt:lpstr>基于深度学习的程序并行化方法研究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能源勘探领域专用并行标记语言的设计与实现</dc:title>
  <dc:creator/>
  <cp:lastModifiedBy>Lenovo</cp:lastModifiedBy>
  <cp:revision>1226</cp:revision>
  <dcterms:created xsi:type="dcterms:W3CDTF">2018-12-20T08:15:00Z</dcterms:created>
  <dcterms:modified xsi:type="dcterms:W3CDTF">2020-05-06T12:58:35Z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2052-11.1.0.8205</vt:lpwstr>
  </property>
</Properties>
</file>