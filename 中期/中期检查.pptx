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3.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5.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7.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8.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9.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0.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11.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12.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22"/>
  </p:notesMasterIdLst>
  <p:sldIdLst>
    <p:sldId id="257" r:id="rId3"/>
    <p:sldId id="265" r:id="rId4"/>
    <p:sldId id="292" r:id="rId5"/>
    <p:sldId id="294" r:id="rId6"/>
    <p:sldId id="266" r:id="rId7"/>
    <p:sldId id="267" r:id="rId8"/>
    <p:sldId id="306" r:id="rId9"/>
    <p:sldId id="307" r:id="rId10"/>
    <p:sldId id="308" r:id="rId11"/>
    <p:sldId id="309" r:id="rId12"/>
    <p:sldId id="310" r:id="rId13"/>
    <p:sldId id="311" r:id="rId14"/>
    <p:sldId id="270" r:id="rId15"/>
    <p:sldId id="305" r:id="rId16"/>
    <p:sldId id="296" r:id="rId17"/>
    <p:sldId id="273" r:id="rId18"/>
    <p:sldId id="280" r:id="rId19"/>
    <p:sldId id="297" r:id="rId20"/>
    <p:sldId id="28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ED6"/>
    <a:srgbClr val="19A382"/>
    <a:srgbClr val="BC4042"/>
    <a:srgbClr val="CFE09A"/>
    <a:srgbClr val="F08095"/>
    <a:srgbClr val="44B36E"/>
    <a:srgbClr val="C2E277"/>
    <a:srgbClr val="75AC8F"/>
    <a:srgbClr val="8CC288"/>
    <a:srgbClr val="F1A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2019/7/3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63348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p:cNvSpPr>
            <a:spLocks noGrp="1" noRot="1" noChangeAspect="1"/>
          </p:cNvSpPr>
          <p:nvPr>
            <p:ph type="sldImg"/>
          </p:nvPr>
        </p:nvSpPr>
        <p:spPr/>
      </p:sp>
      <p:sp>
        <p:nvSpPr>
          <p:cNvPr id="14338" name="备注占位符 2"/>
          <p:cNvSpPr>
            <a:spLocks noGrp="1"/>
          </p:cNvSpPr>
          <p:nvPr>
            <p:ph type="body"/>
          </p:nvPr>
        </p:nvSpPr>
        <p:spPr/>
        <p:txBody>
          <a:bodyPr lIns="91440" tIns="45720" rIns="91440" bIns="45720" anchor="t"/>
          <a:lstStyle/>
          <a:p>
            <a:pPr lvl="0"/>
            <a:endParaRPr lang="zh-CN" altLang="en-US"/>
          </a:p>
        </p:txBody>
      </p:sp>
      <p:sp>
        <p:nvSpPr>
          <p:cNvPr id="14339"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1</a:t>
            </a:fld>
            <a:endParaRPr lang="zh-CN" altLang="en-US"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85471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p:cNvSpPr>
            <a:spLocks noGrp="1" noRot="1" noChangeAspect="1"/>
          </p:cNvSpPr>
          <p:nvPr>
            <p:ph type="sldImg"/>
          </p:nvPr>
        </p:nvSpPr>
        <p:spPr/>
      </p:sp>
      <p:sp>
        <p:nvSpPr>
          <p:cNvPr id="16386" name="备注占位符 2"/>
          <p:cNvSpPr>
            <a:spLocks noGrp="1"/>
          </p:cNvSpPr>
          <p:nvPr>
            <p:ph type="body"/>
          </p:nvPr>
        </p:nvSpPr>
        <p:spPr/>
        <p:txBody>
          <a:bodyPr lIns="91440" tIns="45720" rIns="91440" bIns="45720" anchor="t"/>
          <a:lstStyle/>
          <a:p>
            <a:pPr lvl="0"/>
            <a:endParaRPr lang="zh-CN" altLang="en-US"/>
          </a:p>
        </p:txBody>
      </p:sp>
      <p:sp>
        <p:nvSpPr>
          <p:cNvPr id="16387"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2</a:t>
            </a:fld>
            <a:endParaRPr lang="zh-CN" altLang="en-US"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046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209982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2236938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513461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dirty="0">
                <a:sym typeface="+mn-ea"/>
              </a:rPr>
              <a:t>对石油勘探企业（中石油东方物探研究所）的调研结果表明，虽然能源勘探领域的相关理论发展相对比较成熟，且相关研究也比较完善和透彻。但是由于计算机硬件技术的限制，相当多的理论并未投入实际工程应用。近几年来，随着计算机硬件的飞速发展，越来越多的能源勘探领域从业人员为了提高工作效率与质量，不断地尝试通过并行技术针对一些优秀的理论以及能源勘探数据处理算法进行试验与改进，但是由于专业知识的限制和因工作压力导致的无暇深入研究并行编程技术等等因素，使其在并行编程方面受到了极大的阻碍。由此可见，能源勘探行业内迫切的需要更加完善的软件并行策略和更加方便快捷的算法并行化途径来进行高效的数据处理与解释。同时并行编程能力也逐渐成为了勘探行业从业人员的必不可少的职业技能。</a:t>
            </a: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2679672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结合项目内容，综合对比分析以上三种现有能源勘探软件系统发现：</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1</a:t>
            </a:r>
            <a:r>
              <a:rPr lang="zh-CN" altLang="en-US">
                <a:latin typeface="宋体" panose="02010600030101010101" pitchFamily="2" charset="-122"/>
                <a:ea typeface="宋体" panose="02010600030101010101" pitchFamily="2" charset="-122"/>
                <a:cs typeface="宋体" panose="02010600030101010101" pitchFamily="2" charset="-122"/>
                <a:sym typeface="+mn-ea"/>
              </a:rPr>
              <a:t>、在业务应用集成、数据处理算法覆盖、数据并行管理策略、作业调度管理等方面，业界内均存在表现良好的解决方案。</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、商业软件系统采用</a:t>
            </a:r>
            <a:r>
              <a:rPr lang="en-US" altLang="zh-CN">
                <a:latin typeface="宋体" panose="02010600030101010101" pitchFamily="2" charset="-122"/>
                <a:ea typeface="宋体" panose="02010600030101010101" pitchFamily="2" charset="-122"/>
                <a:cs typeface="宋体" panose="02010600030101010101" pitchFamily="2" charset="-122"/>
                <a:sym typeface="+mn-ea"/>
              </a:rPr>
              <a:t>Web</a:t>
            </a:r>
            <a:r>
              <a:rPr lang="zh-CN" altLang="en-US">
                <a:latin typeface="宋体" panose="02010600030101010101" pitchFamily="2" charset="-122"/>
                <a:ea typeface="宋体" panose="02010600030101010101" pitchFamily="2" charset="-122"/>
                <a:cs typeface="宋体" panose="02010600030101010101" pitchFamily="2" charset="-122"/>
                <a:sym typeface="+mn-ea"/>
              </a:rPr>
              <a:t>的形式，完成了从多应用多窗口响应式的操作到站点一站集成甚至是云化的过程。</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3</a:t>
            </a:r>
            <a:r>
              <a:rPr lang="zh-CN" altLang="en-US">
                <a:latin typeface="宋体" panose="02010600030101010101" pitchFamily="2" charset="-122"/>
                <a:ea typeface="宋体" panose="02010600030101010101" pitchFamily="2" charset="-122"/>
                <a:cs typeface="宋体" panose="02010600030101010101" pitchFamily="2" charset="-122"/>
                <a:sym typeface="+mn-ea"/>
              </a:rPr>
              <a:t>、在用户自主编程方面，却无一例外地采用原始编程方式，专业门槛较高，对拥有多年数据处理经验，勘探行业技术熟练但不熟悉并行编程技术的从业人员很不友好。</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2624626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结合项目内容，综合对比分析以上三种现有能源勘探软件系统发现：</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1</a:t>
            </a:r>
            <a:r>
              <a:rPr lang="zh-CN" altLang="en-US">
                <a:latin typeface="宋体" panose="02010600030101010101" pitchFamily="2" charset="-122"/>
                <a:ea typeface="宋体" panose="02010600030101010101" pitchFamily="2" charset="-122"/>
                <a:cs typeface="宋体" panose="02010600030101010101" pitchFamily="2" charset="-122"/>
                <a:sym typeface="+mn-ea"/>
              </a:rPr>
              <a:t>、在业务应用集成、数据处理算法覆盖、数据并行管理策略、作业调度管理等方面，业界内均存在表现良好的解决方案。</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、商业软件系统采用</a:t>
            </a:r>
            <a:r>
              <a:rPr lang="en-US" altLang="zh-CN">
                <a:latin typeface="宋体" panose="02010600030101010101" pitchFamily="2" charset="-122"/>
                <a:ea typeface="宋体" panose="02010600030101010101" pitchFamily="2" charset="-122"/>
                <a:cs typeface="宋体" panose="02010600030101010101" pitchFamily="2" charset="-122"/>
                <a:sym typeface="+mn-ea"/>
              </a:rPr>
              <a:t>Web</a:t>
            </a:r>
            <a:r>
              <a:rPr lang="zh-CN" altLang="en-US">
                <a:latin typeface="宋体" panose="02010600030101010101" pitchFamily="2" charset="-122"/>
                <a:ea typeface="宋体" panose="02010600030101010101" pitchFamily="2" charset="-122"/>
                <a:cs typeface="宋体" panose="02010600030101010101" pitchFamily="2" charset="-122"/>
                <a:sym typeface="+mn-ea"/>
              </a:rPr>
              <a:t>的形式，完成了从多应用多窗口响应式的操作到站点一站集成甚至是云化的过程。</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3</a:t>
            </a:r>
            <a:r>
              <a:rPr lang="zh-CN" altLang="en-US">
                <a:latin typeface="宋体" panose="02010600030101010101" pitchFamily="2" charset="-122"/>
                <a:ea typeface="宋体" panose="02010600030101010101" pitchFamily="2" charset="-122"/>
                <a:cs typeface="宋体" panose="02010600030101010101" pitchFamily="2" charset="-122"/>
                <a:sym typeface="+mn-ea"/>
              </a:rPr>
              <a:t>、在用户自主编程方面，却无一例外地采用原始编程方式，专业门槛较高，对拥有多年数据处理经验，勘探行业技术熟练但不熟悉并行编程技术的从业人员很不友好。</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14</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1920743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结合项目内容，综合对比分析以上三种现有能源勘探软件系统发现：</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1</a:t>
            </a:r>
            <a:r>
              <a:rPr lang="zh-CN" altLang="en-US">
                <a:latin typeface="宋体" panose="02010600030101010101" pitchFamily="2" charset="-122"/>
                <a:ea typeface="宋体" panose="02010600030101010101" pitchFamily="2" charset="-122"/>
                <a:cs typeface="宋体" panose="02010600030101010101" pitchFamily="2" charset="-122"/>
                <a:sym typeface="+mn-ea"/>
              </a:rPr>
              <a:t>、在业务应用集成、数据处理算法覆盖、数据并行管理策略、作业调度管理等方面，业界内均存在表现良好的解决方案。</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、商业软件系统采用</a:t>
            </a:r>
            <a:r>
              <a:rPr lang="en-US" altLang="zh-CN">
                <a:latin typeface="宋体" panose="02010600030101010101" pitchFamily="2" charset="-122"/>
                <a:ea typeface="宋体" panose="02010600030101010101" pitchFamily="2" charset="-122"/>
                <a:cs typeface="宋体" panose="02010600030101010101" pitchFamily="2" charset="-122"/>
                <a:sym typeface="+mn-ea"/>
              </a:rPr>
              <a:t>Web</a:t>
            </a:r>
            <a:r>
              <a:rPr lang="zh-CN" altLang="en-US">
                <a:latin typeface="宋体" panose="02010600030101010101" pitchFamily="2" charset="-122"/>
                <a:ea typeface="宋体" panose="02010600030101010101" pitchFamily="2" charset="-122"/>
                <a:cs typeface="宋体" panose="02010600030101010101" pitchFamily="2" charset="-122"/>
                <a:sym typeface="+mn-ea"/>
              </a:rPr>
              <a:t>的形式，完成了从多应用多窗口响应式的操作到站点一站集成甚至是云化的过程。</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3</a:t>
            </a:r>
            <a:r>
              <a:rPr lang="zh-CN" altLang="en-US">
                <a:latin typeface="宋体" panose="02010600030101010101" pitchFamily="2" charset="-122"/>
                <a:ea typeface="宋体" panose="02010600030101010101" pitchFamily="2" charset="-122"/>
                <a:cs typeface="宋体" panose="02010600030101010101" pitchFamily="2" charset="-122"/>
                <a:sym typeface="+mn-ea"/>
              </a:rPr>
              <a:t>、在用户自主编程方面，却无一例外地采用原始编程方式，专业门槛较高，对拥有多年数据处理经验，勘探行业技术熟练但不熟悉并行编程技术的从业人员很不友好。</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532498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solidFill>
                  <a:srgbClr val="9C6A6A">
                    <a:lumMod val="50000"/>
                  </a:srgbClr>
                </a:solidFill>
                <a:sym typeface="+mn-ea"/>
              </a:rPr>
              <a:t>地震数据处理算法程序庞大的程序规模与复杂的数据依赖导致无法人为的准确地深入了解程序的静态特征的同时，超长的运行时间与成本也使得获取程序动态特征成为空谈，针对此类程序并行性分析和自动并行化的难度进一步增加。研究更加直接的程序并行性预测方法意义重大，而使用机器学习、人工智能的方法来解决程序的可并行性预测甚至是程序的并行化问题是一个值得关注的方向。</a:t>
            </a:r>
            <a:endParaRPr lang="zh-CN" altLang="en-US"/>
          </a:p>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16</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1958681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3300645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dirty="0">
              <a:sym typeface="+mn-ea"/>
            </a:endParaRPr>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extLst>
      <p:ext uri="{BB962C8B-B14F-4D97-AF65-F5344CB8AC3E}">
        <p14:creationId xmlns:p14="http://schemas.microsoft.com/office/powerpoint/2010/main" val="710797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p:cNvSpPr>
          <p:nvPr>
            <p:ph type="sldImg"/>
          </p:nvPr>
        </p:nvSpPr>
        <p:spPr/>
      </p:sp>
      <p:sp>
        <p:nvSpPr>
          <p:cNvPr id="43010" name="备注占位符 2"/>
          <p:cNvSpPr>
            <a:spLocks noGrp="1"/>
          </p:cNvSpPr>
          <p:nvPr>
            <p:ph type="body"/>
          </p:nvPr>
        </p:nvSpPr>
        <p:spPr/>
        <p:txBody>
          <a:bodyPr lIns="91440" tIns="45720" rIns="91440" bIns="45720" anchor="t"/>
          <a:lstStyle/>
          <a:p>
            <a:pPr lvl="0"/>
            <a:endParaRPr lang="zh-CN" altLang="en-US"/>
          </a:p>
        </p:txBody>
      </p:sp>
      <p:sp>
        <p:nvSpPr>
          <p:cNvPr id="43011"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19</a:t>
            </a:fld>
            <a:endParaRPr lang="zh-CN" altLang="en-US"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81269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Master" Target="../slideMasters/slideMaster1.xml"/><Relationship Id="rId5" Type="http://schemas.openxmlformats.org/officeDocument/2006/relationships/tags" Target="../tags/tag8.xml"/><Relationship Id="rId4"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Master" Target="../slideMasters/slideMaster1.xml"/><Relationship Id="rId5" Type="http://schemas.openxmlformats.org/officeDocument/2006/relationships/tags" Target="../tags/tag13.xml"/><Relationship Id="rId4" Type="http://schemas.openxmlformats.org/officeDocument/2006/relationships/tags" Target="../tags/tag1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2.xml"/><Relationship Id="rId5" Type="http://schemas.openxmlformats.org/officeDocument/2006/relationships/tags" Target="../tags/tag26.xml"/><Relationship Id="rId4" Type="http://schemas.openxmlformats.org/officeDocument/2006/relationships/tags" Target="../tags/tag2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flipH="1">
            <a:off x="1631951" y="2308225"/>
            <a:ext cx="2851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2"/>
            </p:custDataLst>
          </p:nvPr>
        </p:nvCxnSpPr>
        <p:spPr>
          <a:xfrm>
            <a:off x="1631951" y="2308225"/>
            <a:ext cx="0" cy="2182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617133" y="4500563"/>
            <a:ext cx="89619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7727951" y="2308225"/>
            <a:ext cx="2851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0572751" y="2317750"/>
            <a:ext cx="0" cy="2182813"/>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268279" y="2683891"/>
            <a:ext cx="7655443" cy="1089529"/>
          </a:xfrm>
        </p:spPr>
        <p:txBody>
          <a:bodyPr wrap="square" anchor="b">
            <a:normAutofit/>
          </a:bodyPr>
          <a:lstStyle>
            <a:lvl1pPr algn="ctr">
              <a:defRPr sz="5400"/>
            </a:lvl1pPr>
          </a:lstStyle>
          <a:p>
            <a:pPr fontAlgn="auto"/>
            <a:r>
              <a:rPr lang="zh-CN" altLang="en-US" strike="noStrike" noProof="1"/>
              <a:t>单击此处编辑标题</a:t>
            </a:r>
          </a:p>
        </p:txBody>
      </p:sp>
      <p:sp>
        <p:nvSpPr>
          <p:cNvPr id="3" name="副标题 2"/>
          <p:cNvSpPr>
            <a:spLocks noGrp="1"/>
          </p:cNvSpPr>
          <p:nvPr>
            <p:ph type="subTitle" idx="1"/>
          </p:nvPr>
        </p:nvSpPr>
        <p:spPr>
          <a:xfrm>
            <a:off x="2268279" y="3814695"/>
            <a:ext cx="7655443" cy="424732"/>
          </a:xfrm>
        </p:spPr>
        <p:txBody>
          <a:bodyPr wrap="square">
            <a:normAutofit/>
          </a:bodyPr>
          <a:lstStyle>
            <a:lvl1pPr marL="0" indent="0" algn="dis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pPr fontAlgn="auto"/>
            <a:r>
              <a:rPr lang="zh-CN" altLang="en-US" strike="noStrike" noProof="1"/>
              <a:t>单击此处编辑标题</a:t>
            </a:r>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fontAlgn="auto"/>
            <a:r>
              <a:rPr lang="zh-CN" altLang="en-US" strike="noStrike" noProof="1"/>
              <a:t>单击此处编辑文本</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838200" y="1825625"/>
            <a:ext cx="5181600" cy="4351338"/>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172200" y="1825625"/>
            <a:ext cx="5181600" cy="4351338"/>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6"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normAutofit/>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39789" y="1744961"/>
            <a:ext cx="5157787"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39789" y="2615609"/>
            <a:ext cx="5157787" cy="3574054"/>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6172200" y="2615609"/>
            <a:ext cx="5183188" cy="3574054"/>
          </a:xfrm>
        </p:spPr>
        <p:txBody>
          <a:bodyPr>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8" name="页脚占位符 7"/>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9" name="灯片编号占位符 8"/>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5551" y="3048000"/>
            <a:ext cx="774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5551" y="3048000"/>
            <a:ext cx="0" cy="1217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5551" y="4265613"/>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684" y="3048000"/>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1417" y="3048000"/>
            <a:ext cx="0" cy="1217613"/>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pPr fontAlgn="auto"/>
            <a:r>
              <a:rPr lang="zh-CN" altLang="en-US" strike="noStrike" noProof="1"/>
              <a:t>编辑标题</a:t>
            </a:r>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fontAlgn="auto"/>
            <a:r>
              <a:rPr lang="zh-CN" altLang="en-US" strike="noStrike" noProof="1"/>
              <a:t>单击此处编辑文本</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711200"/>
            <a:ext cx="4262400" cy="1600200"/>
          </a:xfrm>
        </p:spPr>
        <p:txBody>
          <a:bodyPr anchor="t" anchorCtr="0">
            <a:normAutofit/>
          </a:bodyPr>
          <a:lstStyle>
            <a:lvl1pPr>
              <a:defRPr sz="3200"/>
            </a:lvl1pPr>
          </a:lstStyle>
          <a:p>
            <a:pPr fontAlgn="auto"/>
            <a:r>
              <a:rPr lang="zh-CN" altLang="en-US" strike="noStrike" noProof="1"/>
              <a:t>单击此处编辑标题</a:t>
            </a:r>
          </a:p>
        </p:txBody>
      </p:sp>
      <p:sp>
        <p:nvSpPr>
          <p:cNvPr id="3" name="图片占位符 2"/>
          <p:cNvSpPr>
            <a:spLocks noGrp="1" noChangeAspect="1"/>
          </p:cNvSpPr>
          <p:nvPr>
            <p:ph type="pic" idx="1" hasCustomPrompt="1"/>
          </p:nvPr>
        </p:nvSpPr>
        <p:spPr>
          <a:xfrm>
            <a:off x="5352521" y="733425"/>
            <a:ext cx="6170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r>
              <a:rPr lang="zh-CN" altLang="en-US" strike="noStrike" noProof="1"/>
              <a:t>图片</a:t>
            </a:r>
          </a:p>
        </p:txBody>
      </p:sp>
      <p:sp>
        <p:nvSpPr>
          <p:cNvPr id="4" name="文本占位符 3"/>
          <p:cNvSpPr>
            <a:spLocks noGrp="1"/>
          </p:cNvSpPr>
          <p:nvPr>
            <p:ph type="body" sz="half" idx="2"/>
          </p:nvPr>
        </p:nvSpPr>
        <p:spPr>
          <a:xfrm>
            <a:off x="839788" y="2311400"/>
            <a:ext cx="42624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9EFD9D74-47D9-4702-A33C-335B63B48DBF}"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6"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7"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FABC47A4-756D-490B-A52F-7D9E2C9FC05F}"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2700"/>
            </a:lvl1p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838200" y="365125"/>
            <a:ext cx="8879959" cy="5811838"/>
          </a:xfrm>
        </p:spPr>
        <p:txBody>
          <a:bodyPr vert="eaVert">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1"/>
        </a:solidFill>
        <a:effectLst/>
      </p:bgPr>
    </p:bg>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flipH="1">
            <a:off x="1631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2"/>
            </p:custDataLst>
          </p:nvPr>
        </p:nvCxnSpPr>
        <p:spPr>
          <a:xfrm>
            <a:off x="1631585" y="2307814"/>
            <a:ext cx="0" cy="21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618039" y="4500880"/>
            <a:ext cx="8961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7727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0572385" y="2317974"/>
            <a:ext cx="0" cy="2182906"/>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268279" y="2683891"/>
            <a:ext cx="7655443" cy="1089529"/>
          </a:xfrm>
        </p:spPr>
        <p:txBody>
          <a:bodyPr wrap="square" anchor="b">
            <a:normAutofit/>
          </a:bodyPr>
          <a:lstStyle>
            <a:lvl1pPr algn="ctr">
              <a:defRPr sz="5400"/>
            </a:lvl1pPr>
          </a:lstStyle>
          <a:p>
            <a:r>
              <a:rPr lang="zh-CN" altLang="en-US" dirty="0"/>
              <a:t>单击此处编辑标题</a:t>
            </a:r>
          </a:p>
        </p:txBody>
      </p:sp>
      <p:sp>
        <p:nvSpPr>
          <p:cNvPr id="3" name="副标题 2"/>
          <p:cNvSpPr>
            <a:spLocks noGrp="1"/>
          </p:cNvSpPr>
          <p:nvPr>
            <p:ph type="subTitle" idx="1"/>
          </p:nvPr>
        </p:nvSpPr>
        <p:spPr>
          <a:xfrm>
            <a:off x="2268279" y="3814695"/>
            <a:ext cx="7655443" cy="424732"/>
          </a:xfrm>
        </p:spPr>
        <p:txBody>
          <a:bodyPr wrap="square">
            <a:normAutofit/>
          </a:bodyPr>
          <a:lstStyle>
            <a:lvl1pPr marL="0" indent="0" algn="dis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r>
              <a:rPr lang="zh-CN" altLang="en-US" dirty="0"/>
              <a:t>单击此处编辑标题</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a:r>
              <a:rPr lang="zh-CN" altLang="en-US" dirty="0"/>
              <a:t>单击此处编辑文本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839789" y="1744961"/>
            <a:ext cx="5157787"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839789" y="2615609"/>
            <a:ext cx="5157787"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4944" y="3048593"/>
            <a:ext cx="775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4944" y="3048593"/>
            <a:ext cx="1" cy="1216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4944" y="4265528"/>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077" y="3048593"/>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0811" y="3048593"/>
            <a:ext cx="0" cy="1216935"/>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a:r>
              <a:rPr lang="zh-CN" altLang="en-US" dirty="0"/>
              <a:t>单击此处编辑文本</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711200"/>
            <a:ext cx="42624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5352521" y="733425"/>
            <a:ext cx="6170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839788" y="2311400"/>
            <a:ext cx="42624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2019/7/3</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2019/7/3</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ags" Target="../tags/tag15.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ags" Target="../tags/tag1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ags" Target="../tags/tag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2"/>
            </p:custDataLst>
          </p:nvPr>
        </p:nvSpPr>
        <p:spPr>
          <a:xfrm>
            <a:off x="838200" y="365125"/>
            <a:ext cx="10515600" cy="1325563"/>
          </a:xfrm>
          <a:prstGeom prst="rect">
            <a:avLst/>
          </a:prstGeom>
          <a:noFill/>
          <a:ln w="9525">
            <a:noFill/>
          </a:ln>
        </p:spPr>
        <p:txBody>
          <a:bodyPr vert="horz" lIns="91440" tIns="45720" rIns="91440" bIns="45720" anchor="ctr"/>
          <a:lstStyle/>
          <a:p>
            <a:pPr lvl="0"/>
            <a:r>
              <a:rPr lang="zh-CN" altLang="en-US" dirty="0"/>
              <a:t>单击此处编辑母版标题样式</a:t>
            </a:r>
          </a:p>
        </p:txBody>
      </p:sp>
      <p:sp>
        <p:nvSpPr>
          <p:cNvPr id="1027" name="文本占位符 2"/>
          <p:cNvSpPr>
            <a:spLocks noGrp="1"/>
          </p:cNvSpPr>
          <p:nvPr>
            <p:ph type="body"/>
            <p:custDataLst>
              <p:tags r:id="rId13"/>
            </p:custDataLst>
          </p:nvPr>
        </p:nvSpPr>
        <p:spPr>
          <a:xfrm>
            <a:off x="838200" y="1825625"/>
            <a:ext cx="10515600" cy="4351338"/>
          </a:xfrm>
          <a:prstGeom prst="rect">
            <a:avLst/>
          </a:prstGeom>
          <a:noFill/>
          <a:ln w="9525">
            <a:noFill/>
          </a:ln>
        </p:spPr>
        <p:txBody>
          <a:bodyPr vert="horz" lIns="91440" tIns="45720" rIns="91440" bIns="45720" anchor="t"/>
          <a:lstStyle/>
          <a:p>
            <a:pPr lvl="0" indent="-171450"/>
            <a:r>
              <a:rPr lang="zh-CN" altLang="en-US" dirty="0"/>
              <a:t>单击此处编辑母版文本样式</a:t>
            </a:r>
          </a:p>
          <a:p>
            <a:pPr lvl="1" indent="-171450"/>
            <a:r>
              <a:rPr lang="zh-CN" altLang="en-US" dirty="0"/>
              <a:t>第二级</a:t>
            </a:r>
          </a:p>
          <a:p>
            <a:pPr lvl="2" indent="-171450"/>
            <a:r>
              <a:rPr lang="zh-CN" altLang="en-US" dirty="0"/>
              <a:t>第三级</a:t>
            </a:r>
          </a:p>
          <a:p>
            <a:pPr lvl="3" indent="-171450"/>
            <a:r>
              <a:rPr lang="zh-CN" altLang="en-US" dirty="0"/>
              <a:t>第四级</a:t>
            </a:r>
          </a:p>
          <a:p>
            <a:pPr lvl="4" indent="-171450"/>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2019/7/3</a:t>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685800" rtl="0" eaLnBrk="1" latinLnBrk="0" hangingPunct="1">
        <a:lnSpc>
          <a:spcPct val="120000"/>
        </a:lnSpc>
        <a:spcBef>
          <a:spcPct val="0"/>
        </a:spcBef>
        <a:buNone/>
        <a:defRPr sz="3600" kern="120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fld id="{760FBDFE-C587-4B4C-A407-44438C67B59E}" type="datetimeFigureOut">
              <a:rPr lang="zh-CN" altLang="en-US" smtClean="0"/>
              <a:t>2019/7/3</a:t>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685800" rtl="0" eaLnBrk="1" latinLnBrk="0" hangingPunct="1">
        <a:lnSpc>
          <a:spcPct val="120000"/>
        </a:lnSpc>
        <a:spcBef>
          <a:spcPct val="0"/>
        </a:spcBef>
        <a:buNone/>
        <a:defRPr sz="3600" kern="120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1.jpe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30.xml"/></Relationships>
</file>

<file path=ppt/slides/_rels/slide2.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3" Type="http://schemas.openxmlformats.org/officeDocument/2006/relationships/tags" Target="../tags/tag33.xml"/><Relationship Id="rId21" Type="http://schemas.openxmlformats.org/officeDocument/2006/relationships/slideLayout" Target="../slideLayouts/slideLayout7.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image" Target="../media/image1.jpeg"/><Relationship Id="rId10" Type="http://schemas.openxmlformats.org/officeDocument/2006/relationships/tags" Target="../tags/tag40.xml"/><Relationship Id="rId19" Type="http://schemas.openxmlformats.org/officeDocument/2006/relationships/tags" Target="../tags/tag49.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slideLayout" Target="../slideLayouts/slideLayout8.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image" Target="../media/image1.jpeg"/><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19" Type="http://schemas.openxmlformats.org/officeDocument/2006/relationships/notesSlide" Target="../notesSlides/notesSlide3.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s>
</file>

<file path=ppt/slides/_rels/slide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70.xml"/><Relationship Id="rId7" Type="http://schemas.openxmlformats.org/officeDocument/2006/relationships/notesSlide" Target="../notesSlides/notesSlide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Layout" Target="../slideLayouts/slideLayout8.xml"/><Relationship Id="rId5" Type="http://schemas.openxmlformats.org/officeDocument/2006/relationships/tags" Target="../tags/tag72.xml"/><Relationship Id="rId4" Type="http://schemas.openxmlformats.org/officeDocument/2006/relationships/tags" Target="../tags/tag71.xml"/></Relationships>
</file>

<file path=ppt/slides/_rels/slide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75.xml"/><Relationship Id="rId7" Type="http://schemas.openxmlformats.org/officeDocument/2006/relationships/notesSlide" Target="../notesSlides/notesSlide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18.xml"/><Relationship Id="rId5" Type="http://schemas.openxmlformats.org/officeDocument/2006/relationships/tags" Target="../tags/tag77.xml"/><Relationship Id="rId4" Type="http://schemas.openxmlformats.org/officeDocument/2006/relationships/tags" Target="../tags/tag76.xml"/></Relationships>
</file>

<file path=ppt/slides/_rels/slide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80.xml"/><Relationship Id="rId7" Type="http://schemas.openxmlformats.org/officeDocument/2006/relationships/notesSlide" Target="../notesSlides/notesSlide6.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Layout" Target="../slideLayouts/slideLayout18.xml"/><Relationship Id="rId5" Type="http://schemas.openxmlformats.org/officeDocument/2006/relationships/tags" Target="../tags/tag82.xml"/><Relationship Id="rId4" Type="http://schemas.openxmlformats.org/officeDocument/2006/relationships/tags" Target="../tags/tag81.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85.xml"/><Relationship Id="rId7" Type="http://schemas.openxmlformats.org/officeDocument/2006/relationships/notesSlide" Target="../notesSlides/notesSlide7.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slideLayout" Target="../slideLayouts/slideLayout18.xml"/><Relationship Id="rId5" Type="http://schemas.openxmlformats.org/officeDocument/2006/relationships/tags" Target="../tags/tag87.xml"/><Relationship Id="rId10" Type="http://schemas.openxmlformats.org/officeDocument/2006/relationships/image" Target="../media/image9.PNG"/><Relationship Id="rId4" Type="http://schemas.openxmlformats.org/officeDocument/2006/relationships/tags" Target="../tags/tag86.xml"/><Relationship Id="rId9" Type="http://schemas.openxmlformats.org/officeDocument/2006/relationships/hyperlink" Target="https://baike.baidu.com/item/%E7%9F%A2%E9%87%8F%E5%8C%96/465614"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90.xml"/><Relationship Id="rId7" Type="http://schemas.openxmlformats.org/officeDocument/2006/relationships/notesSlide" Target="../notesSlides/notesSlide8.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slideLayout" Target="../slideLayouts/slideLayout18.xml"/><Relationship Id="rId11" Type="http://schemas.openxmlformats.org/officeDocument/2006/relationships/image" Target="../media/image12.png"/><Relationship Id="rId5" Type="http://schemas.openxmlformats.org/officeDocument/2006/relationships/tags" Target="../tags/tag92.xml"/><Relationship Id="rId10" Type="http://schemas.openxmlformats.org/officeDocument/2006/relationships/image" Target="../media/image11.png"/><Relationship Id="rId4" Type="http://schemas.openxmlformats.org/officeDocument/2006/relationships/tags" Target="../tags/tag91.xml"/><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95.xml"/><Relationship Id="rId7" Type="http://schemas.openxmlformats.org/officeDocument/2006/relationships/notesSlide" Target="../notesSlides/notesSlide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slideLayout" Target="../slideLayouts/slideLayout18.xml"/><Relationship Id="rId5" Type="http://schemas.openxmlformats.org/officeDocument/2006/relationships/tags" Target="../tags/tag97.xml"/><Relationship Id="rId4" Type="http://schemas.openxmlformats.org/officeDocument/2006/relationships/tags" Target="../tags/tag96.xml"/></Relationships>
</file>

<file path=ppt/slides/_rels/slide1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00.xml"/><Relationship Id="rId7" Type="http://schemas.openxmlformats.org/officeDocument/2006/relationships/notesSlide" Target="../notesSlides/notesSlide10.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slideLayout" Target="../slideLayouts/slideLayout18.xml"/><Relationship Id="rId5" Type="http://schemas.openxmlformats.org/officeDocument/2006/relationships/tags" Target="../tags/tag102.xml"/><Relationship Id="rId4" Type="http://schemas.openxmlformats.org/officeDocument/2006/relationships/tags" Target="../tags/tag101.xml"/></Relationships>
</file>

<file path=ppt/slides/_rels/slide1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05.xml"/><Relationship Id="rId7" Type="http://schemas.openxmlformats.org/officeDocument/2006/relationships/notesSlide" Target="../notesSlides/notesSlide11.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18.xml"/><Relationship Id="rId5" Type="http://schemas.openxmlformats.org/officeDocument/2006/relationships/tags" Target="../tags/tag107.xml"/><Relationship Id="rId4" Type="http://schemas.openxmlformats.org/officeDocument/2006/relationships/tags" Target="../tags/tag106.xml"/></Relationships>
</file>

<file path=ppt/slides/_rels/slide1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10.xml"/><Relationship Id="rId7" Type="http://schemas.openxmlformats.org/officeDocument/2006/relationships/notesSlide" Target="../notesSlides/notesSlide12.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slideLayout" Target="../slideLayouts/slideLayout18.xml"/><Relationship Id="rId5" Type="http://schemas.openxmlformats.org/officeDocument/2006/relationships/tags" Target="../tags/tag112.xml"/><Relationship Id="rId4" Type="http://schemas.openxmlformats.org/officeDocument/2006/relationships/tags" Target="../tags/tag111.xml"/></Relationships>
</file>

<file path=ppt/slides/_rels/slide19.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1.jpeg"/><Relationship Id="rId5" Type="http://schemas.openxmlformats.org/officeDocument/2006/relationships/notesSlide" Target="../notesSlides/notesSlide13.xml"/><Relationship Id="rId4"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p:cNvSpPr>
          <p:nvPr>
            <p:ph type="ctrTitle" hasCustomPrompt="1"/>
            <p:custDataLst>
              <p:tags r:id="rId2"/>
            </p:custDataLst>
          </p:nvPr>
        </p:nvSpPr>
        <p:spPr>
          <a:xfrm>
            <a:off x="1859915" y="2958465"/>
            <a:ext cx="8472805" cy="664210"/>
          </a:xfrm>
        </p:spPr>
        <p:txBody>
          <a:bodyPr vert="horz" wrap="square" lIns="90000" tIns="46800" rIns="90000" bIns="46800" anchor="ctr">
            <a:normAutofit fontScale="90000"/>
          </a:bodyPr>
          <a:lstStyle/>
          <a:p>
            <a:pPr algn="l" defTabSz="914400">
              <a:buNone/>
            </a:pPr>
            <a:r>
              <a:rPr lang="zh-CN" altLang="en-US" sz="3600" kern="1200">
                <a:solidFill>
                  <a:schemeClr val="tx1"/>
                </a:solidFill>
                <a:latin typeface="+mj-lt"/>
                <a:ea typeface="+mj-ea"/>
                <a:cs typeface="+mj-cs"/>
              </a:rPr>
              <a:t>能源勘探领域专用并行标记语言的设计与实现</a:t>
            </a:r>
          </a:p>
        </p:txBody>
      </p:sp>
      <p:sp>
        <p:nvSpPr>
          <p:cNvPr id="13314" name="副标题 2"/>
          <p:cNvSpPr>
            <a:spLocks noGrp="1"/>
          </p:cNvSpPr>
          <p:nvPr>
            <p:ph type="subTitle" idx="1"/>
            <p:custDataLst>
              <p:tags r:id="rId3"/>
            </p:custDataLst>
          </p:nvPr>
        </p:nvSpPr>
        <p:spPr>
          <a:xfrm>
            <a:off x="3069590" y="4001770"/>
            <a:ext cx="6052185" cy="425450"/>
          </a:xfrm>
        </p:spPr>
        <p:txBody>
          <a:bodyPr vert="horz" wrap="square" lIns="90000" tIns="46800" rIns="90000" bIns="46800" anchor="t">
            <a:normAutofit fontScale="90000"/>
          </a:bodyPr>
          <a:lstStyle/>
          <a:p>
            <a:pPr algn="ctr" defTabSz="685800">
              <a:lnSpc>
                <a:spcPct val="80000"/>
              </a:lnSpc>
            </a:pPr>
            <a:r>
              <a:rPr lang="zh-CN" altLang="en-US">
                <a:latin typeface="黑体" panose="02010609060101010101" charset="-122"/>
                <a:ea typeface="黑体" panose="02010609060101010101" charset="-122"/>
                <a:cs typeface="黑体" panose="02010609060101010101" charset="-122"/>
              </a:rPr>
              <a:t>汇报</a:t>
            </a:r>
            <a:r>
              <a:rPr lang="zh-CN" altLang="zh-CN" kern="1200" baseline="0" smtClean="0">
                <a:latin typeface="黑体" panose="02010609060101010101" charset="-122"/>
                <a:ea typeface="黑体" panose="02010609060101010101" charset="-122"/>
                <a:cs typeface="黑体" panose="02010609060101010101" charset="-122"/>
              </a:rPr>
              <a:t>人</a:t>
            </a:r>
            <a:r>
              <a:rPr lang="zh-CN" altLang="zh-CN" kern="1200" baseline="0">
                <a:latin typeface="黑体" panose="02010609060101010101" charset="-122"/>
                <a:ea typeface="黑体" panose="02010609060101010101" charset="-122"/>
                <a:cs typeface="黑体" panose="02010609060101010101" charset="-122"/>
              </a:rPr>
              <a:t>：王世领</a:t>
            </a:r>
            <a:r>
              <a:rPr lang="en-US" altLang="zh-CN" kern="1200" baseline="0">
                <a:latin typeface="黑体" panose="02010609060101010101" charset="-122"/>
                <a:ea typeface="黑体" panose="02010609060101010101" charset="-122"/>
                <a:cs typeface="黑体" panose="02010609060101010101" charset="-122"/>
              </a:rPr>
              <a:t>			</a:t>
            </a:r>
            <a:r>
              <a:rPr lang="zh-CN" altLang="en-US" kern="1200" baseline="0">
                <a:latin typeface="黑体" panose="02010609060101010101" charset="-122"/>
                <a:ea typeface="黑体" panose="02010609060101010101" charset="-122"/>
                <a:cs typeface="黑体" panose="02010609060101010101" charset="-122"/>
              </a:rPr>
              <a:t>指导教师：彭蔓蔓  吴强</a:t>
            </a:r>
            <a:endParaRPr lang="zh-CN" altLang="zh-CN" kern="1200" baseline="0">
              <a:latin typeface="黑体" panose="02010609060101010101" charset="-122"/>
              <a:ea typeface="黑体" panose="02010609060101010101" charset="-122"/>
              <a:cs typeface="黑体" panose="02010609060101010101" charset="-122"/>
            </a:endParaRPr>
          </a:p>
          <a:p>
            <a:pPr defTabSz="685800">
              <a:lnSpc>
                <a:spcPct val="80000"/>
              </a:lnSpc>
            </a:pPr>
            <a:endParaRPr lang="en-US" altLang="zh-CN" kern="1200" dirty="0">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4"/>
            </p:custDataLst>
          </p:nvPr>
        </p:nvSpPr>
        <p:spPr>
          <a:xfrm>
            <a:off x="4670425" y="2075180"/>
            <a:ext cx="2898775" cy="504190"/>
          </a:xfrm>
          <a:prstGeom prst="rect">
            <a:avLst/>
          </a:prstGeom>
          <a:noFill/>
        </p:spPr>
        <p:txBody>
          <a:bodyPr wrap="square" lIns="90000" tIns="46800" rIns="90000" bIns="46800" rtlCol="0" anchor="ctr" anchorCtr="0">
            <a:normAutofit fontScale="72500" lnSpcReduction="20000"/>
          </a:bodyPr>
          <a:lstStyle>
            <a:defPPr>
              <a:defRPr lang="en-US"/>
            </a:defPPr>
            <a:lvl1pPr algn="dist">
              <a:defRPr sz="4000">
                <a:solidFill>
                  <a:schemeClr val="tx1">
                    <a:lumMod val="75000"/>
                    <a:lumOff val="25000"/>
                  </a:schemeClr>
                </a:solidFill>
              </a:defRPr>
            </a:lvl1pPr>
          </a:lstStyle>
          <a:p>
            <a:pPr fontAlgn="base"/>
            <a:r>
              <a:rPr lang="zh-CN" altLang="en-US" sz="2800" strike="noStrike" noProof="1" smtClean="0"/>
              <a:t>中期检查（</a:t>
            </a:r>
            <a:r>
              <a:rPr lang="en-US" altLang="zh-CN" sz="2800" strike="noStrike" noProof="1" smtClean="0"/>
              <a:t>2019.07.03</a:t>
            </a:r>
            <a:r>
              <a:rPr lang="zh-CN" altLang="en-US" sz="2800" strike="noStrike" noProof="1" smtClean="0"/>
              <a:t>）</a:t>
            </a:r>
          </a:p>
        </p:txBody>
      </p:sp>
      <p:pic>
        <p:nvPicPr>
          <p:cNvPr id="6" name="图片 5" descr="timg"/>
          <p:cNvPicPr>
            <a:picLocks noChangeAspect="1"/>
          </p:cNvPicPr>
          <p:nvPr/>
        </p:nvPicPr>
        <p:blipFill>
          <a:blip r:embed="rId7"/>
          <a:stretch>
            <a:fillRect/>
          </a:stretch>
        </p:blipFill>
        <p:spPr>
          <a:xfrm>
            <a:off x="9907270" y="2540"/>
            <a:ext cx="2282190" cy="992505"/>
          </a:xfrm>
          <a:prstGeom prst="rect">
            <a:avLst/>
          </a:prstGeom>
        </p:spPr>
      </p:pic>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73086" y="995045"/>
            <a:ext cx="6539302" cy="4808162"/>
            <a:chOff x="997585" y="967105"/>
            <a:chExt cx="6539302" cy="4808162"/>
          </a:xfrm>
        </p:grpSpPr>
        <p:grpSp>
          <p:nvGrpSpPr>
            <p:cNvPr id="15372" name="组合 75"/>
            <p:cNvGrpSpPr/>
            <p:nvPr/>
          </p:nvGrpSpPr>
          <p:grpSpPr>
            <a:xfrm>
              <a:off x="3622479" y="3353025"/>
              <a:ext cx="3914408" cy="1194872"/>
              <a:chOff x="3508748" y="2504707"/>
              <a:chExt cx="3250977" cy="990798"/>
            </a:xfrm>
          </p:grpSpPr>
          <p:cxnSp>
            <p:nvCxnSpPr>
              <p:cNvPr id="49" name="直接连接符 48"/>
              <p:cNvCxnSpPr/>
              <p:nvPr>
                <p:custDataLst>
                  <p:tags r:id="rId17"/>
                </p:custDataLst>
              </p:nvPr>
            </p:nvCxnSpPr>
            <p:spPr>
              <a:xfrm flipH="1">
                <a:off x="3885645" y="2645609"/>
                <a:ext cx="693178" cy="650445"/>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0" name="任意多边形 49"/>
              <p:cNvSpPr/>
              <p:nvPr>
                <p:custDataLst>
                  <p:tags r:id="rId18"/>
                </p:custDataLst>
              </p:nvPr>
            </p:nvSpPr>
            <p:spPr>
              <a:xfrm>
                <a:off x="3525847" y="3026721"/>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75" name="文本框 50"/>
              <p:cNvSpPr txBox="1"/>
              <p:nvPr>
                <p:custDataLst>
                  <p:tags r:id="rId19"/>
                </p:custDataLst>
              </p:nvPr>
            </p:nvSpPr>
            <p:spPr>
              <a:xfrm>
                <a:off x="4564020" y="2908374"/>
                <a:ext cx="2195705" cy="587131"/>
              </a:xfrm>
              <a:prstGeom prst="rect">
                <a:avLst/>
              </a:prstGeom>
              <a:noFill/>
              <a:ln w="9525">
                <a:noFill/>
              </a:ln>
            </p:spPr>
            <p:txBody>
              <a:bodyPr wrap="square" anchor="ctr"/>
              <a:lstStyle/>
              <a:p>
                <a:pPr algn="ctr"/>
                <a:r>
                  <a:rPr lang="zh-CN" altLang="en-US" sz="2400" smtClean="0">
                    <a:solidFill>
                      <a:schemeClr val="accent1"/>
                    </a:solidFill>
                    <a:latin typeface="Arial" panose="020B0604020202020204" pitchFamily="34" charset="0"/>
                    <a:ea typeface="宋体" panose="02010600030101010101" pitchFamily="2" charset="-122"/>
                    <a:sym typeface="Arial" panose="020B0604020202020204" pitchFamily="34" charset="0"/>
                  </a:rPr>
                  <a:t>存在的问题与困难</a:t>
                </a:r>
                <a:endParaRPr lang="zh-CN" altLang="en-US" sz="2400" dirty="0">
                  <a:solidFill>
                    <a:schemeClr val="accent1"/>
                  </a:solidFill>
                  <a:latin typeface="Arial" panose="020B0604020202020204" pitchFamily="34" charset="0"/>
                  <a:ea typeface="宋体" panose="02010600030101010101" pitchFamily="2" charset="-122"/>
                  <a:sym typeface="Arial" panose="020B0604020202020204" pitchFamily="34" charset="0"/>
                </a:endParaRPr>
              </a:p>
            </p:txBody>
          </p:sp>
          <p:sp>
            <p:nvSpPr>
              <p:cNvPr id="15376" name="文本框 51"/>
              <p:cNvSpPr txBox="1"/>
              <p:nvPr>
                <p:custDataLst>
                  <p:tags r:id="rId20"/>
                </p:custDataLst>
              </p:nvPr>
            </p:nvSpPr>
            <p:spPr>
              <a:xfrm>
                <a:off x="3508748" y="2504707"/>
                <a:ext cx="536523" cy="522014"/>
              </a:xfrm>
              <a:prstGeom prst="rect">
                <a:avLst/>
              </a:prstGeom>
              <a:noFill/>
              <a:ln w="9525">
                <a:noFill/>
              </a:ln>
            </p:spPr>
            <p:txBody>
              <a:bodyPr wrap="square" lIns="0" tIns="0" rIns="0" bIns="0" anchor="b"/>
              <a:lstStyle/>
              <a:p>
                <a:pPr algn="ctr"/>
                <a:r>
                  <a:rPr lang="en-US" altLang="zh-CN" dirty="0">
                    <a:solidFill>
                      <a:srgbClr val="000000"/>
                    </a:solidFill>
                    <a:latin typeface="Arial" panose="020B0604020202020204" pitchFamily="34" charset="0"/>
                    <a:ea typeface="宋体" panose="02010600030101010101" pitchFamily="2" charset="-122"/>
                    <a:sym typeface="Arial" panose="020B0604020202020204" pitchFamily="34" charset="0"/>
                  </a:rPr>
                  <a:t>C</a:t>
                </a:r>
                <a:endParaRPr lang="zh-CN" altLang="en-US"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5377" name="组合 70"/>
            <p:cNvGrpSpPr/>
            <p:nvPr/>
          </p:nvGrpSpPr>
          <p:grpSpPr>
            <a:xfrm>
              <a:off x="3622480" y="4547896"/>
              <a:ext cx="3346182" cy="1200080"/>
              <a:chOff x="3508748" y="3359586"/>
              <a:chExt cx="2779056" cy="996667"/>
            </a:xfrm>
          </p:grpSpPr>
          <p:cxnSp>
            <p:nvCxnSpPr>
              <p:cNvPr id="54" name="直接连接符 53"/>
              <p:cNvCxnSpPr/>
              <p:nvPr>
                <p:custDataLst>
                  <p:tags r:id="rId13"/>
                </p:custDataLst>
              </p:nvPr>
            </p:nvCxnSpPr>
            <p:spPr>
              <a:xfrm flipH="1">
                <a:off x="3885645" y="3500488"/>
                <a:ext cx="693178" cy="650445"/>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5" name="任意多边形 54"/>
              <p:cNvSpPr/>
              <p:nvPr>
                <p:custDataLst>
                  <p:tags r:id="rId14"/>
                </p:custDataLst>
              </p:nvPr>
            </p:nvSpPr>
            <p:spPr>
              <a:xfrm>
                <a:off x="3525847" y="3881600"/>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80" name="文本框 55"/>
              <p:cNvSpPr txBox="1"/>
              <p:nvPr>
                <p:custDataLst>
                  <p:tags r:id="rId15"/>
                </p:custDataLst>
              </p:nvPr>
            </p:nvSpPr>
            <p:spPr>
              <a:xfrm>
                <a:off x="4577856" y="3769122"/>
                <a:ext cx="1709948" cy="587131"/>
              </a:xfrm>
              <a:prstGeom prst="rect">
                <a:avLst/>
              </a:prstGeom>
              <a:noFill/>
              <a:ln w="9525">
                <a:noFill/>
              </a:ln>
            </p:spPr>
            <p:txBody>
              <a:bodyPr wrap="square" anchor="ctr"/>
              <a:lstStyle/>
              <a:p>
                <a:pPr algn="ctr"/>
                <a:r>
                  <a:rPr lang="zh-CN" altLang="en-US" sz="2400">
                    <a:solidFill>
                      <a:schemeClr val="accent2"/>
                    </a:solidFill>
                    <a:latin typeface="Arial" panose="020B0604020202020204" pitchFamily="34" charset="0"/>
                    <a:ea typeface="宋体" panose="02010600030101010101" pitchFamily="2" charset="-122"/>
                    <a:sym typeface="Arial" panose="020B0604020202020204" pitchFamily="34" charset="0"/>
                  </a:rPr>
                  <a:t>后</a:t>
                </a:r>
                <a:r>
                  <a:rPr lang="zh-CN" altLang="en-US" sz="2400" smtClean="0">
                    <a:solidFill>
                      <a:schemeClr val="accent2"/>
                    </a:solidFill>
                    <a:latin typeface="Arial" panose="020B0604020202020204" pitchFamily="34" charset="0"/>
                    <a:ea typeface="宋体" panose="02010600030101010101" pitchFamily="2" charset="-122"/>
                    <a:sym typeface="Arial" panose="020B0604020202020204" pitchFamily="34" charset="0"/>
                  </a:rPr>
                  <a:t>续研究计划</a:t>
                </a:r>
                <a:endParaRPr lang="zh-CN" altLang="en-US" sz="2400" dirty="0">
                  <a:solidFill>
                    <a:schemeClr val="accent2"/>
                  </a:solidFill>
                  <a:latin typeface="Arial" panose="020B0604020202020204" pitchFamily="34" charset="0"/>
                  <a:ea typeface="宋体" panose="02010600030101010101" pitchFamily="2" charset="-122"/>
                  <a:sym typeface="Arial" panose="020B0604020202020204" pitchFamily="34" charset="0"/>
                </a:endParaRPr>
              </a:p>
            </p:txBody>
          </p:sp>
          <p:sp>
            <p:nvSpPr>
              <p:cNvPr id="15381" name="文本框 56"/>
              <p:cNvSpPr txBox="1"/>
              <p:nvPr>
                <p:custDataLst>
                  <p:tags r:id="rId16"/>
                </p:custDataLst>
              </p:nvPr>
            </p:nvSpPr>
            <p:spPr>
              <a:xfrm>
                <a:off x="3508748" y="3359586"/>
                <a:ext cx="536523" cy="522014"/>
              </a:xfrm>
              <a:prstGeom prst="rect">
                <a:avLst/>
              </a:prstGeom>
              <a:noFill/>
              <a:ln w="9525">
                <a:noFill/>
              </a:ln>
            </p:spPr>
            <p:txBody>
              <a:bodyPr wrap="square" lIns="0" tIns="0" rIns="0" bIns="0" anchor="b"/>
              <a:lstStyle/>
              <a:p>
                <a:pPr algn="ctr"/>
                <a:r>
                  <a:rPr lang="en-US" altLang="zh-CN" dirty="0">
                    <a:solidFill>
                      <a:srgbClr val="000000"/>
                    </a:solidFill>
                    <a:latin typeface="Arial" panose="020B0604020202020204" pitchFamily="34" charset="0"/>
                    <a:ea typeface="宋体" panose="02010600030101010101" pitchFamily="2" charset="-122"/>
                    <a:sym typeface="Arial" panose="020B0604020202020204" pitchFamily="34" charset="0"/>
                  </a:rPr>
                  <a:t>D</a:t>
                </a:r>
                <a:endParaRPr lang="zh-CN" altLang="en-US"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4" name="组合 13"/>
            <p:cNvGrpSpPr/>
            <p:nvPr/>
          </p:nvGrpSpPr>
          <p:grpSpPr>
            <a:xfrm>
              <a:off x="997585" y="967105"/>
              <a:ext cx="6057328" cy="4808162"/>
              <a:chOff x="3975" y="2335"/>
              <a:chExt cx="7921" cy="6288"/>
            </a:xfrm>
          </p:grpSpPr>
          <p:sp>
            <p:nvSpPr>
              <p:cNvPr id="15361" name="文本框 8"/>
              <p:cNvSpPr txBox="1"/>
              <p:nvPr>
                <p:custDataLst>
                  <p:tags r:id="rId2"/>
                </p:custDataLst>
              </p:nvPr>
            </p:nvSpPr>
            <p:spPr>
              <a:xfrm>
                <a:off x="3975" y="2573"/>
                <a:ext cx="2995" cy="6050"/>
              </a:xfrm>
              <a:prstGeom prst="rect">
                <a:avLst/>
              </a:prstGeom>
              <a:noFill/>
              <a:ln w="9525">
                <a:noFill/>
              </a:ln>
            </p:spPr>
            <p:txBody>
              <a:bodyPr wrap="square" anchor="ctr"/>
              <a:lstStyle/>
              <a:p>
                <a:pPr algn="ctr"/>
                <a:r>
                  <a:rPr lang="zh-CN" altLang="en-US" sz="3200" b="1" dirty="0">
                    <a:solidFill>
                      <a:schemeClr val="accent1"/>
                    </a:solidFill>
                    <a:latin typeface="Arial" panose="020B0604020202020204" pitchFamily="34" charset="0"/>
                    <a:ea typeface="微软雅黑" panose="020B0503020204020204" charset="-122"/>
                    <a:sym typeface="Arial" panose="020B0604020202020204" pitchFamily="34" charset="0"/>
                  </a:rPr>
                  <a:t>目录</a:t>
                </a:r>
              </a:p>
            </p:txBody>
          </p:sp>
          <p:grpSp>
            <p:nvGrpSpPr>
              <p:cNvPr id="15362" name="组合 67"/>
              <p:cNvGrpSpPr/>
              <p:nvPr/>
            </p:nvGrpSpPr>
            <p:grpSpPr>
              <a:xfrm>
                <a:off x="7408" y="2335"/>
                <a:ext cx="4488" cy="1679"/>
                <a:chOff x="3508748" y="794949"/>
                <a:chExt cx="2591688" cy="1066543"/>
              </a:xfrm>
            </p:grpSpPr>
            <p:cxnSp>
              <p:nvCxnSpPr>
                <p:cNvPr id="6" name="直接连接符 5"/>
                <p:cNvCxnSpPr/>
                <p:nvPr>
                  <p:custDataLst>
                    <p:tags r:id="rId9"/>
                  </p:custDataLst>
                </p:nvPr>
              </p:nvCxnSpPr>
              <p:spPr>
                <a:xfrm flipH="1">
                  <a:off x="3885646" y="1091653"/>
                  <a:ext cx="582315" cy="494642"/>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任意多边形 6"/>
                <p:cNvSpPr/>
                <p:nvPr>
                  <p:custDataLst>
                    <p:tags r:id="rId10"/>
                  </p:custDataLst>
                </p:nvPr>
              </p:nvSpPr>
              <p:spPr>
                <a:xfrm>
                  <a:off x="3525847" y="1316963"/>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65" name="文本框 7"/>
                <p:cNvSpPr txBox="1"/>
                <p:nvPr>
                  <p:custDataLst>
                    <p:tags r:id="rId11"/>
                  </p:custDataLst>
                </p:nvPr>
              </p:nvSpPr>
              <p:spPr>
                <a:xfrm>
                  <a:off x="4482329" y="1162884"/>
                  <a:ext cx="1618107" cy="698608"/>
                </a:xfrm>
                <a:prstGeom prst="rect">
                  <a:avLst/>
                </a:prstGeom>
                <a:noFill/>
                <a:ln w="9525">
                  <a:noFill/>
                </a:ln>
              </p:spPr>
              <p:txBody>
                <a:bodyPr wrap="square" anchor="ctr"/>
                <a:lstStyle/>
                <a:p>
                  <a:pPr algn="ctr"/>
                  <a:r>
                    <a:rPr lang="zh-CN" altLang="en-US" sz="2400" smtClean="0">
                      <a:solidFill>
                        <a:schemeClr val="accent1"/>
                      </a:solidFill>
                      <a:latin typeface="Arial" panose="020B0604020202020204" pitchFamily="34" charset="0"/>
                      <a:ea typeface="宋体" panose="02010600030101010101" pitchFamily="2" charset="-122"/>
                      <a:sym typeface="Arial" panose="020B0604020202020204" pitchFamily="34" charset="0"/>
                    </a:rPr>
                    <a:t>研究内容简述</a:t>
                  </a:r>
                  <a:endParaRPr lang="zh-CN" altLang="zh-CN" sz="2400" dirty="0">
                    <a:solidFill>
                      <a:schemeClr val="accent1"/>
                    </a:solidFill>
                    <a:latin typeface="Arial" panose="020B0604020202020204" pitchFamily="34" charset="0"/>
                    <a:ea typeface="宋体" panose="02010600030101010101" pitchFamily="2" charset="-122"/>
                    <a:sym typeface="Arial" panose="020B0604020202020204" pitchFamily="34" charset="0"/>
                  </a:endParaRPr>
                </a:p>
              </p:txBody>
            </p:sp>
            <p:sp>
              <p:nvSpPr>
                <p:cNvPr id="15366" name="文本框 13"/>
                <p:cNvSpPr txBox="1"/>
                <p:nvPr>
                  <p:custDataLst>
                    <p:tags r:id="rId12"/>
                  </p:custDataLst>
                </p:nvPr>
              </p:nvSpPr>
              <p:spPr>
                <a:xfrm>
                  <a:off x="3508748" y="794949"/>
                  <a:ext cx="536523" cy="522014"/>
                </a:xfrm>
                <a:prstGeom prst="rect">
                  <a:avLst/>
                </a:prstGeom>
                <a:noFill/>
                <a:ln w="9525">
                  <a:noFill/>
                </a:ln>
              </p:spPr>
              <p:txBody>
                <a:bodyPr wrap="square" lIns="0" tIns="0" rIns="0" bIns="0" anchor="b"/>
                <a:lstStyle/>
                <a:p>
                  <a:pPr algn="ctr"/>
                  <a:r>
                    <a:rPr lang="da-DK" altLang="zh-CN">
                      <a:solidFill>
                        <a:srgbClr val="000000"/>
                      </a:solidFill>
                      <a:latin typeface="Arial" panose="020B0604020202020204" pitchFamily="34" charset="0"/>
                      <a:ea typeface="宋体" panose="02010600030101010101" pitchFamily="2" charset="-122"/>
                      <a:sym typeface="Arial" panose="020B0604020202020204" pitchFamily="34" charset="0"/>
                    </a:rPr>
                    <a:t>A</a:t>
                  </a:r>
                  <a:endParaRPr lang="zh-CN" altLang="en-US">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grpSp>
            <p:nvGrpSpPr>
              <p:cNvPr id="15367" name="组合 68"/>
              <p:cNvGrpSpPr/>
              <p:nvPr/>
            </p:nvGrpSpPr>
            <p:grpSpPr>
              <a:xfrm>
                <a:off x="7407" y="3895"/>
                <a:ext cx="4451" cy="1552"/>
                <a:chOff x="3508748" y="1649828"/>
                <a:chExt cx="2827657" cy="986168"/>
              </a:xfrm>
            </p:grpSpPr>
            <p:cxnSp>
              <p:nvCxnSpPr>
                <p:cNvPr id="44" name="直接连接符 43"/>
                <p:cNvCxnSpPr/>
                <p:nvPr>
                  <p:custDataLst>
                    <p:tags r:id="rId5"/>
                  </p:custDataLst>
                </p:nvPr>
              </p:nvCxnSpPr>
              <p:spPr>
                <a:xfrm flipH="1">
                  <a:off x="3885645" y="1790730"/>
                  <a:ext cx="693178" cy="650445"/>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任意多边形 44"/>
                <p:cNvSpPr/>
                <p:nvPr>
                  <p:custDataLst>
                    <p:tags r:id="rId6"/>
                  </p:custDataLst>
                </p:nvPr>
              </p:nvSpPr>
              <p:spPr>
                <a:xfrm>
                  <a:off x="3525847" y="2171842"/>
                  <a:ext cx="505039" cy="228766"/>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normAutofit fontScale="95000"/>
                </a:bodyPr>
                <a:lstStyle/>
                <a:p>
                  <a:pPr algn="ctr" fontAlgn="base"/>
                  <a:endParaRPr lang="zh-CN" altLang="en-US" sz="1400" strike="noStrike" noProof="1">
                    <a:solidFill>
                      <a:schemeClr val="accent1">
                        <a:lumMod val="50000"/>
                      </a:schemeClr>
                    </a:solidFill>
                    <a:sym typeface="Arial" panose="020B0604020202020204" pitchFamily="34" charset="0"/>
                  </a:endParaRPr>
                </a:p>
              </p:txBody>
            </p:sp>
            <p:sp>
              <p:nvSpPr>
                <p:cNvPr id="15370" name="文本框 45"/>
                <p:cNvSpPr txBox="1"/>
                <p:nvPr>
                  <p:custDataLst>
                    <p:tags r:id="rId7"/>
                  </p:custDataLst>
                </p:nvPr>
              </p:nvSpPr>
              <p:spPr>
                <a:xfrm>
                  <a:off x="4578470" y="1927336"/>
                  <a:ext cx="1757935" cy="708660"/>
                </a:xfrm>
                <a:prstGeom prst="rect">
                  <a:avLst/>
                </a:prstGeom>
                <a:noFill/>
                <a:ln w="9525">
                  <a:noFill/>
                </a:ln>
              </p:spPr>
              <p:txBody>
                <a:bodyPr wrap="square" anchor="ctr"/>
                <a:lstStyle/>
                <a:p>
                  <a:pPr algn="ctr">
                    <a:lnSpc>
                      <a:spcPct val="80000"/>
                    </a:lnSpc>
                  </a:pPr>
                  <a:r>
                    <a:rPr lang="zh-CN" altLang="en-US" sz="2400" smtClean="0">
                      <a:solidFill>
                        <a:schemeClr val="accent2"/>
                      </a:solidFill>
                      <a:latin typeface="Arial" panose="020B0604020202020204" pitchFamily="34" charset="0"/>
                      <a:ea typeface="宋体" panose="02010600030101010101" pitchFamily="2" charset="-122"/>
                      <a:sym typeface="Arial" panose="020B0604020202020204" pitchFamily="34" charset="0"/>
                    </a:rPr>
                    <a:t>研究进展情况</a:t>
                  </a:r>
                  <a:endParaRPr lang="zh-CN" altLang="en-US" sz="2400" dirty="0">
                    <a:solidFill>
                      <a:schemeClr val="accent2"/>
                    </a:solidFill>
                    <a:latin typeface="Arial" panose="020B0604020202020204" pitchFamily="34" charset="0"/>
                    <a:ea typeface="宋体" panose="02010600030101010101" pitchFamily="2" charset="-122"/>
                    <a:sym typeface="Arial" panose="020B0604020202020204" pitchFamily="34" charset="0"/>
                  </a:endParaRPr>
                </a:p>
              </p:txBody>
            </p:sp>
            <p:sp>
              <p:nvSpPr>
                <p:cNvPr id="15371" name="文本框 46"/>
                <p:cNvSpPr txBox="1"/>
                <p:nvPr>
                  <p:custDataLst>
                    <p:tags r:id="rId8"/>
                  </p:custDataLst>
                </p:nvPr>
              </p:nvSpPr>
              <p:spPr>
                <a:xfrm>
                  <a:off x="3508748" y="1649828"/>
                  <a:ext cx="536523" cy="522014"/>
                </a:xfrm>
                <a:prstGeom prst="rect">
                  <a:avLst/>
                </a:prstGeom>
                <a:noFill/>
                <a:ln w="9525">
                  <a:noFill/>
                </a:ln>
              </p:spPr>
              <p:txBody>
                <a:bodyPr wrap="square" lIns="0" tIns="0" rIns="0" bIns="0" anchor="b"/>
                <a:lstStyle/>
                <a:p>
                  <a:pPr algn="ctr"/>
                  <a:r>
                    <a:rPr lang="en-US" altLang="zh-CN">
                      <a:solidFill>
                        <a:srgbClr val="000000"/>
                      </a:solidFill>
                      <a:latin typeface="Arial" panose="020B0604020202020204" pitchFamily="34" charset="0"/>
                      <a:ea typeface="宋体" panose="02010600030101010101" pitchFamily="2" charset="-122"/>
                      <a:sym typeface="Arial" panose="020B0604020202020204" pitchFamily="34" charset="0"/>
                    </a:rPr>
                    <a:t>B</a:t>
                  </a:r>
                  <a:endParaRPr lang="zh-CN" altLang="en-US">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cxnSp>
            <p:nvCxnSpPr>
              <p:cNvPr id="3" name="直接连接符 2"/>
              <p:cNvCxnSpPr/>
              <p:nvPr>
                <p:custDataLst>
                  <p:tags r:id="rId3"/>
                </p:custDataLst>
              </p:nvPr>
            </p:nvCxnSpPr>
            <p:spPr>
              <a:xfrm flipH="1">
                <a:off x="8001" y="5677"/>
                <a:ext cx="1091" cy="1026"/>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8001" y="7239"/>
                <a:ext cx="1091" cy="1024"/>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pic>
        <p:nvPicPr>
          <p:cNvPr id="15" name="图片 14" descr="timg"/>
          <p:cNvPicPr>
            <a:picLocks noChangeAspect="1"/>
          </p:cNvPicPr>
          <p:nvPr/>
        </p:nvPicPr>
        <p:blipFill>
          <a:blip r:embed="rId23"/>
          <a:stretch>
            <a:fillRect/>
          </a:stretch>
        </p:blipFill>
        <p:spPr>
          <a:xfrm>
            <a:off x="9907270" y="2540"/>
            <a:ext cx="2282190" cy="992505"/>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567843" y="101498"/>
            <a:ext cx="2857500" cy="417830"/>
          </a:xfrm>
        </p:spPr>
        <p:txBody>
          <a:bodyPr lIns="0" tIns="0" rIns="0" bIns="0" anchor="ctr" anchorCtr="1">
            <a:noAutofit/>
          </a:bodyPr>
          <a:lstStyle/>
          <a:p>
            <a:r>
              <a:rPr lang="zh-CN" altLang="en-US" sz="2800" smtClean="0">
                <a:solidFill>
                  <a:srgbClr val="C00000"/>
                </a:solidFill>
              </a:rPr>
              <a:t>研</a:t>
            </a:r>
            <a:r>
              <a:rPr lang="zh-CN" altLang="en-US" sz="2800">
                <a:solidFill>
                  <a:srgbClr val="C00000"/>
                </a:solidFill>
              </a:rPr>
              <a:t>究内容简</a:t>
            </a:r>
            <a:r>
              <a:rPr lang="zh-CN" altLang="en-US" sz="2800" smtClean="0">
                <a:solidFill>
                  <a:srgbClr val="C00000"/>
                </a:solidFill>
              </a:rPr>
              <a:t>述</a:t>
            </a:r>
            <a:endParaRPr lang="zh-CN" altLang="en-US" sz="2800" dirty="0">
              <a:solidFill>
                <a:srgbClr val="C00000"/>
              </a:solidFill>
            </a:endParaRP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15"/>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6"/>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7"/>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20"/>
          <a:stretch>
            <a:fillRect/>
          </a:stretch>
        </p:blipFill>
        <p:spPr>
          <a:xfrm>
            <a:off x="9907270" y="2540"/>
            <a:ext cx="2282190" cy="992505"/>
          </a:xfrm>
          <a:prstGeom prst="rect">
            <a:avLst/>
          </a:prstGeom>
        </p:spPr>
      </p:pic>
      <p:grpSp>
        <p:nvGrpSpPr>
          <p:cNvPr id="2" name="组合 1"/>
          <p:cNvGrpSpPr/>
          <p:nvPr/>
        </p:nvGrpSpPr>
        <p:grpSpPr>
          <a:xfrm>
            <a:off x="532765" y="1011263"/>
            <a:ext cx="9226378" cy="1002530"/>
            <a:chOff x="291909" y="2168479"/>
            <a:chExt cx="11090022" cy="2228041"/>
          </a:xfrm>
        </p:grpSpPr>
        <p:grpSp>
          <p:nvGrpSpPr>
            <p:cNvPr id="25" name="组合 24"/>
            <p:cNvGrpSpPr/>
            <p:nvPr>
              <p:custDataLst>
                <p:tags r:id="rId3"/>
              </p:custDataLst>
            </p:nvPr>
          </p:nvGrpSpPr>
          <p:grpSpPr>
            <a:xfrm>
              <a:off x="291909" y="2168479"/>
              <a:ext cx="3456620" cy="2228041"/>
              <a:chOff x="544629" y="2854914"/>
              <a:chExt cx="3456620" cy="2228041"/>
            </a:xfrm>
          </p:grpSpPr>
          <p:sp>
            <p:nvSpPr>
              <p:cNvPr id="26" name="矩形 25"/>
              <p:cNvSpPr/>
              <p:nvPr>
                <p:custDataLst>
                  <p:tags r:id="rId12"/>
                </p:custDataLst>
              </p:nvPr>
            </p:nvSpPr>
            <p:spPr>
              <a:xfrm>
                <a:off x="1917188" y="3052845"/>
                <a:ext cx="2084061" cy="835243"/>
              </a:xfrm>
              <a:prstGeom prst="rect">
                <a:avLst/>
              </a:prstGeom>
              <a:solidFill>
                <a:srgbClr val="018BE9"/>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并行标记语言</a:t>
                </a:r>
              </a:p>
            </p:txBody>
          </p:sp>
          <p:sp>
            <p:nvSpPr>
              <p:cNvPr id="27" name="文本框 26"/>
              <p:cNvSpPr txBox="1"/>
              <p:nvPr>
                <p:custDataLst>
                  <p:tags r:id="rId13"/>
                </p:custDataLst>
              </p:nvPr>
            </p:nvSpPr>
            <p:spPr>
              <a:xfrm>
                <a:off x="544629"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018BE9"/>
                    </a:solidFill>
                  </a:rPr>
                  <a:t>01</a:t>
                </a:r>
                <a:endParaRPr lang="zh-CN" altLang="en-US" sz="8000" b="1" dirty="0">
                  <a:solidFill>
                    <a:srgbClr val="018BE9"/>
                  </a:solidFill>
                </a:endParaRPr>
              </a:p>
            </p:txBody>
          </p:sp>
          <p:sp>
            <p:nvSpPr>
              <p:cNvPr id="28" name="矩形 27"/>
              <p:cNvSpPr/>
              <p:nvPr>
                <p:custDataLst>
                  <p:tags r:id="rId14"/>
                </p:custDataLst>
              </p:nvPr>
            </p:nvSpPr>
            <p:spPr>
              <a:xfrm>
                <a:off x="544629" y="4104226"/>
                <a:ext cx="3456620" cy="978729"/>
              </a:xfrm>
              <a:prstGeom prst="rect">
                <a:avLst/>
              </a:prstGeom>
            </p:spPr>
            <p:txBody>
              <a:bodyPr wrap="square">
                <a:noAutofit/>
              </a:bodyPr>
              <a:lstStyle/>
              <a:p>
                <a:pPr>
                  <a:lnSpc>
                    <a:spcPct val="120000"/>
                  </a:lnSpc>
                </a:pPr>
                <a:r>
                  <a:rPr lang="en-US" altLang="zh-CN" sz="1400" dirty="0"/>
                  <a:t>实现标记语言标签的定义及串行源代码到并行源代码的转换</a:t>
                </a:r>
              </a:p>
            </p:txBody>
          </p:sp>
        </p:grpSp>
        <p:grpSp>
          <p:nvGrpSpPr>
            <p:cNvPr id="29" name="组合 28"/>
            <p:cNvGrpSpPr/>
            <p:nvPr>
              <p:custDataLst>
                <p:tags r:id="rId4"/>
              </p:custDataLst>
            </p:nvPr>
          </p:nvGrpSpPr>
          <p:grpSpPr>
            <a:xfrm>
              <a:off x="4108610" y="2168479"/>
              <a:ext cx="3456620" cy="2228041"/>
              <a:chOff x="4977291" y="2854914"/>
              <a:chExt cx="3456620" cy="2228041"/>
            </a:xfrm>
          </p:grpSpPr>
          <p:sp>
            <p:nvSpPr>
              <p:cNvPr id="30" name="矩形 29"/>
              <p:cNvSpPr/>
              <p:nvPr>
                <p:custDataLst>
                  <p:tags r:id="rId9"/>
                </p:custDataLst>
              </p:nvPr>
            </p:nvSpPr>
            <p:spPr>
              <a:xfrm>
                <a:off x="6349850" y="3052845"/>
                <a:ext cx="2084061"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fontScale="92500"/>
              </a:bodyPr>
              <a:lstStyle/>
              <a:p>
                <a:pPr algn="ctr"/>
                <a:r>
                  <a:rPr lang="zh-CN" altLang="en-US" dirty="0">
                    <a:latin typeface="Arial" panose="020B0604020202020204" pitchFamily="34" charset="0"/>
                    <a:ea typeface="黑体" panose="02010609060101010101" charset="-122"/>
                    <a:cs typeface="+mn-ea"/>
                  </a:rPr>
                  <a:t>标记语言编辑器</a:t>
                </a:r>
              </a:p>
            </p:txBody>
          </p:sp>
          <p:sp>
            <p:nvSpPr>
              <p:cNvPr id="31" name="文本框 30"/>
              <p:cNvSpPr txBox="1"/>
              <p:nvPr>
                <p:custDataLst>
                  <p:tags r:id="rId10"/>
                </p:custDataLst>
              </p:nvPr>
            </p:nvSpPr>
            <p:spPr>
              <a:xfrm>
                <a:off x="4977291"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FFC000"/>
                    </a:solidFill>
                  </a:rPr>
                  <a:t>02</a:t>
                </a:r>
                <a:endParaRPr lang="zh-CN" altLang="en-US" sz="8000" b="1" dirty="0">
                  <a:solidFill>
                    <a:srgbClr val="FFC000"/>
                  </a:solidFill>
                </a:endParaRPr>
              </a:p>
            </p:txBody>
          </p:sp>
          <p:sp>
            <p:nvSpPr>
              <p:cNvPr id="32" name="矩形 31"/>
              <p:cNvSpPr/>
              <p:nvPr>
                <p:custDataLst>
                  <p:tags r:id="rId11"/>
                </p:custDataLst>
              </p:nvPr>
            </p:nvSpPr>
            <p:spPr>
              <a:xfrm>
                <a:off x="4977291" y="4104226"/>
                <a:ext cx="3456620" cy="978729"/>
              </a:xfrm>
              <a:prstGeom prst="rect">
                <a:avLst/>
              </a:prstGeom>
            </p:spPr>
            <p:txBody>
              <a:bodyPr wrap="square">
                <a:noAutofit/>
              </a:bodyPr>
              <a:lstStyle/>
              <a:p>
                <a:pPr>
                  <a:lnSpc>
                    <a:spcPct val="120000"/>
                  </a:lnSpc>
                </a:pPr>
                <a:r>
                  <a:rPr lang="en-US" altLang="zh-CN" sz="1400" dirty="0"/>
                  <a:t>Web</a:t>
                </a:r>
                <a:r>
                  <a:rPr lang="zh-CN" altLang="en-US" sz="1400" dirty="0"/>
                  <a:t>端编辑器，具备代码着色、高亮等基础功能</a:t>
                </a:r>
              </a:p>
            </p:txBody>
          </p:sp>
        </p:grpSp>
        <p:grpSp>
          <p:nvGrpSpPr>
            <p:cNvPr id="33" name="组合 32"/>
            <p:cNvGrpSpPr/>
            <p:nvPr>
              <p:custDataLst>
                <p:tags r:id="rId5"/>
              </p:custDataLst>
            </p:nvPr>
          </p:nvGrpSpPr>
          <p:grpSpPr>
            <a:xfrm>
              <a:off x="7925311" y="2168479"/>
              <a:ext cx="3456620" cy="2228041"/>
              <a:chOff x="8735380" y="2854914"/>
              <a:chExt cx="3456620" cy="2228041"/>
            </a:xfrm>
          </p:grpSpPr>
          <p:sp>
            <p:nvSpPr>
              <p:cNvPr id="34" name="矩形 33"/>
              <p:cNvSpPr/>
              <p:nvPr>
                <p:custDataLst>
                  <p:tags r:id="rId6"/>
                </p:custDataLst>
              </p:nvPr>
            </p:nvSpPr>
            <p:spPr>
              <a:xfrm>
                <a:off x="10107939" y="3052845"/>
                <a:ext cx="2084061" cy="835243"/>
              </a:xfrm>
              <a:prstGeom prst="rect">
                <a:avLst/>
              </a:prstGeom>
              <a:solidFill>
                <a:srgbClr val="00B0F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fontScale="85000" lnSpcReduction="10000"/>
              </a:bodyPr>
              <a:lstStyle/>
              <a:p>
                <a:pPr algn="ctr"/>
                <a:r>
                  <a:rPr lang="zh-CN" altLang="en-US" dirty="0">
                    <a:latin typeface="Arial" panose="020B0604020202020204" pitchFamily="34" charset="0"/>
                    <a:ea typeface="黑体" panose="02010609060101010101" charset="-122"/>
                    <a:cs typeface="+mn-ea"/>
                  </a:rPr>
                  <a:t>可并行代码段预测</a:t>
                </a:r>
              </a:p>
            </p:txBody>
          </p:sp>
          <p:sp>
            <p:nvSpPr>
              <p:cNvPr id="42" name="文本框 41"/>
              <p:cNvSpPr txBox="1"/>
              <p:nvPr>
                <p:custDataLst>
                  <p:tags r:id="rId7"/>
                </p:custDataLst>
              </p:nvPr>
            </p:nvSpPr>
            <p:spPr>
              <a:xfrm>
                <a:off x="8735380"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00B0F0"/>
                    </a:solidFill>
                  </a:rPr>
                  <a:t>03</a:t>
                </a:r>
                <a:endParaRPr lang="zh-CN" altLang="en-US" sz="8000" b="1" dirty="0">
                  <a:solidFill>
                    <a:srgbClr val="00B0F0"/>
                  </a:solidFill>
                </a:endParaRPr>
              </a:p>
            </p:txBody>
          </p:sp>
          <p:sp>
            <p:nvSpPr>
              <p:cNvPr id="43" name="矩形 42"/>
              <p:cNvSpPr/>
              <p:nvPr>
                <p:custDataLst>
                  <p:tags r:id="rId8"/>
                </p:custDataLst>
              </p:nvPr>
            </p:nvSpPr>
            <p:spPr>
              <a:xfrm>
                <a:off x="8735380" y="4104226"/>
                <a:ext cx="3456620" cy="978729"/>
              </a:xfrm>
              <a:prstGeom prst="rect">
                <a:avLst/>
              </a:prstGeom>
            </p:spPr>
            <p:txBody>
              <a:bodyPr wrap="square">
                <a:noAutofit/>
              </a:bodyPr>
              <a:lstStyle/>
              <a:p>
                <a:pPr>
                  <a:lnSpc>
                    <a:spcPct val="120000"/>
                  </a:lnSpc>
                </a:pPr>
                <a:r>
                  <a:rPr lang="zh-CN" altLang="en-US" sz="1400" dirty="0"/>
                  <a:t>串行代码可并行代码段预测与提示，对人工添加并行标记作指导</a:t>
                </a:r>
                <a:endParaRPr lang="en-US" altLang="zh-CN" sz="1400" dirty="0"/>
              </a:p>
            </p:txBody>
          </p:sp>
        </p:grpSp>
      </p:grpSp>
      <p:grpSp>
        <p:nvGrpSpPr>
          <p:cNvPr id="16" name="组合 15"/>
          <p:cNvGrpSpPr/>
          <p:nvPr/>
        </p:nvGrpSpPr>
        <p:grpSpPr>
          <a:xfrm>
            <a:off x="596994" y="3056238"/>
            <a:ext cx="11109993" cy="3447098"/>
            <a:chOff x="596994" y="3056238"/>
            <a:chExt cx="11109993" cy="3447098"/>
          </a:xfrm>
        </p:grpSpPr>
        <p:sp>
          <p:nvSpPr>
            <p:cNvPr id="3" name="文本框 2"/>
            <p:cNvSpPr txBox="1"/>
            <p:nvPr/>
          </p:nvSpPr>
          <p:spPr>
            <a:xfrm>
              <a:off x="596994" y="3056238"/>
              <a:ext cx="1837037" cy="344709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400" smtClean="0"/>
                <a:t>串行代码</a:t>
              </a:r>
              <a:endParaRPr lang="en-US" altLang="zh-CN" sz="1400"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en-US" altLang="zh-CN" sz="1400" smtClean="0"/>
                <a:t>	</a:t>
              </a:r>
            </a:p>
            <a:p>
              <a:r>
                <a:rPr lang="en-US" altLang="zh-CN" sz="1400" smtClean="0"/>
                <a:t>	</a:t>
              </a:r>
            </a:p>
            <a:p>
              <a:r>
                <a:rPr lang="en-US" altLang="zh-CN" sz="1400" smtClean="0"/>
                <a:t>	</a:t>
              </a:r>
            </a:p>
            <a:p>
              <a:endParaRPr lang="en-US" altLang="zh-CN" smtClean="0"/>
            </a:p>
            <a:p>
              <a:endParaRPr lang="zh-CN" altLang="en-US"/>
            </a:p>
          </p:txBody>
        </p:sp>
        <p:sp>
          <p:nvSpPr>
            <p:cNvPr id="24" name="文本框 23"/>
            <p:cNvSpPr txBox="1"/>
            <p:nvPr/>
          </p:nvSpPr>
          <p:spPr>
            <a:xfrm>
              <a:off x="3670761" y="3056238"/>
              <a:ext cx="1837037"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400"/>
                <a:t>预</a:t>
              </a:r>
              <a:r>
                <a:rPr lang="zh-CN" altLang="en-US" sz="1400" smtClean="0"/>
                <a:t>测并行段</a:t>
              </a:r>
              <a:endParaRPr lang="en-US" altLang="zh-CN" sz="1400"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35" name="文本框 34"/>
            <p:cNvSpPr txBox="1"/>
            <p:nvPr/>
          </p:nvSpPr>
          <p:spPr>
            <a:xfrm>
              <a:off x="6846077" y="3056238"/>
              <a:ext cx="1837037"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400"/>
                <a:t>插</a:t>
              </a:r>
              <a:r>
                <a:rPr lang="zh-CN" altLang="en-US" sz="1400" smtClean="0"/>
                <a:t>入标签</a:t>
              </a:r>
              <a:endParaRPr lang="en-US" altLang="zh-CN" sz="1400" smtClean="0"/>
            </a:p>
            <a:p>
              <a:endParaRPr lang="en-US" altLang="zh-CN"/>
            </a:p>
            <a:p>
              <a:endParaRPr lang="en-US" altLang="zh-CN" smtClean="0"/>
            </a:p>
            <a:p>
              <a:endParaRPr lang="en-US" altLang="zh-CN"/>
            </a:p>
            <a:p>
              <a:r>
                <a:rPr lang="en-US" altLang="zh-CN" sz="1200" smtClean="0"/>
                <a:t>      &lt;&gt;</a:t>
              </a:r>
            </a:p>
            <a:p>
              <a:r>
                <a:rPr lang="en-US" altLang="zh-CN" sz="1200" smtClean="0"/>
                <a:t>           &lt;&gt;&lt;/&gt;</a:t>
              </a:r>
            </a:p>
            <a:p>
              <a:r>
                <a:rPr lang="en-US" altLang="zh-CN" sz="1200" smtClean="0"/>
                <a:t>      &lt;/&gt;</a:t>
              </a:r>
            </a:p>
            <a:p>
              <a:endParaRPr lang="en-US" altLang="zh-CN"/>
            </a:p>
            <a:p>
              <a:r>
                <a:rPr lang="en-US" altLang="zh-CN" sz="1200"/>
                <a:t> </a:t>
              </a:r>
              <a:r>
                <a:rPr lang="en-US" altLang="zh-CN" sz="1200" smtClean="0"/>
                <a:t>      &lt;&gt;</a:t>
              </a:r>
              <a:endParaRPr lang="en-US" altLang="zh-CN" sz="1200"/>
            </a:p>
            <a:p>
              <a:r>
                <a:rPr lang="en-US" altLang="zh-CN" sz="1200"/>
                <a:t>           &lt;&gt;&lt;/&gt;</a:t>
              </a:r>
            </a:p>
            <a:p>
              <a:r>
                <a:rPr lang="en-US" altLang="zh-CN" sz="1200"/>
                <a:t>      &lt;/&gt;</a:t>
              </a:r>
              <a:endParaRPr lang="en-US" altLang="zh-CN" sz="1200" smtClean="0"/>
            </a:p>
            <a:p>
              <a:endParaRPr lang="en-US" altLang="zh-CN"/>
            </a:p>
            <a:p>
              <a:endParaRPr lang="en-US" altLang="zh-CN" smtClean="0"/>
            </a:p>
            <a:p>
              <a:endParaRPr lang="zh-CN" altLang="en-US"/>
            </a:p>
          </p:txBody>
        </p:sp>
        <p:sp>
          <p:nvSpPr>
            <p:cNvPr id="36" name="文本框 35"/>
            <p:cNvSpPr txBox="1"/>
            <p:nvPr/>
          </p:nvSpPr>
          <p:spPr>
            <a:xfrm>
              <a:off x="9869950" y="3056238"/>
              <a:ext cx="1837037"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400"/>
                <a:t>并</a:t>
              </a:r>
              <a:r>
                <a:rPr lang="zh-CN" altLang="en-US" sz="1400" smtClean="0"/>
                <a:t>行代码</a:t>
              </a:r>
              <a:endParaRPr lang="en-US" altLang="zh-CN" sz="1400"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grpSp>
          <p:nvGrpSpPr>
            <p:cNvPr id="10" name="组合 9"/>
            <p:cNvGrpSpPr/>
            <p:nvPr/>
          </p:nvGrpSpPr>
          <p:grpSpPr>
            <a:xfrm>
              <a:off x="858419" y="4030824"/>
              <a:ext cx="1379699" cy="1996752"/>
              <a:chOff x="895739" y="4030824"/>
              <a:chExt cx="1379699" cy="1996752"/>
            </a:xfrm>
          </p:grpSpPr>
          <p:cxnSp>
            <p:nvCxnSpPr>
              <p:cNvPr id="9" name="直接连接符 8"/>
              <p:cNvCxnSpPr/>
              <p:nvPr/>
            </p:nvCxnSpPr>
            <p:spPr>
              <a:xfrm>
                <a:off x="895739" y="40308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048139" y="41832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200539" y="43356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55673" y="454400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095821" y="476439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1048138" y="5066522"/>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015382" y="6027576"/>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a:off x="3899429" y="4030824"/>
              <a:ext cx="1379699" cy="1996752"/>
              <a:chOff x="895739" y="4030824"/>
              <a:chExt cx="1379699" cy="1996752"/>
            </a:xfrm>
          </p:grpSpPr>
          <p:cxnSp>
            <p:nvCxnSpPr>
              <p:cNvPr id="46" name="直接连接符 45"/>
              <p:cNvCxnSpPr/>
              <p:nvPr/>
            </p:nvCxnSpPr>
            <p:spPr>
              <a:xfrm>
                <a:off x="895739" y="40308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048139" y="41832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200539" y="43356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955673" y="454400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095821" y="476439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1048138" y="5066522"/>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1015382" y="6027576"/>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a:xfrm>
              <a:off x="3899429" y="4114800"/>
              <a:ext cx="1484337" cy="298580"/>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3" name="矩形 52"/>
            <p:cNvSpPr/>
            <p:nvPr/>
          </p:nvSpPr>
          <p:spPr>
            <a:xfrm>
              <a:off x="3874711" y="5004430"/>
              <a:ext cx="1484337" cy="298580"/>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59" name="直接连接符 58"/>
            <p:cNvCxnSpPr/>
            <p:nvPr/>
          </p:nvCxnSpPr>
          <p:spPr>
            <a:xfrm>
              <a:off x="7168947" y="3877990"/>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7194388" y="4105469"/>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7209051" y="483325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361451" y="498565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227145" y="6027576"/>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246371" y="5795867"/>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10098618" y="3841102"/>
              <a:ext cx="1379699" cy="1996752"/>
              <a:chOff x="895739" y="4030824"/>
              <a:chExt cx="1379699" cy="1996752"/>
            </a:xfrm>
          </p:grpSpPr>
          <p:cxnSp>
            <p:nvCxnSpPr>
              <p:cNvPr id="67" name="直接连接符 66"/>
              <p:cNvCxnSpPr/>
              <p:nvPr/>
            </p:nvCxnSpPr>
            <p:spPr>
              <a:xfrm>
                <a:off x="895739" y="40308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1048139" y="41832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1200539" y="433562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955673" y="454400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1095821" y="4764398"/>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048138" y="5066522"/>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1015382" y="6027576"/>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3" name="直接箭头连接符 12"/>
            <p:cNvCxnSpPr/>
            <p:nvPr/>
          </p:nvCxnSpPr>
          <p:spPr>
            <a:xfrm>
              <a:off x="2583322" y="4764398"/>
              <a:ext cx="99131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5716906" y="4791955"/>
              <a:ext cx="99131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8767831" y="4842154"/>
              <a:ext cx="99131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989258" y="5494954"/>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043975" y="5652992"/>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10251017" y="5371129"/>
              <a:ext cx="107489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3835712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2" name="文本框 1"/>
          <p:cNvSpPr txBox="1"/>
          <p:nvPr/>
        </p:nvSpPr>
        <p:spPr>
          <a:xfrm>
            <a:off x="248920" y="993944"/>
            <a:ext cx="1325880" cy="368300"/>
          </a:xfrm>
          <a:prstGeom prst="rect">
            <a:avLst/>
          </a:prstGeom>
          <a:noFill/>
        </p:spPr>
        <p:txBody>
          <a:bodyPr wrap="none" rtlCol="0" anchor="t">
            <a:spAutoFit/>
          </a:bodyPr>
          <a:lstStyle/>
          <a:p>
            <a:r>
              <a:rPr lang="zh-CN" altLang="en-US" b="1">
                <a:sym typeface="+mn-ea"/>
              </a:rPr>
              <a:t>研究计划：</a:t>
            </a:r>
            <a:endParaRPr lang="zh-CN" altLang="en-US"/>
          </a:p>
        </p:txBody>
      </p:sp>
      <p:cxnSp>
        <p:nvCxnSpPr>
          <p:cNvPr id="17" name="直接箭头连接符 16"/>
          <p:cNvCxnSpPr/>
          <p:nvPr/>
        </p:nvCxnSpPr>
        <p:spPr>
          <a:xfrm>
            <a:off x="641985" y="3584037"/>
            <a:ext cx="10502900" cy="0"/>
          </a:xfrm>
          <a:prstGeom prst="straightConnector1">
            <a:avLst/>
          </a:prstGeom>
          <a:ln w="38100">
            <a:solidFill>
              <a:srgbClr val="009ED6"/>
            </a:solidFill>
            <a:tailEnd type="arrow"/>
          </a:ln>
        </p:spPr>
        <p:style>
          <a:lnRef idx="1">
            <a:schemeClr val="accent1"/>
          </a:lnRef>
          <a:fillRef idx="0">
            <a:schemeClr val="accent1"/>
          </a:fillRef>
          <a:effectRef idx="0">
            <a:schemeClr val="accent1"/>
          </a:effectRef>
          <a:fontRef idx="minor">
            <a:schemeClr val="tx1"/>
          </a:fontRef>
        </p:style>
      </p:cxnSp>
      <p:sp>
        <p:nvSpPr>
          <p:cNvPr id="184" name=" 184"/>
          <p:cNvSpPr/>
          <p:nvPr/>
        </p:nvSpPr>
        <p:spPr>
          <a:xfrm>
            <a:off x="1492250" y="3507837"/>
            <a:ext cx="165100" cy="1524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8" name=" 184"/>
          <p:cNvSpPr/>
          <p:nvPr/>
        </p:nvSpPr>
        <p:spPr>
          <a:xfrm>
            <a:off x="4096385" y="3507837"/>
            <a:ext cx="165100" cy="1524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9" name=" 184"/>
          <p:cNvSpPr/>
          <p:nvPr/>
        </p:nvSpPr>
        <p:spPr>
          <a:xfrm>
            <a:off x="6750050" y="3507837"/>
            <a:ext cx="165100" cy="1524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0000"/>
              </a:solidFill>
            </a:endParaRPr>
          </a:p>
        </p:txBody>
      </p:sp>
      <p:sp>
        <p:nvSpPr>
          <p:cNvPr id="20" name=" 184"/>
          <p:cNvSpPr/>
          <p:nvPr/>
        </p:nvSpPr>
        <p:spPr>
          <a:xfrm>
            <a:off x="9417050" y="3507837"/>
            <a:ext cx="165100" cy="1524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2" name="文本框 21"/>
          <p:cNvSpPr txBox="1"/>
          <p:nvPr/>
        </p:nvSpPr>
        <p:spPr>
          <a:xfrm>
            <a:off x="1070610" y="3139537"/>
            <a:ext cx="1008380" cy="368300"/>
          </a:xfrm>
          <a:prstGeom prst="rect">
            <a:avLst/>
          </a:prstGeom>
          <a:noFill/>
        </p:spPr>
        <p:txBody>
          <a:bodyPr wrap="none" rtlCol="0">
            <a:spAutoFit/>
          </a:bodyPr>
          <a:lstStyle/>
          <a:p>
            <a:r>
              <a:rPr lang="en-US" altLang="zh-CN"/>
              <a:t>2018.10</a:t>
            </a:r>
          </a:p>
        </p:txBody>
      </p:sp>
      <p:sp>
        <p:nvSpPr>
          <p:cNvPr id="23" name="文本框 22"/>
          <p:cNvSpPr txBox="1"/>
          <p:nvPr/>
        </p:nvSpPr>
        <p:spPr>
          <a:xfrm>
            <a:off x="3674745" y="3139537"/>
            <a:ext cx="1008380" cy="368300"/>
          </a:xfrm>
          <a:prstGeom prst="rect">
            <a:avLst/>
          </a:prstGeom>
          <a:noFill/>
        </p:spPr>
        <p:txBody>
          <a:bodyPr wrap="none" rtlCol="0">
            <a:spAutoFit/>
          </a:bodyPr>
          <a:lstStyle/>
          <a:p>
            <a:r>
              <a:rPr lang="en-US" altLang="zh-CN"/>
              <a:t>2019.05</a:t>
            </a:r>
          </a:p>
        </p:txBody>
      </p:sp>
      <p:sp>
        <p:nvSpPr>
          <p:cNvPr id="29" name="文本框 28"/>
          <p:cNvSpPr txBox="1"/>
          <p:nvPr/>
        </p:nvSpPr>
        <p:spPr>
          <a:xfrm>
            <a:off x="6328410" y="3139537"/>
            <a:ext cx="1008380" cy="368300"/>
          </a:xfrm>
          <a:prstGeom prst="rect">
            <a:avLst/>
          </a:prstGeom>
          <a:noFill/>
        </p:spPr>
        <p:txBody>
          <a:bodyPr wrap="none" rtlCol="0">
            <a:spAutoFit/>
          </a:bodyPr>
          <a:lstStyle/>
          <a:p>
            <a:r>
              <a:rPr lang="en-US" altLang="zh-CN"/>
              <a:t>2019.10</a:t>
            </a:r>
          </a:p>
        </p:txBody>
      </p:sp>
      <p:sp>
        <p:nvSpPr>
          <p:cNvPr id="30" name="文本框 29"/>
          <p:cNvSpPr txBox="1"/>
          <p:nvPr/>
        </p:nvSpPr>
        <p:spPr>
          <a:xfrm>
            <a:off x="8995410" y="3139537"/>
            <a:ext cx="1008380" cy="368300"/>
          </a:xfrm>
          <a:prstGeom prst="rect">
            <a:avLst/>
          </a:prstGeom>
          <a:noFill/>
        </p:spPr>
        <p:txBody>
          <a:bodyPr wrap="none" rtlCol="0">
            <a:spAutoFit/>
          </a:bodyPr>
          <a:lstStyle/>
          <a:p>
            <a:r>
              <a:rPr lang="en-US" altLang="zh-CN"/>
              <a:t>2019.12</a:t>
            </a:r>
          </a:p>
        </p:txBody>
      </p:sp>
      <p:sp>
        <p:nvSpPr>
          <p:cNvPr id="135" name=" 135"/>
          <p:cNvSpPr/>
          <p:nvPr/>
        </p:nvSpPr>
        <p:spPr>
          <a:xfrm rot="2160000">
            <a:off x="2588895" y="3718657"/>
            <a:ext cx="803275" cy="267335"/>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9" name=" 135"/>
          <p:cNvSpPr/>
          <p:nvPr/>
        </p:nvSpPr>
        <p:spPr>
          <a:xfrm rot="19025801">
            <a:off x="4999661" y="3026597"/>
            <a:ext cx="1052769" cy="229837"/>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0" name=" 135"/>
          <p:cNvSpPr/>
          <p:nvPr/>
        </p:nvSpPr>
        <p:spPr>
          <a:xfrm rot="2160000">
            <a:off x="7623810" y="3858992"/>
            <a:ext cx="1261745" cy="208915"/>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5" name="标题 4"/>
          <p:cNvSpPr>
            <a:spLocks noGrp="1"/>
          </p:cNvSpPr>
          <p:nvPr>
            <p:ph type="title"/>
            <p:custDataLst>
              <p:tags r:id="rId2"/>
            </p:custDataLst>
          </p:nvPr>
        </p:nvSpPr>
        <p:spPr>
          <a:xfrm>
            <a:off x="511856" y="101498"/>
            <a:ext cx="6010239" cy="417830"/>
          </a:xfrm>
        </p:spPr>
        <p:txBody>
          <a:bodyPr lIns="0" tIns="0" rIns="0" bIns="0" anchor="ctr" anchorCtr="1">
            <a:noAutofit/>
          </a:bodyPr>
          <a:lstStyle/>
          <a:p>
            <a:r>
              <a:rPr lang="zh-CN" altLang="en-US" sz="2800" smtClean="0">
                <a:solidFill>
                  <a:srgbClr val="C00000"/>
                </a:solidFill>
              </a:rPr>
              <a:t>研究</a:t>
            </a:r>
            <a:r>
              <a:rPr lang="zh-CN" altLang="en-US" sz="2800">
                <a:solidFill>
                  <a:srgbClr val="C00000"/>
                </a:solidFill>
              </a:rPr>
              <a:t>进</a:t>
            </a:r>
            <a:r>
              <a:rPr lang="zh-CN" altLang="en-US" sz="2800" smtClean="0">
                <a:solidFill>
                  <a:srgbClr val="C00000"/>
                </a:solidFill>
              </a:rPr>
              <a:t>展情况 </a:t>
            </a:r>
            <a:r>
              <a:rPr lang="en-US" altLang="zh-CN" sz="2800" smtClean="0">
                <a:solidFill>
                  <a:srgbClr val="C00000"/>
                </a:solidFill>
              </a:rPr>
              <a:t>—— </a:t>
            </a:r>
            <a:r>
              <a:rPr lang="zh-CN" altLang="en-US" sz="2800" smtClean="0">
                <a:solidFill>
                  <a:srgbClr val="C00000"/>
                </a:solidFill>
              </a:rPr>
              <a:t>整体进度</a:t>
            </a:r>
            <a:r>
              <a:rPr lang="en-US" altLang="zh-CN" sz="2800" smtClean="0">
                <a:solidFill>
                  <a:srgbClr val="C00000"/>
                </a:solidFill>
              </a:rPr>
              <a:t>52.5%</a:t>
            </a:r>
            <a:endParaRPr lang="zh-CN" altLang="en-US" sz="2800" dirty="0">
              <a:solidFill>
                <a:srgbClr val="C00000"/>
              </a:solidFill>
            </a:endParaRPr>
          </a:p>
        </p:txBody>
      </p:sp>
      <p:graphicFrame>
        <p:nvGraphicFramePr>
          <p:cNvPr id="10" name="表格 9"/>
          <p:cNvGraphicFramePr>
            <a:graphicFrameLocks noGrp="1"/>
          </p:cNvGraphicFramePr>
          <p:nvPr>
            <p:extLst>
              <p:ext uri="{D42A27DB-BD31-4B8C-83A1-F6EECF244321}">
                <p14:modId xmlns:p14="http://schemas.microsoft.com/office/powerpoint/2010/main" val="2183858753"/>
              </p:ext>
            </p:extLst>
          </p:nvPr>
        </p:nvGraphicFramePr>
        <p:xfrm>
          <a:off x="317500" y="4217229"/>
          <a:ext cx="3905483" cy="1483360"/>
        </p:xfrm>
        <a:graphic>
          <a:graphicData uri="http://schemas.openxmlformats.org/drawingml/2006/table">
            <a:tbl>
              <a:tblPr firstRow="1" bandRow="1">
                <a:tableStyleId>{2A488322-F2BA-4B5B-9748-0D474271808F}</a:tableStyleId>
              </a:tblPr>
              <a:tblGrid>
                <a:gridCol w="2257226"/>
                <a:gridCol w="1648257"/>
              </a:tblGrid>
              <a:tr h="370840">
                <a:tc>
                  <a:txBody>
                    <a:bodyPr/>
                    <a:lstStyle/>
                    <a:p>
                      <a:pPr algn="ctr"/>
                      <a:r>
                        <a:rPr lang="zh-CN" altLang="en-US" sz="1200" smtClean="0">
                          <a:solidFill>
                            <a:schemeClr val="tx1"/>
                          </a:solidFill>
                        </a:rPr>
                        <a:t>研究内容</a:t>
                      </a:r>
                      <a:endParaRPr lang="zh-CN" altLang="en-US" sz="1200">
                        <a:solidFill>
                          <a:schemeClr val="tx1"/>
                        </a:solidFill>
                      </a:endParaRPr>
                    </a:p>
                  </a:txBody>
                  <a:tcPr anchor="ctr"/>
                </a:tc>
                <a:tc>
                  <a:txBody>
                    <a:bodyPr/>
                    <a:lstStyle/>
                    <a:p>
                      <a:pPr algn="ctr"/>
                      <a:r>
                        <a:rPr lang="zh-CN" altLang="en-US" sz="1200" smtClean="0">
                          <a:solidFill>
                            <a:schemeClr val="tx1"/>
                          </a:solidFill>
                        </a:rPr>
                        <a:t>完成情况</a:t>
                      </a:r>
                      <a:endParaRPr lang="zh-CN" altLang="en-US" sz="1200">
                        <a:solidFill>
                          <a:schemeClr val="tx1"/>
                        </a:solidFill>
                      </a:endParaRPr>
                    </a:p>
                  </a:txBody>
                  <a:tcPr anchor="ctr"/>
                </a:tc>
              </a:tr>
              <a:tr h="370840">
                <a:tc>
                  <a:txBody>
                    <a:bodyPr/>
                    <a:lstStyle/>
                    <a:p>
                      <a:pPr algn="ctr"/>
                      <a:r>
                        <a:rPr lang="zh-CN" altLang="en-US" sz="1200" smtClean="0"/>
                        <a:t>并行标记语言设计与实现</a:t>
                      </a:r>
                      <a:endParaRPr lang="zh-CN" altLang="en-US" sz="1200"/>
                    </a:p>
                  </a:txBody>
                  <a:tcPr anchor="ctr"/>
                </a:tc>
                <a:tc>
                  <a:txBody>
                    <a:bodyPr/>
                    <a:lstStyle/>
                    <a:p>
                      <a:pPr algn="ctr"/>
                      <a:r>
                        <a:rPr lang="zh-CN" altLang="en-US" sz="1200" b="1" u="none" smtClean="0">
                          <a:solidFill>
                            <a:srgbClr val="19A382"/>
                          </a:solidFill>
                        </a:rPr>
                        <a:t>基本完成</a:t>
                      </a:r>
                      <a:endParaRPr lang="en-US" altLang="zh-CN" sz="1200" b="1" u="none" smtClean="0">
                        <a:solidFill>
                          <a:srgbClr val="19A382"/>
                        </a:solidFill>
                      </a:endParaRPr>
                    </a:p>
                  </a:txBody>
                  <a:tcPr anchor="ctr"/>
                </a:tc>
              </a:tr>
              <a:tr h="370840">
                <a:tc>
                  <a:txBody>
                    <a:bodyPr/>
                    <a:lstStyle/>
                    <a:p>
                      <a:pPr algn="ctr"/>
                      <a:r>
                        <a:rPr lang="zh-CN" altLang="en-US" sz="1200" smtClean="0"/>
                        <a:t>标记语言编辑器设计与实现</a:t>
                      </a:r>
                      <a:endParaRPr lang="zh-CN" altLang="en-US" sz="1200"/>
                    </a:p>
                  </a:txBody>
                  <a:tcPr anchor="ctr"/>
                </a:tc>
                <a:tc>
                  <a:txBody>
                    <a:bodyPr/>
                    <a:lstStyle/>
                    <a:p>
                      <a:pPr algn="ctr"/>
                      <a:r>
                        <a:rPr lang="zh-CN" altLang="en-US" sz="1200" b="1" u="none" smtClean="0">
                          <a:solidFill>
                            <a:srgbClr val="19A382"/>
                          </a:solidFill>
                        </a:rPr>
                        <a:t>基本完成</a:t>
                      </a:r>
                      <a:endParaRPr lang="en-US" altLang="zh-CN" sz="1200" b="1" u="none" smtClean="0">
                        <a:solidFill>
                          <a:srgbClr val="19A382"/>
                        </a:solidFill>
                      </a:endParaRPr>
                    </a:p>
                  </a:txBody>
                  <a:tcPr anchor="ctr"/>
                </a:tc>
              </a:tr>
              <a:tr h="370840">
                <a:tc>
                  <a:txBody>
                    <a:bodyPr/>
                    <a:lstStyle/>
                    <a:p>
                      <a:pPr algn="ctr"/>
                      <a:r>
                        <a:rPr lang="zh-CN" altLang="en-US" sz="1200" smtClean="0"/>
                        <a:t>并行性预测部分数据集准备</a:t>
                      </a:r>
                      <a:endParaRPr lang="zh-CN" altLang="en-US" sz="1200"/>
                    </a:p>
                  </a:txBody>
                  <a:tcPr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zh-CN" altLang="en-US" sz="1200" b="1" u="none" smtClean="0">
                          <a:solidFill>
                            <a:srgbClr val="19A382"/>
                          </a:solidFill>
                        </a:rPr>
                        <a:t>基本完成</a:t>
                      </a:r>
                      <a:endParaRPr lang="en-US" altLang="zh-CN" sz="1200" b="1" u="none" smtClean="0">
                        <a:solidFill>
                          <a:srgbClr val="19A382"/>
                        </a:solidFill>
                      </a:endParaRPr>
                    </a:p>
                  </a:txBody>
                  <a:tcPr anchor="ctr"/>
                </a:tc>
              </a:tr>
            </a:tbl>
          </a:graphicData>
        </a:graphic>
      </p:graphicFrame>
      <p:grpSp>
        <p:nvGrpSpPr>
          <p:cNvPr id="38" name="组合 7"/>
          <p:cNvGrpSpPr/>
          <p:nvPr/>
        </p:nvGrpSpPr>
        <p:grpSpPr>
          <a:xfrm>
            <a:off x="166370" y="208280"/>
            <a:ext cx="366395" cy="193040"/>
            <a:chOff x="1990725" y="838200"/>
            <a:chExt cx="295275" cy="142875"/>
          </a:xfrm>
        </p:grpSpPr>
        <p:cxnSp>
          <p:nvCxnSpPr>
            <p:cNvPr id="41" name="直接连接符 40"/>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aphicFrame>
        <p:nvGraphicFramePr>
          <p:cNvPr id="44" name="表格 43"/>
          <p:cNvGraphicFramePr>
            <a:graphicFrameLocks noGrp="1"/>
          </p:cNvGraphicFramePr>
          <p:nvPr>
            <p:extLst>
              <p:ext uri="{D42A27DB-BD31-4B8C-83A1-F6EECF244321}">
                <p14:modId xmlns:p14="http://schemas.microsoft.com/office/powerpoint/2010/main" val="246084347"/>
              </p:ext>
            </p:extLst>
          </p:nvPr>
        </p:nvGraphicFramePr>
        <p:xfrm>
          <a:off x="4694797" y="1246859"/>
          <a:ext cx="3905483" cy="1483360"/>
        </p:xfrm>
        <a:graphic>
          <a:graphicData uri="http://schemas.openxmlformats.org/drawingml/2006/table">
            <a:tbl>
              <a:tblPr firstRow="1" bandRow="1">
                <a:tableStyleId>{2A488322-F2BA-4B5B-9748-0D474271808F}</a:tableStyleId>
              </a:tblPr>
              <a:tblGrid>
                <a:gridCol w="2787800"/>
                <a:gridCol w="1117683"/>
              </a:tblGrid>
              <a:tr h="370840">
                <a:tc>
                  <a:txBody>
                    <a:bodyPr/>
                    <a:lstStyle/>
                    <a:p>
                      <a:pPr algn="ctr"/>
                      <a:r>
                        <a:rPr lang="zh-CN" altLang="en-US" sz="1200" smtClean="0">
                          <a:solidFill>
                            <a:schemeClr val="tx1"/>
                          </a:solidFill>
                        </a:rPr>
                        <a:t>研究内容</a:t>
                      </a:r>
                      <a:endParaRPr lang="zh-CN" altLang="en-US" sz="1200">
                        <a:solidFill>
                          <a:schemeClr val="tx1"/>
                        </a:solidFill>
                      </a:endParaRPr>
                    </a:p>
                  </a:txBody>
                  <a:tcPr anchor="ctr"/>
                </a:tc>
                <a:tc>
                  <a:txBody>
                    <a:bodyPr/>
                    <a:lstStyle/>
                    <a:p>
                      <a:pPr algn="ctr"/>
                      <a:r>
                        <a:rPr lang="zh-CN" altLang="en-US" sz="1200" smtClean="0">
                          <a:solidFill>
                            <a:schemeClr val="tx1"/>
                          </a:solidFill>
                        </a:rPr>
                        <a:t>完成情况</a:t>
                      </a:r>
                      <a:endParaRPr lang="zh-CN" altLang="en-US" sz="1200">
                        <a:solidFill>
                          <a:schemeClr val="tx1"/>
                        </a:solidFill>
                      </a:endParaRPr>
                    </a:p>
                  </a:txBody>
                  <a:tcPr anchor="ctr"/>
                </a:tc>
              </a:tr>
              <a:tr h="370840">
                <a:tc>
                  <a:txBody>
                    <a:bodyPr/>
                    <a:lstStyle/>
                    <a:p>
                      <a:pPr algn="ctr"/>
                      <a:r>
                        <a:rPr lang="zh-CN" altLang="en-US" sz="1200" smtClean="0"/>
                        <a:t>并行性预测数据预处理</a:t>
                      </a:r>
                      <a:endParaRPr lang="zh-CN" altLang="en-US" sz="1200"/>
                    </a:p>
                  </a:txBody>
                  <a:tcPr anchor="ctr"/>
                </a:tc>
                <a:tc>
                  <a:txBody>
                    <a:bodyPr/>
                    <a:lstStyle/>
                    <a:p>
                      <a:pPr algn="ctr"/>
                      <a:r>
                        <a:rPr lang="zh-CN" altLang="en-US" sz="1200" b="1" u="none" smtClean="0">
                          <a:solidFill>
                            <a:srgbClr val="19A382"/>
                          </a:solidFill>
                        </a:rPr>
                        <a:t>初步实现</a:t>
                      </a:r>
                      <a:endParaRPr lang="zh-CN" altLang="en-US" sz="1200" b="1" u="none">
                        <a:solidFill>
                          <a:srgbClr val="19A382"/>
                        </a:solidFill>
                      </a:endParaRPr>
                    </a:p>
                  </a:txBody>
                  <a:tcPr anchor="ctr"/>
                </a:tc>
              </a:tr>
              <a:tr h="370840">
                <a:tc>
                  <a:txBody>
                    <a:bodyPr/>
                    <a:lstStyle/>
                    <a:p>
                      <a:pPr algn="ctr"/>
                      <a:r>
                        <a:rPr lang="zh-CN" altLang="en-US" sz="1200" smtClean="0"/>
                        <a:t>机器学习相关论文涉猎及代码研读</a:t>
                      </a:r>
                      <a:endParaRPr lang="zh-CN" altLang="en-US" sz="1200"/>
                    </a:p>
                  </a:txBody>
                  <a:tcPr anchor="ctr"/>
                </a:tc>
                <a:tc>
                  <a:txBody>
                    <a:bodyPr/>
                    <a:lstStyle/>
                    <a:p>
                      <a:pPr algn="ctr"/>
                      <a:r>
                        <a:rPr lang="zh-CN" altLang="en-US" sz="1200" b="1" u="none" smtClean="0">
                          <a:solidFill>
                            <a:srgbClr val="19A382"/>
                          </a:solidFill>
                        </a:rPr>
                        <a:t>进行中</a:t>
                      </a:r>
                      <a:endParaRPr lang="zh-CN" altLang="en-US" sz="1200" b="1" u="none">
                        <a:solidFill>
                          <a:srgbClr val="19A382"/>
                        </a:solidFill>
                      </a:endParaRPr>
                    </a:p>
                  </a:txBody>
                  <a:tcPr anchor="ctr"/>
                </a:tc>
              </a:tr>
              <a:tr h="370840">
                <a:tc>
                  <a:txBody>
                    <a:bodyPr/>
                    <a:lstStyle/>
                    <a:p>
                      <a:pPr algn="ctr"/>
                      <a:r>
                        <a:rPr lang="zh-CN" altLang="en-US" sz="1200" smtClean="0"/>
                        <a:t>模型构建与训练</a:t>
                      </a:r>
                      <a:endParaRPr lang="zh-CN" altLang="en-US" sz="1200"/>
                    </a:p>
                  </a:txBody>
                  <a:tcPr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zh-CN" altLang="en-US" sz="1200" b="1" u="none" smtClean="0">
                          <a:solidFill>
                            <a:srgbClr val="19A382"/>
                          </a:solidFill>
                        </a:rPr>
                        <a:t>进行中</a:t>
                      </a:r>
                      <a:endParaRPr lang="zh-CN" altLang="en-US" sz="1200"/>
                    </a:p>
                  </a:txBody>
                  <a:tcPr anchor="ctr"/>
                </a:tc>
              </a:tr>
            </a:tbl>
          </a:graphicData>
        </a:graphic>
      </p:graphicFrame>
      <p:graphicFrame>
        <p:nvGraphicFramePr>
          <p:cNvPr id="45" name="表格 44"/>
          <p:cNvGraphicFramePr>
            <a:graphicFrameLocks noGrp="1"/>
          </p:cNvGraphicFramePr>
          <p:nvPr>
            <p:extLst>
              <p:ext uri="{D42A27DB-BD31-4B8C-83A1-F6EECF244321}">
                <p14:modId xmlns:p14="http://schemas.microsoft.com/office/powerpoint/2010/main" val="3642103179"/>
              </p:ext>
            </p:extLst>
          </p:nvPr>
        </p:nvGraphicFramePr>
        <p:xfrm>
          <a:off x="7873092" y="4418775"/>
          <a:ext cx="3905483" cy="1112520"/>
        </p:xfrm>
        <a:graphic>
          <a:graphicData uri="http://schemas.openxmlformats.org/drawingml/2006/table">
            <a:tbl>
              <a:tblPr firstRow="1" bandRow="1">
                <a:tableStyleId>{2A488322-F2BA-4B5B-9748-0D474271808F}</a:tableStyleId>
              </a:tblPr>
              <a:tblGrid>
                <a:gridCol w="2787800"/>
                <a:gridCol w="1117683"/>
              </a:tblGrid>
              <a:tr h="370840">
                <a:tc>
                  <a:txBody>
                    <a:bodyPr/>
                    <a:lstStyle/>
                    <a:p>
                      <a:pPr algn="ctr"/>
                      <a:r>
                        <a:rPr lang="zh-CN" altLang="en-US" sz="1200" smtClean="0">
                          <a:solidFill>
                            <a:schemeClr val="tx1"/>
                          </a:solidFill>
                        </a:rPr>
                        <a:t>研究内容</a:t>
                      </a:r>
                      <a:endParaRPr lang="zh-CN" altLang="en-US" sz="1200">
                        <a:solidFill>
                          <a:schemeClr val="tx1"/>
                        </a:solidFill>
                      </a:endParaRPr>
                    </a:p>
                  </a:txBody>
                  <a:tcPr anchor="ctr"/>
                </a:tc>
                <a:tc>
                  <a:txBody>
                    <a:bodyPr/>
                    <a:lstStyle/>
                    <a:p>
                      <a:pPr algn="ctr"/>
                      <a:r>
                        <a:rPr lang="zh-CN" altLang="en-US" sz="1200" smtClean="0">
                          <a:solidFill>
                            <a:schemeClr val="tx1"/>
                          </a:solidFill>
                        </a:rPr>
                        <a:t>完成情况</a:t>
                      </a:r>
                      <a:endParaRPr lang="zh-CN" altLang="en-US" sz="1200">
                        <a:solidFill>
                          <a:schemeClr val="tx1"/>
                        </a:solidFill>
                      </a:endParaRPr>
                    </a:p>
                  </a:txBody>
                  <a:tcPr anchor="ctr"/>
                </a:tc>
              </a:tr>
              <a:tr h="370840">
                <a:tc>
                  <a:txBody>
                    <a:bodyPr/>
                    <a:lstStyle/>
                    <a:p>
                      <a:pPr algn="ctr"/>
                      <a:r>
                        <a:rPr lang="zh-CN" altLang="en-US" sz="1200" smtClean="0"/>
                        <a:t>撰写学位论文</a:t>
                      </a:r>
                      <a:endParaRPr lang="zh-CN" altLang="en-US" sz="1200"/>
                    </a:p>
                  </a:txBody>
                  <a:tcPr anchor="ctr"/>
                </a:tc>
                <a:tc>
                  <a:txBody>
                    <a:bodyPr/>
                    <a:lstStyle/>
                    <a:p>
                      <a:pPr algn="ctr"/>
                      <a:r>
                        <a:rPr lang="zh-CN" altLang="en-US" sz="1200" b="1" u="none" smtClean="0">
                          <a:solidFill>
                            <a:srgbClr val="FF0000"/>
                          </a:solidFill>
                        </a:rPr>
                        <a:t>待完成</a:t>
                      </a:r>
                      <a:endParaRPr lang="zh-CN" altLang="en-US" sz="1200" b="1" u="none">
                        <a:solidFill>
                          <a:srgbClr val="FF0000"/>
                        </a:solidFill>
                      </a:endParaRPr>
                    </a:p>
                  </a:txBody>
                  <a:tcPr anchor="ctr"/>
                </a:tc>
              </a:tr>
              <a:tr h="370840">
                <a:tc>
                  <a:txBody>
                    <a:bodyPr/>
                    <a:lstStyle/>
                    <a:p>
                      <a:pPr algn="ctr"/>
                      <a:r>
                        <a:rPr lang="zh-CN" altLang="en-US" sz="1200" smtClean="0"/>
                        <a:t>准备答辩相关工作</a:t>
                      </a:r>
                      <a:endParaRPr lang="zh-CN" altLang="en-US" sz="1200"/>
                    </a:p>
                  </a:txBody>
                  <a:tcPr anchor="ctr"/>
                </a:tc>
                <a:tc>
                  <a:txBody>
                    <a:bodyPr/>
                    <a:lstStyle/>
                    <a:p>
                      <a:pPr algn="ctr"/>
                      <a:r>
                        <a:rPr lang="zh-CN" altLang="en-US" sz="1200" b="1" u="none" smtClean="0">
                          <a:solidFill>
                            <a:srgbClr val="FF0000"/>
                          </a:solidFill>
                        </a:rPr>
                        <a:t>待完成</a:t>
                      </a:r>
                      <a:endParaRPr lang="zh-CN" altLang="en-US" sz="1200" b="1" u="none">
                        <a:solidFill>
                          <a:srgbClr val="FF0000"/>
                        </a:solidFill>
                      </a:endParaRPr>
                    </a:p>
                  </a:txBody>
                  <a:tcPr anchor="ctr"/>
                </a:tc>
              </a:tr>
            </a:tbl>
          </a:graphicData>
        </a:graphic>
      </p:graphicFrame>
      <p:sp>
        <p:nvSpPr>
          <p:cNvPr id="46" name=" 184"/>
          <p:cNvSpPr/>
          <p:nvPr/>
        </p:nvSpPr>
        <p:spPr>
          <a:xfrm>
            <a:off x="5020010" y="3507837"/>
            <a:ext cx="165100" cy="152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0000"/>
              </a:solidFill>
            </a:endParaRPr>
          </a:p>
        </p:txBody>
      </p:sp>
      <p:sp>
        <p:nvSpPr>
          <p:cNvPr id="47" name="文本框 46"/>
          <p:cNvSpPr txBox="1"/>
          <p:nvPr/>
        </p:nvSpPr>
        <p:spPr>
          <a:xfrm>
            <a:off x="4598370" y="3736150"/>
            <a:ext cx="1018227" cy="369332"/>
          </a:xfrm>
          <a:prstGeom prst="rect">
            <a:avLst/>
          </a:prstGeom>
          <a:noFill/>
        </p:spPr>
        <p:txBody>
          <a:bodyPr wrap="none" rtlCol="0">
            <a:spAutoFit/>
          </a:bodyPr>
          <a:lstStyle/>
          <a:p>
            <a:r>
              <a:rPr lang="en-US" altLang="zh-CN" smtClean="0"/>
              <a:t>2019.07</a:t>
            </a:r>
            <a:endParaRPr lang="en-US" altLang="zh-CN"/>
          </a:p>
        </p:txBody>
      </p:sp>
      <p:sp>
        <p:nvSpPr>
          <p:cNvPr id="16" name="文本框 15"/>
          <p:cNvSpPr txBox="1"/>
          <p:nvPr/>
        </p:nvSpPr>
        <p:spPr>
          <a:xfrm>
            <a:off x="2465808" y="3393112"/>
            <a:ext cx="646331" cy="369332"/>
          </a:xfrm>
          <a:prstGeom prst="rect">
            <a:avLst/>
          </a:prstGeom>
          <a:noFill/>
        </p:spPr>
        <p:txBody>
          <a:bodyPr wrap="none" rtlCol="0">
            <a:spAutoFit/>
          </a:bodyPr>
          <a:lstStyle/>
          <a:p>
            <a:r>
              <a:rPr lang="en-US" altLang="zh-CN" smtClean="0"/>
              <a:t>35%</a:t>
            </a:r>
            <a:endParaRPr lang="zh-CN" altLang="en-US"/>
          </a:p>
        </p:txBody>
      </p:sp>
      <p:sp>
        <p:nvSpPr>
          <p:cNvPr id="48" name="文本框 47"/>
          <p:cNvSpPr txBox="1"/>
          <p:nvPr/>
        </p:nvSpPr>
        <p:spPr>
          <a:xfrm>
            <a:off x="5208051" y="3393112"/>
            <a:ext cx="646331" cy="369332"/>
          </a:xfrm>
          <a:prstGeom prst="rect">
            <a:avLst/>
          </a:prstGeom>
          <a:noFill/>
        </p:spPr>
        <p:txBody>
          <a:bodyPr wrap="none" rtlCol="0">
            <a:spAutoFit/>
          </a:bodyPr>
          <a:lstStyle/>
          <a:p>
            <a:r>
              <a:rPr lang="en-US" altLang="zh-CN" smtClean="0"/>
              <a:t>35%</a:t>
            </a:r>
            <a:endParaRPr lang="zh-CN" altLang="en-US"/>
          </a:p>
        </p:txBody>
      </p:sp>
      <p:sp>
        <p:nvSpPr>
          <p:cNvPr id="49" name="文本框 48"/>
          <p:cNvSpPr txBox="1"/>
          <p:nvPr/>
        </p:nvSpPr>
        <p:spPr>
          <a:xfrm>
            <a:off x="7824793" y="3393112"/>
            <a:ext cx="646331" cy="369332"/>
          </a:xfrm>
          <a:prstGeom prst="rect">
            <a:avLst/>
          </a:prstGeom>
          <a:noFill/>
        </p:spPr>
        <p:txBody>
          <a:bodyPr wrap="none" rtlCol="0">
            <a:spAutoFit/>
          </a:bodyPr>
          <a:lstStyle/>
          <a:p>
            <a:r>
              <a:rPr lang="en-US" altLang="zh-CN" smtClean="0"/>
              <a:t>30%</a:t>
            </a:r>
            <a:endParaRPr lang="zh-CN" altLang="en-US"/>
          </a:p>
        </p:txBody>
      </p:sp>
    </p:spTree>
    <p:custDataLst>
      <p:tags r:id="rId1"/>
    </p:custDataLst>
    <p:extLst>
      <p:ext uri="{BB962C8B-B14F-4D97-AF65-F5344CB8AC3E}">
        <p14:creationId xmlns:p14="http://schemas.microsoft.com/office/powerpoint/2010/main" val="42435636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grpSp>
        <p:nvGrpSpPr>
          <p:cNvPr id="31" name="组合 30"/>
          <p:cNvGrpSpPr/>
          <p:nvPr/>
        </p:nvGrpSpPr>
        <p:grpSpPr>
          <a:xfrm>
            <a:off x="754396" y="995045"/>
            <a:ext cx="9152874" cy="1158274"/>
            <a:chOff x="1011" y="3811"/>
            <a:chExt cx="14288" cy="3264"/>
          </a:xfrm>
        </p:grpSpPr>
        <p:sp>
          <p:nvSpPr>
            <p:cNvPr id="35" name="矩形 34"/>
            <p:cNvSpPr/>
            <p:nvPr/>
          </p:nvSpPr>
          <p:spPr>
            <a:xfrm>
              <a:off x="1011" y="4253"/>
              <a:ext cx="3090" cy="2294"/>
            </a:xfrm>
            <a:prstGeom prst="rect">
              <a:avLst/>
            </a:prstGeom>
            <a:solidFill>
              <a:srgbClr val="588491"/>
            </a:solidFill>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参考编写良好的混合编程代码，提炼其常用函数、指令及格式</a:t>
              </a:r>
              <a:r>
                <a:rPr lang="zh-CN" altLang="en-US">
                  <a:solidFill>
                    <a:schemeClr val="bg1"/>
                  </a:solidFill>
                </a:rPr>
                <a:t>。</a:t>
              </a:r>
            </a:p>
          </p:txBody>
        </p:sp>
        <p:cxnSp>
          <p:nvCxnSpPr>
            <p:cNvPr id="37" name="直接箭头连接符 36"/>
            <p:cNvCxnSpPr>
              <a:stCxn id="35" idx="3"/>
            </p:cNvCxnSpPr>
            <p:nvPr/>
          </p:nvCxnSpPr>
          <p:spPr>
            <a:xfrm>
              <a:off x="4101" y="5400"/>
              <a:ext cx="1285" cy="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5386" y="5074"/>
              <a:ext cx="3090" cy="660"/>
            </a:xfrm>
            <a:prstGeom prst="rect">
              <a:avLst/>
            </a:prstGeom>
            <a:solidFill>
              <a:srgbClr val="F1AF4F"/>
            </a:solidFill>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XML</a:t>
              </a:r>
              <a:r>
                <a:rPr lang="zh-CN" altLang="en-US" sz="1400">
                  <a:solidFill>
                    <a:schemeClr val="bg1"/>
                  </a:solidFill>
                </a:rPr>
                <a:t>标签</a:t>
              </a:r>
            </a:p>
          </p:txBody>
        </p:sp>
        <p:sp>
          <p:nvSpPr>
            <p:cNvPr id="39" name="矩形 38"/>
            <p:cNvSpPr/>
            <p:nvPr/>
          </p:nvSpPr>
          <p:spPr>
            <a:xfrm>
              <a:off x="12247" y="3811"/>
              <a:ext cx="3051" cy="872"/>
            </a:xfrm>
            <a:prstGeom prst="rect">
              <a:avLst/>
            </a:prstGeom>
            <a:solidFill>
              <a:srgbClr val="75AC8F"/>
            </a:solidFill>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rgbClr val="C00000"/>
                  </a:solidFill>
                </a:rPr>
                <a:t>XLST</a:t>
              </a:r>
              <a:r>
                <a:rPr lang="zh-CN" altLang="en-US" sz="1400">
                  <a:solidFill>
                    <a:srgbClr val="C00000"/>
                  </a:solidFill>
                </a:rPr>
                <a:t>文</a:t>
              </a:r>
              <a:r>
                <a:rPr lang="zh-CN" altLang="en-US" sz="1400" smtClean="0">
                  <a:solidFill>
                    <a:srgbClr val="C00000"/>
                  </a:solidFill>
                </a:rPr>
                <a:t>件（</a:t>
              </a:r>
              <a:r>
                <a:rPr lang="zh-CN" altLang="en-US" sz="1400">
                  <a:solidFill>
                    <a:srgbClr val="C00000"/>
                  </a:solidFill>
                </a:rPr>
                <a:t>映射模板）</a:t>
              </a:r>
            </a:p>
          </p:txBody>
        </p:sp>
        <p:sp>
          <p:nvSpPr>
            <p:cNvPr id="40" name="矩形 39"/>
            <p:cNvSpPr/>
            <p:nvPr/>
          </p:nvSpPr>
          <p:spPr>
            <a:xfrm>
              <a:off x="12209" y="6131"/>
              <a:ext cx="3090" cy="944"/>
            </a:xfrm>
            <a:prstGeom prst="rect">
              <a:avLst/>
            </a:prstGeom>
            <a:solidFill>
              <a:srgbClr val="CFE09A"/>
            </a:solidFill>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rgbClr val="C00000"/>
                  </a:solidFill>
                </a:rPr>
                <a:t>DTD</a:t>
              </a:r>
              <a:r>
                <a:rPr lang="zh-CN" altLang="en-US" sz="1400">
                  <a:solidFill>
                    <a:srgbClr val="C00000"/>
                  </a:solidFill>
                </a:rPr>
                <a:t>文</a:t>
              </a:r>
              <a:r>
                <a:rPr lang="zh-CN" altLang="en-US" sz="1400" smtClean="0">
                  <a:solidFill>
                    <a:srgbClr val="C00000"/>
                  </a:solidFill>
                </a:rPr>
                <a:t>件（语</a:t>
              </a:r>
              <a:r>
                <a:rPr lang="zh-CN" altLang="en-US" sz="1400">
                  <a:solidFill>
                    <a:srgbClr val="C00000"/>
                  </a:solidFill>
                </a:rPr>
                <a:t>法规范</a:t>
              </a:r>
              <a:r>
                <a:rPr lang="zh-CN" altLang="en-US">
                  <a:solidFill>
                    <a:srgbClr val="C00000"/>
                  </a:solidFill>
                </a:rPr>
                <a:t>）</a:t>
              </a:r>
            </a:p>
          </p:txBody>
        </p:sp>
        <p:cxnSp>
          <p:nvCxnSpPr>
            <p:cNvPr id="41" name="直接箭头连接符 40"/>
            <p:cNvCxnSpPr>
              <a:stCxn id="39" idx="1"/>
              <a:endCxn id="38" idx="3"/>
            </p:cNvCxnSpPr>
            <p:nvPr/>
          </p:nvCxnSpPr>
          <p:spPr>
            <a:xfrm flipH="1">
              <a:off x="8476" y="4247"/>
              <a:ext cx="3771" cy="115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0" idx="1"/>
              <a:endCxn id="38" idx="3"/>
            </p:cNvCxnSpPr>
            <p:nvPr/>
          </p:nvCxnSpPr>
          <p:spPr>
            <a:xfrm flipH="1" flipV="1">
              <a:off x="8476" y="5404"/>
              <a:ext cx="3733" cy="11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
        <p:nvSpPr>
          <p:cNvPr id="44" name="标题 4"/>
          <p:cNvSpPr txBox="1">
            <a:spLocks/>
          </p:cNvSpPr>
          <p:nvPr>
            <p:custDataLst>
              <p:tags r:id="rId2"/>
            </p:custDataLst>
          </p:nvPr>
        </p:nvSpPr>
        <p:spPr>
          <a:xfrm>
            <a:off x="534891" y="101498"/>
            <a:ext cx="5964762"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研究进展情况 </a:t>
            </a:r>
            <a:r>
              <a:rPr lang="en-US" altLang="zh-CN" sz="2800" smtClean="0">
                <a:solidFill>
                  <a:srgbClr val="C00000"/>
                </a:solidFill>
              </a:rPr>
              <a:t>—— </a:t>
            </a:r>
            <a:r>
              <a:rPr lang="zh-CN" altLang="en-US" sz="2800" smtClean="0">
                <a:solidFill>
                  <a:srgbClr val="C00000"/>
                </a:solidFill>
              </a:rPr>
              <a:t>并行标记语言</a:t>
            </a:r>
            <a:endParaRPr lang="zh-CN" altLang="en-US" sz="2800" dirty="0">
              <a:solidFill>
                <a:srgbClr val="C00000"/>
              </a:solidFill>
            </a:endParaRPr>
          </a:p>
        </p:txBody>
      </p:sp>
      <p:sp>
        <p:nvSpPr>
          <p:cNvPr id="12" name="文本框 11"/>
          <p:cNvSpPr txBox="1"/>
          <p:nvPr/>
        </p:nvSpPr>
        <p:spPr>
          <a:xfrm>
            <a:off x="754396" y="3200400"/>
            <a:ext cx="10187404" cy="2169825"/>
          </a:xfrm>
          <a:prstGeom prst="rect">
            <a:avLst/>
          </a:prstGeom>
          <a:noFill/>
        </p:spPr>
        <p:txBody>
          <a:bodyPr wrap="none" rtlCol="0">
            <a:spAutoFit/>
          </a:bodyPr>
          <a:lstStyle/>
          <a:p>
            <a:pPr>
              <a:lnSpc>
                <a:spcPct val="150000"/>
              </a:lnSpc>
            </a:pPr>
            <a:r>
              <a:rPr lang="zh-CN" altLang="en-US" smtClean="0"/>
              <a:t>主要成果：</a:t>
            </a:r>
            <a:endParaRPr lang="en-US" altLang="zh-CN" smtClean="0"/>
          </a:p>
          <a:p>
            <a:pPr>
              <a:lnSpc>
                <a:spcPct val="150000"/>
              </a:lnSpc>
            </a:pPr>
            <a:r>
              <a:rPr lang="en-US" altLang="zh-CN" smtClean="0"/>
              <a:t>	1</a:t>
            </a:r>
            <a:r>
              <a:rPr lang="zh-CN" altLang="en-US" smtClean="0"/>
              <a:t>、完成了常用</a:t>
            </a:r>
            <a:r>
              <a:rPr lang="en-US" altLang="zh-CN" smtClean="0"/>
              <a:t>MPI</a:t>
            </a:r>
            <a:r>
              <a:rPr lang="zh-CN" altLang="en-US" smtClean="0"/>
              <a:t>函数、</a:t>
            </a:r>
            <a:r>
              <a:rPr lang="en-US" altLang="zh-CN" smtClean="0"/>
              <a:t>OpenMP</a:t>
            </a:r>
            <a:r>
              <a:rPr lang="zh-CN" altLang="en-US" smtClean="0"/>
              <a:t>编译制导语句、并行化算法常见的提炼与</a:t>
            </a:r>
            <a:r>
              <a:rPr lang="en-US" altLang="zh-CN" smtClean="0"/>
              <a:t>XML</a:t>
            </a:r>
            <a:r>
              <a:rPr lang="zh-CN" altLang="en-US" smtClean="0"/>
              <a:t>标签设计</a:t>
            </a:r>
            <a:endParaRPr lang="en-US" altLang="zh-CN" smtClean="0"/>
          </a:p>
          <a:p>
            <a:pPr>
              <a:lnSpc>
                <a:spcPct val="150000"/>
              </a:lnSpc>
            </a:pPr>
            <a:r>
              <a:rPr lang="en-US" altLang="zh-CN" smtClean="0"/>
              <a:t>	2</a:t>
            </a:r>
            <a:r>
              <a:rPr lang="zh-CN" altLang="en-US" smtClean="0"/>
              <a:t>、</a:t>
            </a:r>
            <a:r>
              <a:rPr lang="zh-CN" altLang="en-US"/>
              <a:t>针对每一个</a:t>
            </a:r>
            <a:r>
              <a:rPr lang="en-US" altLang="zh-CN"/>
              <a:t>XML</a:t>
            </a:r>
            <a:r>
              <a:rPr lang="zh-CN" altLang="en-US"/>
              <a:t>标签，编写</a:t>
            </a:r>
            <a:r>
              <a:rPr lang="zh-CN" altLang="en-US" smtClean="0"/>
              <a:t>了</a:t>
            </a:r>
            <a:r>
              <a:rPr lang="en-US" altLang="zh-CN" smtClean="0"/>
              <a:t>DTD</a:t>
            </a:r>
            <a:r>
              <a:rPr lang="zh-CN" altLang="en-US"/>
              <a:t>语法规范文件</a:t>
            </a:r>
            <a:endParaRPr lang="en-US" altLang="zh-CN"/>
          </a:p>
          <a:p>
            <a:pPr>
              <a:lnSpc>
                <a:spcPct val="150000"/>
              </a:lnSpc>
            </a:pPr>
            <a:r>
              <a:rPr lang="en-US" altLang="zh-CN" smtClean="0"/>
              <a:t>	3</a:t>
            </a:r>
            <a:r>
              <a:rPr lang="zh-CN" altLang="en-US" smtClean="0"/>
              <a:t>、</a:t>
            </a:r>
            <a:r>
              <a:rPr lang="zh-CN" altLang="en-US"/>
              <a:t>完成了</a:t>
            </a:r>
            <a:r>
              <a:rPr lang="en-US" altLang="zh-CN"/>
              <a:t>XML</a:t>
            </a:r>
            <a:r>
              <a:rPr lang="zh-CN" altLang="en-US"/>
              <a:t>标</a:t>
            </a:r>
            <a:r>
              <a:rPr lang="zh-CN" altLang="en-US" smtClean="0"/>
              <a:t>签信息的</a:t>
            </a:r>
            <a:r>
              <a:rPr lang="zh-CN" altLang="en-US"/>
              <a:t>数据库存</a:t>
            </a:r>
            <a:r>
              <a:rPr lang="zh-CN" altLang="en-US" smtClean="0"/>
              <a:t>储及</a:t>
            </a:r>
            <a:r>
              <a:rPr lang="en-US" altLang="zh-CN" smtClean="0"/>
              <a:t>json</a:t>
            </a:r>
            <a:r>
              <a:rPr lang="zh-CN" altLang="en-US" smtClean="0"/>
              <a:t>文件存储</a:t>
            </a:r>
            <a:endParaRPr lang="en-US" altLang="zh-CN"/>
          </a:p>
          <a:p>
            <a:pPr>
              <a:lnSpc>
                <a:spcPct val="150000"/>
              </a:lnSpc>
            </a:pPr>
            <a:r>
              <a:rPr lang="en-US" altLang="zh-CN" smtClean="0"/>
              <a:t>	4</a:t>
            </a:r>
            <a:r>
              <a:rPr lang="zh-CN" altLang="en-US" smtClean="0"/>
              <a:t>、编写了</a:t>
            </a:r>
            <a:r>
              <a:rPr lang="en-US" altLang="zh-CN" smtClean="0"/>
              <a:t>XLST</a:t>
            </a:r>
            <a:r>
              <a:rPr lang="zh-CN" altLang="en-US" smtClean="0"/>
              <a:t>映射模板规则，开发了</a:t>
            </a:r>
            <a:r>
              <a:rPr lang="en-US" altLang="zh-CN" smtClean="0"/>
              <a:t>XML</a:t>
            </a:r>
            <a:r>
              <a:rPr lang="zh-CN" altLang="en-US" smtClean="0"/>
              <a:t>标签到</a:t>
            </a:r>
            <a:r>
              <a:rPr lang="en-US" altLang="zh-CN" smtClean="0"/>
              <a:t>C/C++</a:t>
            </a:r>
            <a:r>
              <a:rPr lang="zh-CN" altLang="en-US" smtClean="0"/>
              <a:t>代码的转换程序</a:t>
            </a:r>
            <a:endParaRPr lang="zh-CN" altLang="en-US"/>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34" name="标题 4"/>
          <p:cNvSpPr txBox="1">
            <a:spLocks/>
          </p:cNvSpPr>
          <p:nvPr>
            <p:custDataLst>
              <p:tags r:id="rId2"/>
            </p:custDataLst>
          </p:nvPr>
        </p:nvSpPr>
        <p:spPr>
          <a:xfrm>
            <a:off x="584319" y="101498"/>
            <a:ext cx="6228374"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研究进展情况 </a:t>
            </a:r>
            <a:r>
              <a:rPr lang="en-US" altLang="zh-CN" sz="2800" smtClean="0">
                <a:solidFill>
                  <a:srgbClr val="C00000"/>
                </a:solidFill>
              </a:rPr>
              <a:t>—— </a:t>
            </a:r>
            <a:r>
              <a:rPr lang="zh-CN" altLang="en-US" sz="2800" smtClean="0">
                <a:solidFill>
                  <a:srgbClr val="C00000"/>
                </a:solidFill>
              </a:rPr>
              <a:t>标记语言编辑器</a:t>
            </a:r>
            <a:endParaRPr lang="zh-CN" altLang="en-US" sz="2800" dirty="0">
              <a:solidFill>
                <a:srgbClr val="C00000"/>
              </a:solidFill>
            </a:endParaRPr>
          </a:p>
        </p:txBody>
      </p:sp>
      <p:sp>
        <p:nvSpPr>
          <p:cNvPr id="42" name="文本框 41"/>
          <p:cNvSpPr txBox="1"/>
          <p:nvPr/>
        </p:nvSpPr>
        <p:spPr>
          <a:xfrm>
            <a:off x="6349407" y="2096968"/>
            <a:ext cx="5840053" cy="2585323"/>
          </a:xfrm>
          <a:prstGeom prst="rect">
            <a:avLst/>
          </a:prstGeom>
          <a:noFill/>
        </p:spPr>
        <p:txBody>
          <a:bodyPr wrap="square" rtlCol="0">
            <a:spAutoFit/>
          </a:bodyPr>
          <a:lstStyle/>
          <a:p>
            <a:pPr>
              <a:lnSpc>
                <a:spcPct val="150000"/>
              </a:lnSpc>
            </a:pPr>
            <a:r>
              <a:rPr lang="zh-CN" altLang="en-US" smtClean="0"/>
              <a:t>主要成果：</a:t>
            </a:r>
            <a:endParaRPr lang="en-US" altLang="zh-CN" smtClean="0"/>
          </a:p>
          <a:p>
            <a:pPr>
              <a:lnSpc>
                <a:spcPct val="150000"/>
              </a:lnSpc>
            </a:pPr>
            <a:r>
              <a:rPr lang="en-US" altLang="zh-CN" smtClean="0"/>
              <a:t>1</a:t>
            </a:r>
            <a:r>
              <a:rPr lang="zh-CN" altLang="en-US" smtClean="0"/>
              <a:t>、基于</a:t>
            </a:r>
            <a:r>
              <a:rPr lang="en-US" altLang="zh-CN" smtClean="0"/>
              <a:t>Web</a:t>
            </a:r>
            <a:r>
              <a:rPr lang="zh-CN" altLang="en-US" smtClean="0"/>
              <a:t>形式开发了</a:t>
            </a:r>
            <a:r>
              <a:rPr lang="en-US" altLang="zh-CN" smtClean="0"/>
              <a:t>XML + C/Cpp</a:t>
            </a:r>
            <a:r>
              <a:rPr lang="zh-CN" altLang="en-US" smtClean="0"/>
              <a:t>混合编程编辑器</a:t>
            </a:r>
            <a:endParaRPr lang="en-US" altLang="zh-CN" smtClean="0"/>
          </a:p>
          <a:p>
            <a:pPr>
              <a:lnSpc>
                <a:spcPct val="150000"/>
              </a:lnSpc>
            </a:pPr>
            <a:r>
              <a:rPr lang="en-US" altLang="zh-CN" smtClean="0"/>
              <a:t>2</a:t>
            </a:r>
            <a:r>
              <a:rPr lang="zh-CN" altLang="en-US" smtClean="0"/>
              <a:t>、实现了</a:t>
            </a:r>
            <a:r>
              <a:rPr lang="en-US" altLang="zh-CN" smtClean="0"/>
              <a:t>XML</a:t>
            </a:r>
            <a:r>
              <a:rPr lang="zh-CN" altLang="en-US" smtClean="0"/>
              <a:t>标签的使用引导及一键插入</a:t>
            </a:r>
            <a:endParaRPr lang="en-US" altLang="zh-CN" smtClean="0"/>
          </a:p>
          <a:p>
            <a:pPr>
              <a:lnSpc>
                <a:spcPct val="150000"/>
              </a:lnSpc>
            </a:pPr>
            <a:r>
              <a:rPr lang="en-US" altLang="zh-CN" smtClean="0"/>
              <a:t>3</a:t>
            </a:r>
            <a:r>
              <a:rPr lang="zh-CN" altLang="en-US" smtClean="0"/>
              <a:t>、完成了混合代码服务器端转换、存储及客户端编辑</a:t>
            </a:r>
            <a:endParaRPr lang="en-US" altLang="zh-CN" smtClean="0"/>
          </a:p>
          <a:p>
            <a:pPr>
              <a:lnSpc>
                <a:spcPct val="150000"/>
              </a:lnSpc>
            </a:pPr>
            <a:r>
              <a:rPr lang="en-US" altLang="zh-CN" smtClean="0"/>
              <a:t>4</a:t>
            </a:r>
            <a:r>
              <a:rPr lang="zh-CN" altLang="en-US" smtClean="0"/>
              <a:t>、基于</a:t>
            </a:r>
            <a:r>
              <a:rPr lang="en-US" altLang="zh-CN" smtClean="0"/>
              <a:t>SSH</a:t>
            </a:r>
            <a:r>
              <a:rPr lang="zh-CN" altLang="en-US" smtClean="0"/>
              <a:t>协议实现了</a:t>
            </a:r>
            <a:r>
              <a:rPr lang="en-US" altLang="zh-CN" smtClean="0"/>
              <a:t>Web</a:t>
            </a:r>
            <a:r>
              <a:rPr lang="zh-CN" altLang="en-US"/>
              <a:t>页</a:t>
            </a:r>
            <a:r>
              <a:rPr lang="zh-CN" altLang="en-US" smtClean="0"/>
              <a:t>面远程终端，完成了服务器端代码调试功能</a:t>
            </a:r>
            <a:endParaRPr lang="zh-CN" altLang="en-US"/>
          </a:p>
        </p:txBody>
      </p:sp>
      <p:pic>
        <p:nvPicPr>
          <p:cNvPr id="43" name="图片 42"/>
          <p:cNvPicPr/>
          <p:nvPr/>
        </p:nvPicPr>
        <p:blipFill>
          <a:blip r:embed="rId9">
            <a:extLst>
              <a:ext uri="{28A0092B-C50C-407E-A947-70E740481C1C}">
                <a14:useLocalDpi xmlns:a14="http://schemas.microsoft.com/office/drawing/2010/main" val="0"/>
              </a:ext>
            </a:extLst>
          </a:blip>
          <a:stretch>
            <a:fillRect/>
          </a:stretch>
        </p:blipFill>
        <p:spPr>
          <a:xfrm>
            <a:off x="-8420" y="995045"/>
            <a:ext cx="5943600" cy="4789170"/>
          </a:xfrm>
          <a:prstGeom prst="rect">
            <a:avLst/>
          </a:prstGeom>
        </p:spPr>
      </p:pic>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89" y="756110"/>
            <a:ext cx="12122207" cy="5315175"/>
          </a:xfrm>
          <a:prstGeom prst="rect">
            <a:avLst/>
          </a:prstGeom>
        </p:spPr>
      </p:pic>
    </p:spTree>
    <p:extLst>
      <p:ext uri="{BB962C8B-B14F-4D97-AF65-F5344CB8AC3E}">
        <p14:creationId xmlns:p14="http://schemas.microsoft.com/office/powerpoint/2010/main" val="35783085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4" y="805531"/>
            <a:ext cx="12140018" cy="5224566"/>
          </a:xfrm>
          <a:prstGeom prst="rect">
            <a:avLst/>
          </a:prstGeom>
        </p:spPr>
      </p:pic>
    </p:spTree>
    <p:extLst>
      <p:ext uri="{BB962C8B-B14F-4D97-AF65-F5344CB8AC3E}">
        <p14:creationId xmlns:p14="http://schemas.microsoft.com/office/powerpoint/2010/main" val="21545904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1" y="663447"/>
            <a:ext cx="12138190" cy="5506694"/>
          </a:xfrm>
          <a:prstGeom prst="rect">
            <a:avLst/>
          </a:prstGeom>
        </p:spPr>
      </p:pic>
    </p:spTree>
    <p:extLst>
      <p:ext uri="{BB962C8B-B14F-4D97-AF65-F5344CB8AC3E}">
        <p14:creationId xmlns:p14="http://schemas.microsoft.com/office/powerpoint/2010/main" val="3194786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1" y="746620"/>
            <a:ext cx="12138331" cy="5341141"/>
          </a:xfrm>
          <a:prstGeom prst="rect">
            <a:avLst/>
          </a:prstGeom>
        </p:spPr>
      </p:pic>
    </p:spTree>
    <p:extLst>
      <p:ext uri="{BB962C8B-B14F-4D97-AF65-F5344CB8AC3E}">
        <p14:creationId xmlns:p14="http://schemas.microsoft.com/office/powerpoint/2010/main" val="3112046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3" y="743981"/>
            <a:ext cx="12151091" cy="5352019"/>
          </a:xfrm>
          <a:prstGeom prst="rect">
            <a:avLst/>
          </a:prstGeom>
        </p:spPr>
      </p:pic>
    </p:spTree>
    <p:extLst>
      <p:ext uri="{BB962C8B-B14F-4D97-AF65-F5344CB8AC3E}">
        <p14:creationId xmlns:p14="http://schemas.microsoft.com/office/powerpoint/2010/main" val="251694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2" y="633996"/>
            <a:ext cx="12128424" cy="5560858"/>
          </a:xfrm>
          <a:prstGeom prst="rect">
            <a:avLst/>
          </a:prstGeom>
        </p:spPr>
      </p:pic>
    </p:spTree>
    <p:extLst>
      <p:ext uri="{BB962C8B-B14F-4D97-AF65-F5344CB8AC3E}">
        <p14:creationId xmlns:p14="http://schemas.microsoft.com/office/powerpoint/2010/main" val="2590304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2" name="标题 4"/>
          <p:cNvSpPr txBox="1">
            <a:spLocks/>
          </p:cNvSpPr>
          <p:nvPr>
            <p:custDataLst>
              <p:tags r:id="rId2"/>
            </p:custDataLst>
          </p:nvPr>
        </p:nvSpPr>
        <p:spPr>
          <a:xfrm>
            <a:off x="633747" y="101498"/>
            <a:ext cx="6491984"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研究进展情况 </a:t>
            </a:r>
            <a:r>
              <a:rPr lang="en-US" altLang="zh-CN" sz="2800" smtClean="0">
                <a:solidFill>
                  <a:srgbClr val="C00000"/>
                </a:solidFill>
              </a:rPr>
              <a:t>—— </a:t>
            </a:r>
            <a:r>
              <a:rPr lang="zh-CN" altLang="en-US" sz="2800" smtClean="0">
                <a:solidFill>
                  <a:srgbClr val="C00000"/>
                </a:solidFill>
              </a:rPr>
              <a:t>可并行代码段预测</a:t>
            </a:r>
            <a:endParaRPr lang="zh-CN" altLang="en-US" sz="2800" dirty="0">
              <a:solidFill>
                <a:srgbClr val="C00000"/>
              </a:solidFill>
            </a:endParaRPr>
          </a:p>
        </p:txBody>
      </p:sp>
      <p:sp>
        <p:nvSpPr>
          <p:cNvPr id="3" name="文本框 2"/>
          <p:cNvSpPr txBox="1"/>
          <p:nvPr/>
        </p:nvSpPr>
        <p:spPr>
          <a:xfrm>
            <a:off x="633747" y="625713"/>
            <a:ext cx="10174580" cy="1477328"/>
          </a:xfrm>
          <a:prstGeom prst="rect">
            <a:avLst/>
          </a:prstGeom>
          <a:noFill/>
        </p:spPr>
        <p:txBody>
          <a:bodyPr wrap="none" rtlCol="0">
            <a:spAutoFit/>
          </a:bodyPr>
          <a:lstStyle/>
          <a:p>
            <a:r>
              <a:rPr lang="zh-CN" altLang="en-US" smtClean="0"/>
              <a:t>数据集方面：</a:t>
            </a:r>
            <a:endParaRPr lang="en-US" altLang="zh-CN" smtClean="0"/>
          </a:p>
          <a:p>
            <a:r>
              <a:rPr lang="en-US" altLang="zh-CN"/>
              <a:t>	</a:t>
            </a:r>
            <a:r>
              <a:rPr lang="en-US" altLang="zh-CN" smtClean="0"/>
              <a:t>1</a:t>
            </a:r>
            <a:r>
              <a:rPr lang="zh-CN" altLang="en-US" smtClean="0"/>
              <a:t>、完成了数据集的初步搜集工作，包含共扼梯度法、傅立叶变换、曼德勃罗特集、</a:t>
            </a:r>
            <a:endParaRPr lang="en-US" altLang="zh-CN" smtClean="0"/>
          </a:p>
          <a:p>
            <a:r>
              <a:rPr lang="en-US" altLang="zh-CN" smtClean="0"/>
              <a:t>	      </a:t>
            </a:r>
            <a:r>
              <a:rPr lang="zh-CN" altLang="en-US" smtClean="0"/>
              <a:t>粒子群算法等常见典型算法以及</a:t>
            </a:r>
            <a:r>
              <a:rPr lang="en-US" altLang="zh-CN" smtClean="0"/>
              <a:t>PBB</a:t>
            </a:r>
            <a:r>
              <a:rPr lang="zh-CN" altLang="en-US" smtClean="0"/>
              <a:t>、</a:t>
            </a:r>
            <a:r>
              <a:rPr lang="en-US" altLang="zh-CN" smtClean="0"/>
              <a:t>NPB</a:t>
            </a:r>
            <a:r>
              <a:rPr lang="zh-CN" altLang="en-US" smtClean="0"/>
              <a:t>、</a:t>
            </a:r>
            <a:r>
              <a:rPr lang="en-US" altLang="zh-CN" smtClean="0"/>
              <a:t>POP</a:t>
            </a:r>
            <a:r>
              <a:rPr lang="zh-CN" altLang="en-US" smtClean="0"/>
              <a:t>、</a:t>
            </a:r>
            <a:r>
              <a:rPr lang="en-US" altLang="zh-CN" smtClean="0"/>
              <a:t>Livermore</a:t>
            </a:r>
            <a:r>
              <a:rPr lang="zh-CN" altLang="en-US" smtClean="0"/>
              <a:t>等高性能计算评测程序</a:t>
            </a:r>
            <a:endParaRPr lang="en-US" altLang="zh-CN" smtClean="0"/>
          </a:p>
          <a:p>
            <a:r>
              <a:rPr lang="en-US" altLang="zh-CN" smtClean="0"/>
              <a:t>	2</a:t>
            </a:r>
            <a:r>
              <a:rPr lang="zh-CN" altLang="en-US" smtClean="0"/>
              <a:t>、实现了基于词袋模型的代码文本向量化方法</a:t>
            </a:r>
            <a:endParaRPr lang="en-US" altLang="zh-CN" smtClean="0"/>
          </a:p>
          <a:p>
            <a:r>
              <a:rPr lang="en-US" altLang="zh-CN"/>
              <a:t>	3</a:t>
            </a:r>
            <a:r>
              <a:rPr lang="zh-CN" altLang="en-US" smtClean="0"/>
              <a:t>、实现了基于正则提取的词袋动态扩充方法</a:t>
            </a:r>
            <a:endParaRPr lang="en-US" altLang="zh-CN" smtClean="0"/>
          </a:p>
        </p:txBody>
      </p:sp>
      <p:graphicFrame>
        <p:nvGraphicFramePr>
          <p:cNvPr id="2" name="表格 1"/>
          <p:cNvGraphicFramePr>
            <a:graphicFrameLocks noGrp="1"/>
          </p:cNvGraphicFramePr>
          <p:nvPr>
            <p:extLst>
              <p:ext uri="{D42A27DB-BD31-4B8C-83A1-F6EECF244321}">
                <p14:modId xmlns:p14="http://schemas.microsoft.com/office/powerpoint/2010/main" val="3501447577"/>
              </p:ext>
            </p:extLst>
          </p:nvPr>
        </p:nvGraphicFramePr>
        <p:xfrm>
          <a:off x="532765" y="3322320"/>
          <a:ext cx="4286885" cy="2377440"/>
        </p:xfrm>
        <a:graphic>
          <a:graphicData uri="http://schemas.openxmlformats.org/drawingml/2006/table">
            <a:tbl>
              <a:tblPr bandRow="1">
                <a:tableStyleId>{16D9F66E-5EB9-4882-86FB-DCBF35E3C3E4}</a:tableStyleId>
              </a:tblPr>
              <a:tblGrid>
                <a:gridCol w="875905"/>
                <a:gridCol w="3410980"/>
              </a:tblGrid>
              <a:tr h="577213">
                <a:tc>
                  <a:txBody>
                    <a:bodyPr/>
                    <a:lstStyle/>
                    <a:p>
                      <a:pPr marL="0" algn="l" defTabSz="685800" rtl="0" eaLnBrk="1" latinLnBrk="0" hangingPunct="1"/>
                      <a:r>
                        <a:rPr lang="en-US" altLang="zh-CN" sz="1350" kern="1200" smtClean="0">
                          <a:solidFill>
                            <a:schemeClr val="dk1"/>
                          </a:solidFill>
                          <a:latin typeface="+mn-lt"/>
                          <a:ea typeface="+mn-ea"/>
                          <a:cs typeface="+mn-cs"/>
                        </a:rPr>
                        <a:t>PBB</a:t>
                      </a:r>
                      <a:endParaRPr lang="zh-CN" altLang="en-US" sz="135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685800" rtl="0" eaLnBrk="1" latinLnBrk="0" hangingPunct="1"/>
                      <a:r>
                        <a:rPr lang="zh-CN" altLang="en-US" sz="1200" b="0" i="0" kern="1200" smtClean="0">
                          <a:solidFill>
                            <a:schemeClr val="dk1"/>
                          </a:solidFill>
                          <a:effectLst/>
                          <a:latin typeface="+mn-lt"/>
                          <a:ea typeface="+mn-ea"/>
                          <a:cs typeface="+mn-cs"/>
                        </a:rPr>
                        <a:t>一款面向生物信息学领域的基准测试程序集，该程序包括</a:t>
                      </a:r>
                      <a:r>
                        <a:rPr lang="en-US" altLang="zh-CN" sz="1200" b="0" i="0" kern="1200" smtClean="0">
                          <a:solidFill>
                            <a:schemeClr val="dk1"/>
                          </a:solidFill>
                          <a:effectLst/>
                          <a:latin typeface="+mn-lt"/>
                          <a:ea typeface="+mn-ea"/>
                          <a:cs typeface="+mn-cs"/>
                        </a:rPr>
                        <a:t>7</a:t>
                      </a:r>
                      <a:r>
                        <a:rPr lang="zh-CN" altLang="en-US" sz="1200" b="0" i="0" kern="1200" smtClean="0">
                          <a:solidFill>
                            <a:schemeClr val="dk1"/>
                          </a:solidFill>
                          <a:effectLst/>
                          <a:latin typeface="+mn-lt"/>
                          <a:ea typeface="+mn-ea"/>
                          <a:cs typeface="+mn-cs"/>
                        </a:rPr>
                        <a:t>个用</a:t>
                      </a:r>
                      <a:r>
                        <a:rPr lang="en-US" altLang="zh-CN" sz="1200" b="0" i="0" kern="1200" smtClean="0">
                          <a:solidFill>
                            <a:schemeClr val="dk1"/>
                          </a:solidFill>
                          <a:effectLst/>
                          <a:latin typeface="+mn-lt"/>
                          <a:ea typeface="+mn-ea"/>
                          <a:cs typeface="+mn-cs"/>
                        </a:rPr>
                        <a:t>OpenMP</a:t>
                      </a:r>
                      <a:r>
                        <a:rPr lang="zh-CN" altLang="en-US" sz="1200" b="0" i="0" kern="1200" smtClean="0">
                          <a:solidFill>
                            <a:schemeClr val="dk1"/>
                          </a:solidFill>
                          <a:effectLst/>
                          <a:latin typeface="+mn-lt"/>
                          <a:ea typeface="+mn-ea"/>
                          <a:cs typeface="+mn-cs"/>
                        </a:rPr>
                        <a:t>并行的生物信息学测试程序</a:t>
                      </a:r>
                      <a:endParaRPr lang="zh-CN" altLang="en-US" sz="12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2295">
                <a:tc>
                  <a:txBody>
                    <a:bodyPr/>
                    <a:lstStyle/>
                    <a:p>
                      <a:r>
                        <a:rPr lang="en-US" altLang="zh-CN" smtClean="0"/>
                        <a:t>NPB</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i="0" kern="1200" smtClean="0">
                          <a:solidFill>
                            <a:schemeClr val="dk1"/>
                          </a:solidFill>
                          <a:effectLst/>
                          <a:latin typeface="+mn-lt"/>
                          <a:ea typeface="+mn-ea"/>
                          <a:cs typeface="+mn-cs"/>
                        </a:rPr>
                        <a:t>NPB</a:t>
                      </a:r>
                      <a:r>
                        <a:rPr lang="zh-CN" altLang="en-US" sz="1200" b="0" i="0" kern="1200" smtClean="0">
                          <a:solidFill>
                            <a:schemeClr val="dk1"/>
                          </a:solidFill>
                          <a:effectLst/>
                          <a:latin typeface="+mn-lt"/>
                          <a:ea typeface="+mn-ea"/>
                          <a:cs typeface="+mn-cs"/>
                        </a:rPr>
                        <a:t>是一组用于测试超级计算机性能的程序，程序由一组计算流体力学程序演变而来</a:t>
                      </a:r>
                      <a:endParaRPr lang="zh-CN" altLang="en-US" sz="12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2295">
                <a:tc>
                  <a:txBody>
                    <a:bodyPr/>
                    <a:lstStyle/>
                    <a:p>
                      <a:r>
                        <a:rPr lang="en-US" altLang="zh-CN" sz="1200" b="0" i="0" kern="1200" smtClean="0">
                          <a:solidFill>
                            <a:schemeClr val="dk1"/>
                          </a:solidFill>
                          <a:effectLst/>
                          <a:latin typeface="+mn-lt"/>
                          <a:ea typeface="+mn-ea"/>
                          <a:cs typeface="+mn-cs"/>
                        </a:rPr>
                        <a:t>POP</a:t>
                      </a:r>
                      <a:endParaRPr lang="zh-CN" altLang="en-US" sz="12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zh-CN" sz="1200" b="0" i="0" kern="1200" smtClean="0">
                          <a:solidFill>
                            <a:schemeClr val="dk1"/>
                          </a:solidFill>
                          <a:effectLst/>
                          <a:latin typeface="+mn-lt"/>
                          <a:ea typeface="+mn-ea"/>
                          <a:cs typeface="+mn-cs"/>
                        </a:rPr>
                        <a:t>Parallel Ocean Program(POP)</a:t>
                      </a:r>
                      <a:r>
                        <a:rPr lang="zh-CN" altLang="en-US" sz="1200" b="0" i="0" kern="1200" smtClean="0">
                          <a:solidFill>
                            <a:schemeClr val="dk1"/>
                          </a:solidFill>
                          <a:effectLst/>
                          <a:latin typeface="+mn-lt"/>
                          <a:ea typeface="+mn-ea"/>
                          <a:cs typeface="+mn-cs"/>
                        </a:rPr>
                        <a:t>是著名的并行海洋模拟程序</a:t>
                      </a:r>
                      <a:endParaRPr lang="en-US" altLang="zh-CN" sz="1200" b="0" i="0" kern="1200" smtClean="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79724">
                <a:tc>
                  <a:txBody>
                    <a:bodyPr/>
                    <a:lstStyle/>
                    <a:p>
                      <a:r>
                        <a:rPr lang="en-US" altLang="zh-CN" sz="1200" smtClean="0"/>
                        <a:t>Livermore</a:t>
                      </a:r>
                      <a:endParaRPr lang="zh-CN" altLang="en-US" sz="12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200" b="0" i="0" kern="1200" smtClean="0">
                          <a:solidFill>
                            <a:schemeClr val="dk1"/>
                          </a:solidFill>
                          <a:effectLst/>
                          <a:latin typeface="+mn-lt"/>
                          <a:ea typeface="+mn-ea"/>
                          <a:cs typeface="+mn-cs"/>
                        </a:rPr>
                        <a:t>它是由</a:t>
                      </a:r>
                      <a:r>
                        <a:rPr lang="en-US" altLang="zh-CN" sz="1200" b="0" i="0" kern="1200" smtClean="0">
                          <a:solidFill>
                            <a:schemeClr val="dk1"/>
                          </a:solidFill>
                          <a:effectLst/>
                          <a:latin typeface="+mn-lt"/>
                          <a:ea typeface="+mn-ea"/>
                          <a:cs typeface="+mn-cs"/>
                        </a:rPr>
                        <a:t>Francis H. McMahon</a:t>
                      </a:r>
                      <a:r>
                        <a:rPr lang="zh-CN" altLang="en-US" sz="1200" b="0" i="0" kern="1200" smtClean="0">
                          <a:solidFill>
                            <a:schemeClr val="dk1"/>
                          </a:solidFill>
                          <a:effectLst/>
                          <a:latin typeface="+mn-lt"/>
                          <a:ea typeface="+mn-ea"/>
                          <a:cs typeface="+mn-cs"/>
                        </a:rPr>
                        <a:t>从劳伦斯利弗莫尔国家实验室的计算机上运行的科学源代码创建的。它由</a:t>
                      </a:r>
                      <a:r>
                        <a:rPr lang="en-US" altLang="zh-CN" sz="1200" b="0" i="0" kern="1200" smtClean="0">
                          <a:solidFill>
                            <a:schemeClr val="dk1"/>
                          </a:solidFill>
                          <a:effectLst/>
                          <a:latin typeface="+mn-lt"/>
                          <a:ea typeface="+mn-ea"/>
                          <a:cs typeface="+mn-cs"/>
                        </a:rPr>
                        <a:t>24</a:t>
                      </a:r>
                      <a:r>
                        <a:rPr lang="zh-CN" altLang="en-US" sz="1200" b="0" i="0" kern="1200" smtClean="0">
                          <a:solidFill>
                            <a:schemeClr val="dk1"/>
                          </a:solidFill>
                          <a:effectLst/>
                          <a:latin typeface="+mn-lt"/>
                          <a:ea typeface="+mn-ea"/>
                          <a:cs typeface="+mn-cs"/>
                        </a:rPr>
                        <a:t>个循环组成，其中一些可以被</a:t>
                      </a:r>
                      <a:r>
                        <a:rPr lang="zh-CN" altLang="en-US" sz="1200" b="0" i="0" kern="1200" smtClean="0">
                          <a:solidFill>
                            <a:schemeClr val="dk1"/>
                          </a:solidFill>
                          <a:effectLst/>
                          <a:latin typeface="+mn-lt"/>
                          <a:ea typeface="+mn-ea"/>
                          <a:cs typeface="+mn-cs"/>
                          <a:hlinkClick r:id="rId9"/>
                        </a:rPr>
                        <a:t>矢量化</a:t>
                      </a:r>
                      <a:r>
                        <a:rPr lang="zh-CN" altLang="en-US" sz="1200" b="0" i="0" kern="1200" smtClean="0">
                          <a:solidFill>
                            <a:schemeClr val="dk1"/>
                          </a:solidFill>
                          <a:effectLst/>
                          <a:latin typeface="+mn-lt"/>
                          <a:ea typeface="+mn-ea"/>
                          <a:cs typeface="+mn-cs"/>
                        </a:rPr>
                        <a:t>，而另一些不能</a:t>
                      </a:r>
                      <a:endParaRPr lang="en-US" altLang="zh-CN" sz="1200" b="0" i="0" kern="1200" smtClean="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5" name="图片 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49960" y="3003212"/>
            <a:ext cx="5731702" cy="2805434"/>
          </a:xfrm>
          <a:prstGeom prst="rect">
            <a:avLst/>
          </a:prstGeom>
        </p:spPr>
      </p:pic>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2" name="标题 4"/>
          <p:cNvSpPr txBox="1">
            <a:spLocks/>
          </p:cNvSpPr>
          <p:nvPr>
            <p:custDataLst>
              <p:tags r:id="rId2"/>
            </p:custDataLst>
          </p:nvPr>
        </p:nvSpPr>
        <p:spPr>
          <a:xfrm>
            <a:off x="633747" y="101498"/>
            <a:ext cx="6491984"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研究进展情况 </a:t>
            </a:r>
            <a:r>
              <a:rPr lang="en-US" altLang="zh-CN" sz="2800" smtClean="0">
                <a:solidFill>
                  <a:srgbClr val="C00000"/>
                </a:solidFill>
              </a:rPr>
              <a:t>—— </a:t>
            </a:r>
            <a:r>
              <a:rPr lang="zh-CN" altLang="en-US" sz="2800" smtClean="0">
                <a:solidFill>
                  <a:srgbClr val="C00000"/>
                </a:solidFill>
              </a:rPr>
              <a:t>可并行代码段预测</a:t>
            </a:r>
            <a:endParaRPr lang="zh-CN" altLang="en-US" sz="2800" dirty="0">
              <a:solidFill>
                <a:srgbClr val="C00000"/>
              </a:solidFill>
            </a:endParaRPr>
          </a:p>
        </p:txBody>
      </p:sp>
      <p:pic>
        <p:nvPicPr>
          <p:cNvPr id="6" name="图片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3747" y="995045"/>
            <a:ext cx="4238625" cy="2476500"/>
          </a:xfrm>
          <a:prstGeom prst="rect">
            <a:avLst/>
          </a:prstGeom>
        </p:spPr>
      </p:pic>
      <p:pic>
        <p:nvPicPr>
          <p:cNvPr id="9" name="图片 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73012" y="4178300"/>
            <a:ext cx="6181725" cy="2238375"/>
          </a:xfrm>
          <a:prstGeom prst="rect">
            <a:avLst/>
          </a:prstGeom>
        </p:spPr>
      </p:pic>
      <p:pic>
        <p:nvPicPr>
          <p:cNvPr id="10" name="图片 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714490" y="995045"/>
            <a:ext cx="4152900" cy="2190750"/>
          </a:xfrm>
          <a:prstGeom prst="rect">
            <a:avLst/>
          </a:prstGeom>
        </p:spPr>
      </p:pic>
      <p:sp>
        <p:nvSpPr>
          <p:cNvPr id="3" name="矩形 2"/>
          <p:cNvSpPr/>
          <p:nvPr/>
        </p:nvSpPr>
        <p:spPr>
          <a:xfrm>
            <a:off x="2084173" y="1309816"/>
            <a:ext cx="469557" cy="140043"/>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3" name="矩形 12"/>
          <p:cNvSpPr/>
          <p:nvPr/>
        </p:nvSpPr>
        <p:spPr>
          <a:xfrm>
            <a:off x="967946" y="1449859"/>
            <a:ext cx="391297" cy="172995"/>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4" name="矩形 13"/>
          <p:cNvSpPr/>
          <p:nvPr/>
        </p:nvSpPr>
        <p:spPr>
          <a:xfrm>
            <a:off x="1801975" y="1641063"/>
            <a:ext cx="463431" cy="140043"/>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5" name="矩形 14"/>
          <p:cNvSpPr/>
          <p:nvPr/>
        </p:nvSpPr>
        <p:spPr>
          <a:xfrm>
            <a:off x="1795850" y="1805819"/>
            <a:ext cx="378940" cy="119757"/>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 name="矩形 15"/>
          <p:cNvSpPr/>
          <p:nvPr/>
        </p:nvSpPr>
        <p:spPr>
          <a:xfrm>
            <a:off x="1239795" y="1958528"/>
            <a:ext cx="391297" cy="140043"/>
          </a:xfrm>
          <a:prstGeom prst="rect">
            <a:avLst/>
          </a:prstGeom>
          <a:no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 name="矩形 4"/>
          <p:cNvSpPr/>
          <p:nvPr/>
        </p:nvSpPr>
        <p:spPr>
          <a:xfrm>
            <a:off x="633747" y="3978876"/>
            <a:ext cx="4238625" cy="23230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关键</a:t>
            </a:r>
            <a:r>
              <a:rPr lang="zh-CN" altLang="en-US" smtClean="0">
                <a:solidFill>
                  <a:schemeClr val="tx1"/>
                </a:solidFill>
              </a:rPr>
              <a:t>字、操作符列表</a:t>
            </a:r>
            <a:endParaRPr lang="zh-CN" altLang="en-US"/>
          </a:p>
        </p:txBody>
      </p:sp>
      <p:sp>
        <p:nvSpPr>
          <p:cNvPr id="27" name="右弧形箭头 26"/>
          <p:cNvSpPr/>
          <p:nvPr/>
        </p:nvSpPr>
        <p:spPr>
          <a:xfrm>
            <a:off x="4922863" y="2676594"/>
            <a:ext cx="469557" cy="158990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p:cNvSpPr txBox="1"/>
          <p:nvPr/>
        </p:nvSpPr>
        <p:spPr>
          <a:xfrm>
            <a:off x="4201297" y="3078879"/>
            <a:ext cx="800219" cy="461665"/>
          </a:xfrm>
          <a:prstGeom prst="rect">
            <a:avLst/>
          </a:prstGeom>
          <a:noFill/>
        </p:spPr>
        <p:txBody>
          <a:bodyPr wrap="none" rtlCol="0">
            <a:spAutoFit/>
          </a:bodyPr>
          <a:lstStyle/>
          <a:p>
            <a:r>
              <a:rPr lang="zh-CN" altLang="en-US" sz="1200" smtClean="0">
                <a:solidFill>
                  <a:srgbClr val="FF0000"/>
                </a:solidFill>
              </a:rPr>
              <a:t>动态识别</a:t>
            </a:r>
            <a:endParaRPr lang="en-US" altLang="zh-CN" sz="1200" smtClean="0">
              <a:solidFill>
                <a:srgbClr val="FF0000"/>
              </a:solidFill>
            </a:endParaRPr>
          </a:p>
          <a:p>
            <a:r>
              <a:rPr lang="zh-CN" altLang="en-US" sz="1200">
                <a:solidFill>
                  <a:srgbClr val="FF0000"/>
                </a:solidFill>
              </a:rPr>
              <a:t>动态</a:t>
            </a:r>
            <a:r>
              <a:rPr lang="zh-CN" altLang="en-US" sz="1200" smtClean="0">
                <a:solidFill>
                  <a:srgbClr val="FF0000"/>
                </a:solidFill>
              </a:rPr>
              <a:t>添加</a:t>
            </a:r>
            <a:endParaRPr lang="zh-CN" altLang="en-US" sz="1200">
              <a:solidFill>
                <a:srgbClr val="FF0000"/>
              </a:solidFill>
            </a:endParaRPr>
          </a:p>
        </p:txBody>
      </p:sp>
    </p:spTree>
    <p:custDataLst>
      <p:tags r:id="rId1"/>
    </p:custDataLst>
    <p:extLst>
      <p:ext uri="{BB962C8B-B14F-4D97-AF65-F5344CB8AC3E}">
        <p14:creationId xmlns:p14="http://schemas.microsoft.com/office/powerpoint/2010/main" val="4024853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2" name="标题 4"/>
          <p:cNvSpPr txBox="1">
            <a:spLocks/>
          </p:cNvSpPr>
          <p:nvPr>
            <p:custDataLst>
              <p:tags r:id="rId2"/>
            </p:custDataLst>
          </p:nvPr>
        </p:nvSpPr>
        <p:spPr>
          <a:xfrm>
            <a:off x="633747" y="101498"/>
            <a:ext cx="6491984"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研究进展情况 </a:t>
            </a:r>
            <a:r>
              <a:rPr lang="en-US" altLang="zh-CN" sz="2800" smtClean="0">
                <a:solidFill>
                  <a:srgbClr val="C00000"/>
                </a:solidFill>
              </a:rPr>
              <a:t>—— </a:t>
            </a:r>
            <a:r>
              <a:rPr lang="zh-CN" altLang="en-US" sz="2800" smtClean="0">
                <a:solidFill>
                  <a:srgbClr val="C00000"/>
                </a:solidFill>
              </a:rPr>
              <a:t>可并行代码段预测</a:t>
            </a:r>
            <a:endParaRPr lang="zh-CN" altLang="en-US" sz="2800" dirty="0">
              <a:solidFill>
                <a:srgbClr val="C00000"/>
              </a:solidFill>
            </a:endParaRPr>
          </a:p>
        </p:txBody>
      </p:sp>
      <p:sp>
        <p:nvSpPr>
          <p:cNvPr id="3" name="文本框 2"/>
          <p:cNvSpPr txBox="1"/>
          <p:nvPr/>
        </p:nvSpPr>
        <p:spPr>
          <a:xfrm>
            <a:off x="633747" y="625713"/>
            <a:ext cx="8315097" cy="1200329"/>
          </a:xfrm>
          <a:prstGeom prst="rect">
            <a:avLst/>
          </a:prstGeom>
          <a:noFill/>
        </p:spPr>
        <p:txBody>
          <a:bodyPr wrap="none" rtlCol="0">
            <a:spAutoFit/>
          </a:bodyPr>
          <a:lstStyle/>
          <a:p>
            <a:r>
              <a:rPr lang="zh-CN" altLang="en-US"/>
              <a:t>模型</a:t>
            </a:r>
            <a:r>
              <a:rPr lang="zh-CN" altLang="en-US" smtClean="0"/>
              <a:t>方面：</a:t>
            </a:r>
            <a:endParaRPr lang="en-US" altLang="zh-CN" smtClean="0"/>
          </a:p>
          <a:p>
            <a:r>
              <a:rPr lang="en-US" altLang="zh-CN"/>
              <a:t>	</a:t>
            </a:r>
            <a:r>
              <a:rPr lang="en-US" altLang="zh-CN" smtClean="0"/>
              <a:t>1</a:t>
            </a:r>
            <a:r>
              <a:rPr lang="zh-CN" altLang="en-US" smtClean="0"/>
              <a:t>、对</a:t>
            </a:r>
            <a:r>
              <a:rPr lang="en-US" altLang="zh-CN" smtClean="0"/>
              <a:t>LSTM</a:t>
            </a:r>
            <a:r>
              <a:rPr lang="zh-CN" altLang="en-US" smtClean="0"/>
              <a:t>相关论文进行了研究</a:t>
            </a:r>
            <a:r>
              <a:rPr lang="en-US" altLang="zh-CN"/>
              <a:t>	</a:t>
            </a:r>
            <a:endParaRPr lang="en-US" altLang="zh-CN" smtClean="0"/>
          </a:p>
          <a:p>
            <a:r>
              <a:rPr lang="en-US" altLang="zh-CN"/>
              <a:t>	</a:t>
            </a:r>
            <a:r>
              <a:rPr lang="en-US" altLang="zh-CN" smtClean="0"/>
              <a:t>2</a:t>
            </a:r>
            <a:r>
              <a:rPr lang="zh-CN" altLang="en-US" smtClean="0"/>
              <a:t>、实现了</a:t>
            </a:r>
            <a:r>
              <a:rPr lang="en-US" altLang="zh-CN" smtClean="0"/>
              <a:t>LSTM</a:t>
            </a:r>
            <a:r>
              <a:rPr lang="zh-CN" altLang="en-US"/>
              <a:t>正</a:t>
            </a:r>
            <a:r>
              <a:rPr lang="zh-CN" altLang="en-US" smtClean="0"/>
              <a:t>向、反向、双向三种形式的模型构建</a:t>
            </a:r>
            <a:endParaRPr lang="en-US" altLang="zh-CN" smtClean="0"/>
          </a:p>
          <a:p>
            <a:r>
              <a:rPr lang="en-US" altLang="zh-CN"/>
              <a:t>	3</a:t>
            </a:r>
            <a:r>
              <a:rPr lang="zh-CN" altLang="en-US" smtClean="0"/>
              <a:t>、基于上章所述数据集，针对</a:t>
            </a:r>
            <a:r>
              <a:rPr lang="en-US" altLang="zh-CN" smtClean="0"/>
              <a:t>LSTM</a:t>
            </a:r>
            <a:r>
              <a:rPr lang="zh-CN" altLang="en-US" smtClean="0"/>
              <a:t>三种形式开展了实验与对比分析</a:t>
            </a:r>
            <a:endParaRPr lang="en-US" altLang="zh-CN" smtClean="0"/>
          </a:p>
        </p:txBody>
      </p:sp>
      <p:graphicFrame>
        <p:nvGraphicFramePr>
          <p:cNvPr id="5" name="表格 4"/>
          <p:cNvGraphicFramePr>
            <a:graphicFrameLocks noGrp="1"/>
          </p:cNvGraphicFramePr>
          <p:nvPr>
            <p:extLst>
              <p:ext uri="{D42A27DB-BD31-4B8C-83A1-F6EECF244321}">
                <p14:modId xmlns:p14="http://schemas.microsoft.com/office/powerpoint/2010/main" val="386124829"/>
              </p:ext>
            </p:extLst>
          </p:nvPr>
        </p:nvGraphicFramePr>
        <p:xfrm>
          <a:off x="1677438" y="2884368"/>
          <a:ext cx="8127999" cy="18796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pPr algn="ctr"/>
                      <a:r>
                        <a:rPr lang="zh-CN" altLang="en-US" smtClean="0"/>
                        <a:t>模型</a:t>
                      </a:r>
                      <a:endParaRPr lang="zh-CN" altLang="en-US"/>
                    </a:p>
                  </a:txBody>
                  <a:tcPr anchor="ctr"/>
                </a:tc>
                <a:tc>
                  <a:txBody>
                    <a:bodyPr/>
                    <a:lstStyle/>
                    <a:p>
                      <a:pPr algn="ctr"/>
                      <a:r>
                        <a:rPr lang="zh-CN" altLang="en-US" smtClean="0"/>
                        <a:t>准确</a:t>
                      </a:r>
                      <a:r>
                        <a:rPr lang="zh-CN" altLang="en-US" smtClean="0"/>
                        <a:t>率</a:t>
                      </a:r>
                      <a:endParaRPr lang="zh-CN" altLang="en-US"/>
                    </a:p>
                  </a:txBody>
                  <a:tcPr anchor="ctr"/>
                </a:tc>
                <a:tc>
                  <a:txBody>
                    <a:bodyPr/>
                    <a:lstStyle/>
                    <a:p>
                      <a:pPr algn="ctr"/>
                      <a:r>
                        <a:rPr lang="zh-CN" altLang="en-US" smtClean="0"/>
                        <a:t>备注</a:t>
                      </a:r>
                      <a:endParaRPr lang="zh-CN" altLang="en-US"/>
                    </a:p>
                  </a:txBody>
                  <a:tcPr anchor="ctr"/>
                </a:tc>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smtClean="0"/>
                        <a:t>LSTM-</a:t>
                      </a:r>
                      <a:r>
                        <a:rPr lang="zh-CN" altLang="en-US" smtClean="0"/>
                        <a:t>正向</a:t>
                      </a:r>
                      <a:endParaRPr lang="en-US" altLang="zh-CN" smtClean="0"/>
                    </a:p>
                    <a:p>
                      <a:pPr marL="0" marR="0" indent="0" algn="ctr" defTabSz="685800" rtl="0" eaLnBrk="1" fontAlgn="auto" latinLnBrk="0" hangingPunct="1">
                        <a:lnSpc>
                          <a:spcPct val="100000"/>
                        </a:lnSpc>
                        <a:spcBef>
                          <a:spcPts val="0"/>
                        </a:spcBef>
                        <a:spcAft>
                          <a:spcPts val="0"/>
                        </a:spcAft>
                        <a:buClrTx/>
                        <a:buSzTx/>
                        <a:buFontTx/>
                        <a:buNone/>
                        <a:tabLst/>
                        <a:defRPr/>
                      </a:pPr>
                      <a:r>
                        <a:rPr lang="zh-CN" altLang="en-US" smtClean="0"/>
                        <a:t>（数据正向输入）</a:t>
                      </a:r>
                      <a:endParaRPr lang="en-US" altLang="zh-CN" smtClean="0"/>
                    </a:p>
                  </a:txBody>
                  <a:tcPr anchor="ctr"/>
                </a:tc>
                <a:tc>
                  <a:txBody>
                    <a:bodyPr/>
                    <a:lstStyle/>
                    <a:p>
                      <a:pPr algn="ctr"/>
                      <a:r>
                        <a:rPr lang="en-US" altLang="zh-CN" smtClean="0"/>
                        <a:t>67.22%</a:t>
                      </a:r>
                      <a:endParaRPr lang="zh-CN" altLang="en-US"/>
                    </a:p>
                  </a:txBody>
                  <a:tcPr anchor="ctr"/>
                </a:tc>
                <a:tc rowSpan="3">
                  <a:txBody>
                    <a:bodyPr/>
                    <a:lstStyle/>
                    <a:p>
                      <a:pPr algn="l"/>
                      <a:r>
                        <a:rPr lang="zh-CN" altLang="en-US" smtClean="0"/>
                        <a:t>迭代次数：</a:t>
                      </a:r>
                      <a:r>
                        <a:rPr lang="en-US" altLang="zh-CN" smtClean="0"/>
                        <a:t>500</a:t>
                      </a:r>
                    </a:p>
                    <a:p>
                      <a:pPr algn="l"/>
                      <a:r>
                        <a:rPr lang="zh-CN" altLang="en-US" smtClean="0"/>
                        <a:t>准确率：模型训练</a:t>
                      </a:r>
                      <a:r>
                        <a:rPr lang="en-US" altLang="zh-CN" smtClean="0"/>
                        <a:t>100</a:t>
                      </a:r>
                      <a:r>
                        <a:rPr lang="zh-CN" altLang="en-US" smtClean="0"/>
                        <a:t>次，基于同    一测试集预测并求均</a:t>
                      </a:r>
                      <a:r>
                        <a:rPr lang="zh-CN" altLang="en-US" smtClean="0"/>
                        <a:t>值</a:t>
                      </a:r>
                      <a:endParaRPr lang="en-US" altLang="zh-CN" smtClean="0"/>
                    </a:p>
                  </a:txBody>
                  <a:tcPr anchor="ctr"/>
                </a:tc>
              </a:tr>
              <a:tr h="370840">
                <a:tc>
                  <a:txBody>
                    <a:bodyPr/>
                    <a:lstStyle/>
                    <a:p>
                      <a:pPr algn="ctr"/>
                      <a:r>
                        <a:rPr lang="en-US" altLang="zh-CN" smtClean="0"/>
                        <a:t>LSTM-</a:t>
                      </a:r>
                      <a:r>
                        <a:rPr lang="zh-CN" altLang="en-US" smtClean="0"/>
                        <a:t>反向</a:t>
                      </a:r>
                      <a:endParaRPr lang="en-US" altLang="zh-CN" smtClean="0"/>
                    </a:p>
                    <a:p>
                      <a:pPr algn="ctr"/>
                      <a:r>
                        <a:rPr lang="zh-CN" altLang="en-US" smtClean="0"/>
                        <a:t>（数据反向输入）</a:t>
                      </a:r>
                      <a:endParaRPr lang="en-US" altLang="zh-CN" smtClean="0"/>
                    </a:p>
                  </a:txBody>
                  <a:tcPr anchor="ctr"/>
                </a:tc>
                <a:tc>
                  <a:txBody>
                    <a:bodyPr/>
                    <a:lstStyle/>
                    <a:p>
                      <a:pPr algn="ctr"/>
                      <a:r>
                        <a:rPr lang="en-US" altLang="zh-CN" smtClean="0"/>
                        <a:t>70.07%</a:t>
                      </a:r>
                      <a:endParaRPr lang="zh-CN" altLang="en-US"/>
                    </a:p>
                  </a:txBody>
                  <a:tcPr anchor="ctr"/>
                </a:tc>
                <a:tc vMerge="1">
                  <a:txBody>
                    <a:bodyPr/>
                    <a:lstStyle/>
                    <a:p>
                      <a:pPr algn="ctr"/>
                      <a:endParaRPr lang="zh-CN" altLang="en-US"/>
                    </a:p>
                  </a:txBody>
                  <a:tcPr anchor="ctr"/>
                </a:tc>
              </a:tr>
              <a:tr h="370840">
                <a:tc>
                  <a:txBody>
                    <a:bodyPr/>
                    <a:lstStyle/>
                    <a:p>
                      <a:pPr algn="ctr"/>
                      <a:r>
                        <a:rPr lang="en-US" altLang="zh-CN" smtClean="0"/>
                        <a:t>LSTM-</a:t>
                      </a:r>
                      <a:r>
                        <a:rPr lang="zh-CN" altLang="en-US" smtClean="0"/>
                        <a:t>双向</a:t>
                      </a:r>
                      <a:endParaRPr lang="en-US" altLang="zh-CN" smtClean="0"/>
                    </a:p>
                    <a:p>
                      <a:pPr algn="ctr"/>
                      <a:r>
                        <a:rPr lang="zh-CN" altLang="en-US" smtClean="0"/>
                        <a:t>（数据正向输入，包含上下文）</a:t>
                      </a:r>
                      <a:endParaRPr lang="zh-CN" altLang="en-US"/>
                    </a:p>
                  </a:txBody>
                  <a:tcPr anchor="ctr"/>
                </a:tc>
                <a:tc>
                  <a:txBody>
                    <a:bodyPr/>
                    <a:lstStyle/>
                    <a:p>
                      <a:pPr algn="ctr"/>
                      <a:r>
                        <a:rPr lang="en-US" altLang="zh-CN" smtClean="0"/>
                        <a:t>74.78%</a:t>
                      </a:r>
                      <a:endParaRPr lang="zh-CN" altLang="en-US"/>
                    </a:p>
                  </a:txBody>
                  <a:tcPr anchor="ctr"/>
                </a:tc>
                <a:tc vMerge="1">
                  <a:txBody>
                    <a:bodyPr/>
                    <a:lstStyle/>
                    <a:p>
                      <a:pPr algn="ctr"/>
                      <a:endParaRPr lang="zh-CN" altLang="en-US"/>
                    </a:p>
                  </a:txBody>
                  <a:tcPr anchor="ctr"/>
                </a:tc>
              </a:tr>
            </a:tbl>
          </a:graphicData>
        </a:graphic>
      </p:graphicFrame>
    </p:spTree>
    <p:custDataLst>
      <p:tags r:id="rId1"/>
    </p:custDataLst>
    <p:extLst>
      <p:ext uri="{BB962C8B-B14F-4D97-AF65-F5344CB8AC3E}">
        <p14:creationId xmlns:p14="http://schemas.microsoft.com/office/powerpoint/2010/main" val="36787639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37" name="标题 4"/>
          <p:cNvSpPr txBox="1">
            <a:spLocks/>
          </p:cNvSpPr>
          <p:nvPr>
            <p:custDataLst>
              <p:tags r:id="rId2"/>
            </p:custDataLst>
          </p:nvPr>
        </p:nvSpPr>
        <p:spPr>
          <a:xfrm>
            <a:off x="633747" y="101498"/>
            <a:ext cx="3582476" cy="417830"/>
          </a:xfrm>
          <a:prstGeom prst="rect">
            <a:avLst/>
          </a:prstGeom>
        </p:spPr>
        <p:txBody>
          <a:bodyPr vert="horz" lIns="0" tIns="0" rIns="0" bIns="0" rtlCol="0" anchor="ctr" anchorCtr="1">
            <a:noAutofit/>
          </a:bodyPr>
          <a:lstStyle>
            <a:lvl1pPr algn="l" defTabSz="685800" rtl="0" eaLnBrk="1" latinLnBrk="0" hangingPunct="1">
              <a:lnSpc>
                <a:spcPct val="120000"/>
              </a:lnSpc>
              <a:spcBef>
                <a:spcPct val="0"/>
              </a:spcBef>
              <a:buNone/>
              <a:defRPr sz="3200" kern="1200">
                <a:solidFill>
                  <a:schemeClr val="tx1">
                    <a:lumMod val="75000"/>
                    <a:lumOff val="25000"/>
                  </a:schemeClr>
                </a:solidFill>
                <a:latin typeface="+mj-lt"/>
                <a:ea typeface="+mj-ea"/>
                <a:cs typeface="+mj-cs"/>
              </a:defRPr>
            </a:lvl1pPr>
          </a:lstStyle>
          <a:p>
            <a:r>
              <a:rPr lang="zh-CN" altLang="en-US" sz="2800" smtClean="0">
                <a:solidFill>
                  <a:srgbClr val="C00000"/>
                </a:solidFill>
              </a:rPr>
              <a:t>存在的问题与困难</a:t>
            </a:r>
            <a:endParaRPr lang="zh-CN" altLang="en-US" sz="2800" dirty="0">
              <a:solidFill>
                <a:srgbClr val="C00000"/>
              </a:solidFill>
            </a:endParaRPr>
          </a:p>
        </p:txBody>
      </p:sp>
      <p:sp>
        <p:nvSpPr>
          <p:cNvPr id="43" name="文本框 42"/>
          <p:cNvSpPr txBox="1"/>
          <p:nvPr/>
        </p:nvSpPr>
        <p:spPr>
          <a:xfrm>
            <a:off x="633747" y="995045"/>
            <a:ext cx="8643620" cy="1938992"/>
          </a:xfrm>
          <a:prstGeom prst="rect">
            <a:avLst/>
          </a:prstGeom>
          <a:noFill/>
          <a:ln w="9525">
            <a:noFill/>
          </a:ln>
        </p:spPr>
        <p:txBody>
          <a:bodyPr wrap="square">
            <a:spAutoFit/>
          </a:bodyPr>
          <a:lstStyle/>
          <a:p>
            <a:pPr marL="342900" indent="-342900">
              <a:lnSpc>
                <a:spcPct val="200000"/>
              </a:lnSpc>
              <a:buClr>
                <a:srgbClr val="C00000"/>
              </a:buClr>
              <a:buFont typeface="Wingdings" panose="05000000000000000000" charset="0"/>
              <a:buChar char="Ø"/>
            </a:pPr>
            <a:r>
              <a:rPr lang="en-US" altLang="zh-CN" sz="2000" b="0" smtClean="0">
                <a:solidFill>
                  <a:srgbClr val="212121"/>
                </a:solidFill>
                <a:latin typeface="黑体" panose="02010609060101010101" charset="-122"/>
                <a:ea typeface="黑体" panose="02010609060101010101" charset="-122"/>
              </a:rPr>
              <a:t>XML</a:t>
            </a:r>
            <a:r>
              <a:rPr lang="zh-CN" altLang="en-US" sz="2000" b="0" smtClean="0">
                <a:solidFill>
                  <a:srgbClr val="212121"/>
                </a:solidFill>
                <a:latin typeface="黑体" panose="02010609060101010101" charset="-122"/>
                <a:ea typeface="黑体" panose="02010609060101010101" charset="-122"/>
              </a:rPr>
              <a:t>标签部分结构使用起来不够简便，仍需改进与调整</a:t>
            </a:r>
            <a:endParaRPr lang="en-US" altLang="zh-CN" sz="2000" b="0" smtClean="0">
              <a:solidFill>
                <a:srgbClr val="212121"/>
              </a:solidFill>
              <a:latin typeface="黑体" panose="02010609060101010101" charset="-122"/>
              <a:ea typeface="黑体" panose="02010609060101010101" charset="-122"/>
            </a:endParaRPr>
          </a:p>
          <a:p>
            <a:pPr marL="342900" indent="-342900">
              <a:lnSpc>
                <a:spcPct val="200000"/>
              </a:lnSpc>
              <a:buClr>
                <a:srgbClr val="C00000"/>
              </a:buClr>
              <a:buFont typeface="Wingdings" panose="05000000000000000000" charset="0"/>
              <a:buChar char="Ø"/>
            </a:pPr>
            <a:r>
              <a:rPr lang="en-US" altLang="zh-CN" sz="2000" b="0" smtClean="0">
                <a:solidFill>
                  <a:srgbClr val="212121"/>
                </a:solidFill>
                <a:latin typeface="黑体" panose="02010609060101010101" charset="-122"/>
                <a:ea typeface="黑体" panose="02010609060101010101" charset="-122"/>
              </a:rPr>
              <a:t>LSTM</a:t>
            </a:r>
            <a:r>
              <a:rPr lang="zh-CN" altLang="en-US" sz="2000" b="0" smtClean="0">
                <a:solidFill>
                  <a:srgbClr val="212121"/>
                </a:solidFill>
                <a:latin typeface="黑体" panose="02010609060101010101" charset="-122"/>
                <a:ea typeface="黑体" panose="02010609060101010101" charset="-122"/>
              </a:rPr>
              <a:t>模型在本研究的数据集上表</a:t>
            </a:r>
            <a:r>
              <a:rPr lang="zh-CN" altLang="en-US" sz="2000" b="0" smtClean="0">
                <a:solidFill>
                  <a:srgbClr val="212121"/>
                </a:solidFill>
                <a:latin typeface="黑体" panose="02010609060101010101" charset="-122"/>
                <a:ea typeface="黑体" panose="02010609060101010101" charset="-122"/>
              </a:rPr>
              <a:t>现</a:t>
            </a:r>
            <a:r>
              <a:rPr lang="zh-CN" altLang="en-US" sz="2000">
                <a:solidFill>
                  <a:srgbClr val="212121"/>
                </a:solidFill>
                <a:latin typeface="黑体" panose="02010609060101010101" charset="-122"/>
                <a:ea typeface="黑体" panose="02010609060101010101" charset="-122"/>
              </a:rPr>
              <a:t>欠佳</a:t>
            </a:r>
            <a:r>
              <a:rPr lang="zh-CN" altLang="en-US" sz="2000" b="0" smtClean="0">
                <a:solidFill>
                  <a:srgbClr val="212121"/>
                </a:solidFill>
                <a:latin typeface="黑体" panose="02010609060101010101" charset="-122"/>
                <a:ea typeface="黑体" panose="02010609060101010101" charset="-122"/>
              </a:rPr>
              <a:t>，</a:t>
            </a:r>
            <a:r>
              <a:rPr lang="zh-CN" altLang="en-US" sz="2000" b="0" smtClean="0">
                <a:solidFill>
                  <a:srgbClr val="212121"/>
                </a:solidFill>
                <a:latin typeface="黑体" panose="02010609060101010101" charset="-122"/>
                <a:ea typeface="黑体" panose="02010609060101010101" charset="-122"/>
              </a:rPr>
              <a:t>模型方面需要更多尝试与比较</a:t>
            </a:r>
            <a:endParaRPr lang="en-US" altLang="zh-CN" sz="2000" b="0" smtClean="0">
              <a:solidFill>
                <a:srgbClr val="212121"/>
              </a:solidFill>
              <a:latin typeface="黑体" panose="02010609060101010101" charset="-122"/>
              <a:ea typeface="黑体" panose="02010609060101010101" charset="-122"/>
            </a:endParaRPr>
          </a:p>
          <a:p>
            <a:pPr marL="342900" indent="-342900">
              <a:lnSpc>
                <a:spcPct val="200000"/>
              </a:lnSpc>
              <a:buClr>
                <a:srgbClr val="C00000"/>
              </a:buClr>
              <a:buFont typeface="Wingdings" panose="05000000000000000000" charset="0"/>
              <a:buChar char="Ø"/>
            </a:pPr>
            <a:r>
              <a:rPr lang="zh-CN" altLang="en-US" sz="2000">
                <a:solidFill>
                  <a:srgbClr val="212121"/>
                </a:solidFill>
                <a:latin typeface="黑体" panose="02010609060101010101" charset="-122"/>
                <a:ea typeface="黑体" panose="02010609060101010101" charset="-122"/>
                <a:sym typeface="+mn-ea"/>
              </a:rPr>
              <a:t>代</a:t>
            </a:r>
            <a:r>
              <a:rPr lang="zh-CN" altLang="en-US" sz="2000" smtClean="0">
                <a:solidFill>
                  <a:srgbClr val="212121"/>
                </a:solidFill>
                <a:latin typeface="黑体" panose="02010609060101010101" charset="-122"/>
                <a:ea typeface="黑体" panose="02010609060101010101" charset="-122"/>
                <a:sym typeface="+mn-ea"/>
              </a:rPr>
              <a:t>码向量化方式采用传统词袋模型是影响模型表现的主要因素之一</a:t>
            </a:r>
            <a:endParaRPr lang="en-US" altLang="zh-CN" sz="2000" smtClean="0">
              <a:solidFill>
                <a:srgbClr val="212121"/>
              </a:solidFill>
              <a:latin typeface="黑体" panose="02010609060101010101" charset="-122"/>
              <a:ea typeface="黑体" panose="02010609060101010101" charset="-122"/>
              <a:sym typeface="+mn-ea"/>
            </a:endParaRPr>
          </a:p>
        </p:txBody>
      </p:sp>
    </p:spTree>
    <p:custDataLst>
      <p:tags r:id="rId1"/>
    </p:custData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539349" y="98725"/>
            <a:ext cx="2857500" cy="417830"/>
          </a:xfrm>
        </p:spPr>
        <p:txBody>
          <a:bodyPr lIns="0" tIns="0" rIns="0" bIns="0" anchor="ctr" anchorCtr="1">
            <a:noAutofit/>
          </a:bodyPr>
          <a:lstStyle/>
          <a:p>
            <a:r>
              <a:rPr lang="zh-CN" altLang="en-US" sz="2800" smtClean="0">
                <a:solidFill>
                  <a:srgbClr val="C00000"/>
                </a:solidFill>
              </a:rPr>
              <a:t>后续研究计划</a:t>
            </a:r>
            <a:endParaRPr lang="zh-CN" altLang="en-US" sz="2800" dirty="0">
              <a:solidFill>
                <a:srgbClr val="C00000"/>
              </a:solidFill>
            </a:endParaRP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6" name="文本框 5"/>
          <p:cNvSpPr txBox="1"/>
          <p:nvPr/>
        </p:nvSpPr>
        <p:spPr>
          <a:xfrm>
            <a:off x="532765" y="799106"/>
            <a:ext cx="8853706" cy="1338828"/>
          </a:xfrm>
          <a:prstGeom prst="rect">
            <a:avLst/>
          </a:prstGeom>
          <a:noFill/>
        </p:spPr>
        <p:txBody>
          <a:bodyPr wrap="none" rtlCol="0">
            <a:spAutoFit/>
          </a:bodyPr>
          <a:lstStyle/>
          <a:p>
            <a:pPr>
              <a:lnSpc>
                <a:spcPct val="150000"/>
              </a:lnSpc>
            </a:pPr>
            <a:r>
              <a:rPr lang="en-US" altLang="zh-CN" smtClean="0"/>
              <a:t>1</a:t>
            </a:r>
            <a:r>
              <a:rPr lang="zh-CN" altLang="en-US" smtClean="0"/>
              <a:t>、对</a:t>
            </a:r>
            <a:r>
              <a:rPr lang="en-US" altLang="zh-CN" smtClean="0"/>
              <a:t>XML</a:t>
            </a:r>
            <a:r>
              <a:rPr lang="zh-CN" altLang="en-US" smtClean="0"/>
              <a:t>部分标签进行简化，提高代码可读性</a:t>
            </a:r>
            <a:endParaRPr lang="en-US" altLang="zh-CN" smtClean="0"/>
          </a:p>
          <a:p>
            <a:pPr>
              <a:lnSpc>
                <a:spcPct val="150000"/>
              </a:lnSpc>
            </a:pPr>
            <a:endParaRPr lang="en-US" altLang="zh-CN" smtClean="0"/>
          </a:p>
          <a:p>
            <a:pPr>
              <a:lnSpc>
                <a:spcPct val="150000"/>
              </a:lnSpc>
            </a:pPr>
            <a:r>
              <a:rPr lang="en-US" altLang="zh-CN" smtClean="0"/>
              <a:t>2</a:t>
            </a:r>
            <a:r>
              <a:rPr lang="zh-CN" altLang="en-US" smtClean="0"/>
              <a:t>、</a:t>
            </a:r>
            <a:r>
              <a:rPr lang="zh-CN" altLang="en-US"/>
              <a:t>参考以下论文及后续相关文献，实现并改善其方法，用于数据预处理及模型训</a:t>
            </a:r>
            <a:r>
              <a:rPr lang="zh-CN" altLang="en-US" smtClean="0"/>
              <a:t>练：</a:t>
            </a:r>
            <a:endParaRPr lang="zh-CN" altLang="en-US"/>
          </a:p>
        </p:txBody>
      </p:sp>
      <p:graphicFrame>
        <p:nvGraphicFramePr>
          <p:cNvPr id="16" name="表格 15"/>
          <p:cNvGraphicFramePr/>
          <p:nvPr>
            <p:extLst>
              <p:ext uri="{D42A27DB-BD31-4B8C-83A1-F6EECF244321}">
                <p14:modId xmlns:p14="http://schemas.microsoft.com/office/powerpoint/2010/main" val="3491986991"/>
              </p:ext>
            </p:extLst>
          </p:nvPr>
        </p:nvGraphicFramePr>
        <p:xfrm>
          <a:off x="539349" y="3063070"/>
          <a:ext cx="10133330" cy="2011006"/>
        </p:xfrm>
        <a:graphic>
          <a:graphicData uri="http://schemas.openxmlformats.org/drawingml/2006/table">
            <a:tbl>
              <a:tblPr firstRow="1" bandRow="1">
                <a:tableStyleId>{ED083AE6-46FA-4A59-8FB0-9F97EB10719F}</a:tableStyleId>
              </a:tblPr>
              <a:tblGrid>
                <a:gridCol w="1930400"/>
                <a:gridCol w="612775"/>
                <a:gridCol w="4211955"/>
                <a:gridCol w="3378200"/>
              </a:tblGrid>
              <a:tr h="352024">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U. Alon, O. Levy, E. Yahav</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smtClean="0">
                          <a:solidFill>
                            <a:srgbClr val="0070C0"/>
                          </a:solidFill>
                        </a:rPr>
                        <a:t>2019</a:t>
                      </a:r>
                      <a:endParaRPr lang="en-US" altLang="zh-CN">
                        <a:solidFill>
                          <a:srgbClr val="0070C0"/>
                        </a:solidFill>
                      </a:endParaRPr>
                    </a:p>
                  </a:txBody>
                  <a:tcPr anchor="ctr"/>
                </a:tc>
                <a:tc>
                  <a:txBody>
                    <a:bodyPr/>
                    <a:lstStyle/>
                    <a:p>
                      <a:pPr>
                        <a:buNone/>
                      </a:pPr>
                      <a:r>
                        <a:rPr lang="en-US" altLang="zh-CN" sz="1350" b="0" i="0" u="none" strike="noStrike" kern="1200" smtClean="0">
                          <a:solidFill>
                            <a:schemeClr val="tx1"/>
                          </a:solidFill>
                          <a:effectLst/>
                          <a:latin typeface="+mn-lt"/>
                          <a:ea typeface="+mn-ea"/>
                          <a:cs typeface="+mn-cs"/>
                        </a:rPr>
                        <a:t>code2vec: Learning Distributed Representations of Code</a:t>
                      </a:r>
                      <a:endParaRPr lang="zh-CN" altLang="en-US" b="1"/>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350" b="0" i="0" kern="1200" smtClean="0">
                          <a:solidFill>
                            <a:schemeClr val="tx1"/>
                          </a:solidFill>
                          <a:effectLst/>
                          <a:latin typeface="+mn-lt"/>
                          <a:ea typeface="+mn-ea"/>
                          <a:cs typeface="+mn-cs"/>
                        </a:rPr>
                        <a:t>基于</a:t>
                      </a:r>
                      <a:r>
                        <a:rPr lang="en-US" altLang="zh-CN" sz="1350" b="0" i="0" kern="1200" smtClean="0">
                          <a:solidFill>
                            <a:schemeClr val="tx1"/>
                          </a:solidFill>
                          <a:effectLst/>
                          <a:latin typeface="+mn-lt"/>
                          <a:ea typeface="+mn-ea"/>
                          <a:cs typeface="+mn-cs"/>
                        </a:rPr>
                        <a:t>AST</a:t>
                      </a:r>
                      <a:r>
                        <a:rPr lang="zh-CN" altLang="en-US" sz="1350" b="0" i="0" kern="1200" smtClean="0">
                          <a:solidFill>
                            <a:schemeClr val="tx1"/>
                          </a:solidFill>
                          <a:effectLst/>
                          <a:latin typeface="+mn-lt"/>
                          <a:ea typeface="+mn-ea"/>
                          <a:cs typeface="+mn-cs"/>
                        </a:rPr>
                        <a:t>语法树生成代码向量</a:t>
                      </a:r>
                      <a:endParaRPr lang="zh-CN" altLang="en-US" sz="1350" kern="1200">
                        <a:solidFill>
                          <a:srgbClr val="C00000"/>
                        </a:solidFill>
                        <a:latin typeface="+mn-lt"/>
                        <a:ea typeface="+mn-ea"/>
                        <a:cs typeface="+mn-cs"/>
                      </a:endParaRPr>
                    </a:p>
                  </a:txBody>
                  <a:tcPr anchor="ctr"/>
                </a:tc>
              </a:tr>
              <a:tr h="502246">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Z. Chen, M. onperrus</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2019</a:t>
                      </a:r>
                      <a:endParaRPr lang="en-US" altLang="zh-CN" b="1">
                        <a:solidFill>
                          <a:srgbClr val="0070C0"/>
                        </a:solidFill>
                      </a:endParaRPr>
                    </a:p>
                  </a:txBody>
                  <a:tcPr anchor="ctr"/>
                </a:tc>
                <a:tc>
                  <a:txBody>
                    <a:bodyPr/>
                    <a:lstStyle/>
                    <a:p>
                      <a:pPr>
                        <a:buNone/>
                      </a:pPr>
                      <a:r>
                        <a:rPr lang="en-US" altLang="zh-CN" sz="1350" b="0" i="0" u="none" strike="noStrike" kern="1200" smtClean="0">
                          <a:solidFill>
                            <a:schemeClr val="tx1"/>
                          </a:solidFill>
                          <a:effectLst/>
                          <a:latin typeface="+mn-lt"/>
                          <a:ea typeface="+mn-ea"/>
                          <a:cs typeface="+mn-cs"/>
                        </a:rPr>
                        <a:t>A Literature Study of Embeddings on Source Code</a:t>
                      </a:r>
                      <a:endParaRPr lang="zh-CN" altLang="en-US" b="1"/>
                    </a:p>
                  </a:txBody>
                  <a:tcPr anchor="ctr"/>
                </a:tc>
                <a:tc>
                  <a:txBody>
                    <a:bodyPr/>
                    <a:lstStyle/>
                    <a:p>
                      <a:pPr>
                        <a:buNone/>
                      </a:pPr>
                      <a:r>
                        <a:rPr lang="zh-CN" altLang="en-US" smtClean="0">
                          <a:solidFill>
                            <a:srgbClr val="C00000"/>
                          </a:solidFill>
                        </a:rPr>
                        <a:t>源代码向量化</a:t>
                      </a:r>
                      <a:endParaRPr lang="zh-CN" altLang="en-US">
                        <a:solidFill>
                          <a:srgbClr val="C00000"/>
                        </a:solidFill>
                      </a:endParaRPr>
                    </a:p>
                  </a:txBody>
                  <a:tcPr anchor="ctr"/>
                </a:tc>
              </a:tr>
              <a:tr h="502246">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U. Alon, O. Levy, E. Yahav</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2019</a:t>
                      </a:r>
                      <a:endParaRPr lang="en-US" altLang="zh-CN" b="1">
                        <a:solidFill>
                          <a:srgbClr val="0070C0"/>
                        </a:solidFill>
                      </a:endParaRPr>
                    </a:p>
                  </a:txBody>
                  <a:tcPr anchor="ctr"/>
                </a:tc>
                <a:tc>
                  <a:txBody>
                    <a:bodyPr/>
                    <a:lstStyle/>
                    <a:p>
                      <a:pPr>
                        <a:buNone/>
                      </a:pPr>
                      <a:r>
                        <a:rPr lang="en-US" altLang="zh-CN" sz="1350" b="0" i="0" u="none" strike="noStrike" kern="1200" smtClean="0">
                          <a:solidFill>
                            <a:schemeClr val="tx1"/>
                          </a:solidFill>
                          <a:effectLst/>
                          <a:latin typeface="+mn-lt"/>
                          <a:ea typeface="+mn-ea"/>
                          <a:cs typeface="+mn-cs"/>
                        </a:rPr>
                        <a:t>code2seq: Generating Sequences from Structured Representations of Code</a:t>
                      </a:r>
                      <a:endParaRPr lang="zh-CN" altLang="en-US" b="1"/>
                    </a:p>
                  </a:txBody>
                  <a:tcPr anchor="ctr"/>
                </a:tc>
                <a:tc>
                  <a:txBody>
                    <a:bodyPr/>
                    <a:lstStyle/>
                    <a:p>
                      <a:pPr>
                        <a:buNone/>
                      </a:pPr>
                      <a:r>
                        <a:rPr lang="zh-CN" altLang="en-US" smtClean="0">
                          <a:solidFill>
                            <a:srgbClr val="C00000"/>
                          </a:solidFill>
                        </a:rPr>
                        <a:t>由代码生成自然语言</a:t>
                      </a:r>
                      <a:endParaRPr lang="en-US" altLang="zh-CN" smtClean="0">
                        <a:solidFill>
                          <a:srgbClr val="C00000"/>
                        </a:solidFill>
                      </a:endParaRPr>
                    </a:p>
                  </a:txBody>
                  <a:tcPr anchor="ctr"/>
                </a:tc>
              </a:tr>
              <a:tr h="502246">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Chen Z , M.onperrus  </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2019</a:t>
                      </a:r>
                      <a:endParaRPr lang="en-US" altLang="zh-CN" b="1">
                        <a:solidFill>
                          <a:srgbClr val="0070C0"/>
                        </a:solidFill>
                      </a:endParaRPr>
                    </a:p>
                  </a:txBody>
                  <a:tcPr anchor="ctr"/>
                </a:tc>
                <a:tc>
                  <a:txBody>
                    <a:bodyPr/>
                    <a:lstStyle/>
                    <a:p>
                      <a:pPr>
                        <a:buNone/>
                      </a:pPr>
                      <a:r>
                        <a:rPr lang="en-US" altLang="zh-CN" sz="1350" b="0" i="0" kern="1200" smtClean="0">
                          <a:solidFill>
                            <a:schemeClr val="tx1"/>
                          </a:solidFill>
                          <a:effectLst/>
                          <a:latin typeface="+mn-lt"/>
                          <a:ea typeface="+mn-ea"/>
                          <a:cs typeface="+mn-cs"/>
                        </a:rPr>
                        <a:t>A Literature Study of Embeddings on Source Code[J]. 2019.</a:t>
                      </a:r>
                      <a:endParaRPr lang="zh-CN" altLang="en-US" b="1"/>
                    </a:p>
                  </a:txBody>
                  <a:tcPr anchor="ctr"/>
                </a:tc>
                <a:tc>
                  <a:txBody>
                    <a:bodyPr/>
                    <a:lstStyle/>
                    <a:p>
                      <a:pPr>
                        <a:buNone/>
                      </a:pPr>
                      <a:r>
                        <a:rPr lang="zh-CN" altLang="en-US" sz="1350" b="0" i="0" kern="1200" smtClean="0">
                          <a:solidFill>
                            <a:schemeClr val="tx1"/>
                          </a:solidFill>
                          <a:effectLst/>
                          <a:latin typeface="+mn-lt"/>
                          <a:ea typeface="+mn-ea"/>
                          <a:cs typeface="+mn-cs"/>
                        </a:rPr>
                        <a:t>回顾了几十种最近生成代码向量的方法</a:t>
                      </a:r>
                      <a:endParaRPr lang="en-US" altLang="zh-CN" smtClean="0">
                        <a:solidFill>
                          <a:srgbClr val="C00000"/>
                        </a:solidFill>
                      </a:endParaRPr>
                    </a:p>
                  </a:txBody>
                  <a:tcPr anchor="ctr"/>
                </a:tc>
              </a:tr>
            </a:tbl>
          </a:graphicData>
        </a:graphic>
      </p:graphicFrame>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539349" y="98725"/>
            <a:ext cx="2857500" cy="417830"/>
          </a:xfrm>
        </p:spPr>
        <p:txBody>
          <a:bodyPr lIns="0" tIns="0" rIns="0" bIns="0" anchor="ctr" anchorCtr="1">
            <a:noAutofit/>
          </a:bodyPr>
          <a:lstStyle/>
          <a:p>
            <a:r>
              <a:rPr lang="zh-CN" altLang="en-US" sz="2800" smtClean="0">
                <a:solidFill>
                  <a:srgbClr val="C00000"/>
                </a:solidFill>
              </a:rPr>
              <a:t>后续研究计划</a:t>
            </a:r>
            <a:endParaRPr lang="zh-CN" altLang="en-US" sz="2800" dirty="0">
              <a:solidFill>
                <a:srgbClr val="C00000"/>
              </a:solidFill>
            </a:endParaRPr>
          </a:p>
        </p:txBody>
      </p:sp>
      <p:grpSp>
        <p:nvGrpSpPr>
          <p:cNvPr id="21506" name="组合 7"/>
          <p:cNvGrpSpPr/>
          <p:nvPr/>
        </p:nvGrpSpPr>
        <p:grpSpPr>
          <a:xfrm>
            <a:off x="166370" y="208280"/>
            <a:ext cx="366395" cy="193040"/>
            <a:chOff x="1990725" y="838200"/>
            <a:chExt cx="295275" cy="142875"/>
          </a:xfrm>
        </p:grpSpPr>
        <p:cxnSp>
          <p:nvCxnSpPr>
            <p:cNvPr id="4" name="直接连接符 3"/>
            <p:cNvCxnSpPr/>
            <p:nvPr>
              <p:custDataLst>
                <p:tags r:id="rId3"/>
              </p:custDataLst>
            </p:nvPr>
          </p:nvCxnSpPr>
          <p:spPr>
            <a:xfrm>
              <a:off x="1990725" y="838200"/>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1990725" y="909637"/>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5"/>
              </p:custDataLst>
            </p:nvPr>
          </p:nvCxnSpPr>
          <p:spPr>
            <a:xfrm>
              <a:off x="1990725" y="981075"/>
              <a:ext cx="2952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7" name="图片 86" descr="timg"/>
          <p:cNvPicPr>
            <a:picLocks noChangeAspect="1"/>
          </p:cNvPicPr>
          <p:nvPr/>
        </p:nvPicPr>
        <p:blipFill>
          <a:blip r:embed="rId8"/>
          <a:stretch>
            <a:fillRect/>
          </a:stretch>
        </p:blipFill>
        <p:spPr>
          <a:xfrm>
            <a:off x="9907270" y="2540"/>
            <a:ext cx="2282190" cy="992505"/>
          </a:xfrm>
          <a:prstGeom prst="rect">
            <a:avLst/>
          </a:prstGeom>
        </p:spPr>
      </p:pic>
      <p:sp>
        <p:nvSpPr>
          <p:cNvPr id="14" name="文本框 13"/>
          <p:cNvSpPr txBox="1"/>
          <p:nvPr/>
        </p:nvSpPr>
        <p:spPr>
          <a:xfrm>
            <a:off x="532765" y="1031704"/>
            <a:ext cx="7468711" cy="369332"/>
          </a:xfrm>
          <a:prstGeom prst="rect">
            <a:avLst/>
          </a:prstGeom>
          <a:noFill/>
        </p:spPr>
        <p:txBody>
          <a:bodyPr wrap="none" rtlCol="0">
            <a:spAutoFit/>
          </a:bodyPr>
          <a:lstStyle/>
          <a:p>
            <a:r>
              <a:rPr lang="en-US" altLang="zh-CN"/>
              <a:t>3</a:t>
            </a:r>
            <a:r>
              <a:rPr lang="zh-CN" altLang="en-US" smtClean="0"/>
              <a:t>、</a:t>
            </a:r>
            <a:r>
              <a:rPr lang="zh-CN" altLang="en-US"/>
              <a:t>主要参考以下论文及后续相关文献，改进模型结构，优化预测表现</a:t>
            </a:r>
            <a:r>
              <a:rPr lang="zh-CN" altLang="en-US" smtClean="0"/>
              <a:t>：</a:t>
            </a:r>
            <a:endParaRPr lang="zh-CN" altLang="en-US"/>
          </a:p>
        </p:txBody>
      </p:sp>
      <p:graphicFrame>
        <p:nvGraphicFramePr>
          <p:cNvPr id="12" name="表格 11"/>
          <p:cNvGraphicFramePr/>
          <p:nvPr>
            <p:extLst>
              <p:ext uri="{D42A27DB-BD31-4B8C-83A1-F6EECF244321}">
                <p14:modId xmlns:p14="http://schemas.microsoft.com/office/powerpoint/2010/main" val="2423965156"/>
              </p:ext>
            </p:extLst>
          </p:nvPr>
        </p:nvGraphicFramePr>
        <p:xfrm>
          <a:off x="602312" y="1786021"/>
          <a:ext cx="10133330" cy="3223260"/>
        </p:xfrm>
        <a:graphic>
          <a:graphicData uri="http://schemas.openxmlformats.org/drawingml/2006/table">
            <a:tbl>
              <a:tblPr firstRow="1" bandRow="1">
                <a:tableStyleId>{ED083AE6-46FA-4A59-8FB0-9F97EB10719F}</a:tableStyleId>
              </a:tblPr>
              <a:tblGrid>
                <a:gridCol w="1930400"/>
                <a:gridCol w="612775"/>
                <a:gridCol w="4211955"/>
                <a:gridCol w="3378200"/>
              </a:tblGrid>
              <a:tr h="352024">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sz="1350" b="0" i="0" kern="1200" smtClean="0">
                          <a:solidFill>
                            <a:schemeClr val="tx1"/>
                          </a:solidFill>
                          <a:effectLst/>
                          <a:latin typeface="+mn-lt"/>
                          <a:ea typeface="+mn-ea"/>
                          <a:cs typeface="+mn-cs"/>
                        </a:rPr>
                        <a:t>Cheng et al.</a:t>
                      </a:r>
                      <a:endParaRPr lang="zh-CN" altLang="en-US" sz="1350" b="0" i="0" kern="1200" smtClean="0">
                        <a:solidFill>
                          <a:schemeClr val="tx1"/>
                        </a:solidFill>
                        <a:effectLst/>
                        <a:latin typeface="+mn-lt"/>
                        <a:ea typeface="+mn-ea"/>
                        <a:cs typeface="+mn-cs"/>
                      </a:endParaRPr>
                    </a:p>
                  </a:txBody>
                  <a:tcPr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b="1" smtClean="0">
                          <a:solidFill>
                            <a:srgbClr val="0070C0"/>
                          </a:solidFill>
                        </a:rPr>
                        <a:t>2019</a:t>
                      </a:r>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zh-CN" smtClean="0"/>
                        <a:t>Optimizing seed inputs in fuzzing with machine learning</a:t>
                      </a:r>
                      <a:endParaRPr lang="zh-CN" altLang="en-US" b="1" smtClean="0"/>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350" b="0" i="0" kern="1200" smtClean="0">
                          <a:solidFill>
                            <a:schemeClr val="tx1"/>
                          </a:solidFill>
                          <a:effectLst/>
                          <a:latin typeface="+mn-lt"/>
                          <a:ea typeface="+mn-ea"/>
                          <a:cs typeface="+mn-cs"/>
                        </a:rPr>
                        <a:t>识别导致程序崩溃的输入或“模糊测试”</a:t>
                      </a:r>
                      <a:endParaRPr lang="en-US" altLang="zh-CN" sz="1350" b="0" kern="1200" smtClean="0">
                        <a:solidFill>
                          <a:srgbClr val="C00000"/>
                        </a:solidFill>
                        <a:latin typeface="+mn-lt"/>
                        <a:ea typeface="+mn-ea"/>
                        <a:cs typeface="+mn-cs"/>
                      </a:endParaRPr>
                    </a:p>
                  </a:txBody>
                  <a:tcPr anchor="ctr"/>
                </a:tc>
              </a:tr>
              <a:tr h="352024">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sz="1350" b="0" i="0" kern="1200" smtClean="0">
                          <a:solidFill>
                            <a:schemeClr val="tx1"/>
                          </a:solidFill>
                          <a:effectLst/>
                          <a:latin typeface="+mn-lt"/>
                          <a:ea typeface="+mn-ea"/>
                          <a:cs typeface="+mn-cs"/>
                        </a:rPr>
                        <a:t> </a:t>
                      </a:r>
                      <a:r>
                        <a:rPr lang="en-US" altLang="zh-CN" sz="1350" b="0" i="0" u="none" strike="noStrike" kern="1200" smtClean="0">
                          <a:solidFill>
                            <a:schemeClr val="tx1"/>
                          </a:solidFill>
                          <a:effectLst/>
                          <a:latin typeface="+mn-lt"/>
                          <a:ea typeface="+mn-ea"/>
                          <a:cs typeface="+mn-cs"/>
                        </a:rPr>
                        <a:t>Sun</a:t>
                      </a:r>
                      <a:r>
                        <a:rPr lang="zh-CN" altLang="en-US" sz="1350" b="0" i="0" u="none" strike="noStrike" kern="1200" baseline="0" smtClean="0">
                          <a:solidFill>
                            <a:schemeClr val="tx1"/>
                          </a:solidFill>
                          <a:effectLst/>
                          <a:latin typeface="+mn-lt"/>
                          <a:ea typeface="+mn-ea"/>
                          <a:cs typeface="+mn-cs"/>
                        </a:rPr>
                        <a:t> </a:t>
                      </a:r>
                      <a:r>
                        <a:rPr lang="en-US" altLang="zh-CN" sz="1350" b="0" i="0" u="none" strike="noStrike" kern="1200" baseline="0" smtClean="0">
                          <a:solidFill>
                            <a:schemeClr val="tx1"/>
                          </a:solidFill>
                          <a:effectLst/>
                          <a:latin typeface="+mn-lt"/>
                          <a:ea typeface="+mn-ea"/>
                          <a:cs typeface="+mn-cs"/>
                        </a:rPr>
                        <a:t>et al.</a:t>
                      </a:r>
                      <a:endParaRPr lang="zh-CN" altLang="en-US" sz="1350" b="0" i="0" kern="1200" smtClean="0">
                        <a:solidFill>
                          <a:schemeClr val="tx1"/>
                        </a:solidFill>
                        <a:effectLst/>
                        <a:latin typeface="+mn-lt"/>
                        <a:ea typeface="+mn-ea"/>
                        <a:cs typeface="+mn-cs"/>
                      </a:endParaRPr>
                    </a:p>
                  </a:txBody>
                  <a:tcPr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b="1" smtClean="0">
                          <a:solidFill>
                            <a:srgbClr val="0070C0"/>
                          </a:solidFill>
                        </a:rPr>
                        <a:t>2019</a:t>
                      </a:r>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zh-CN" smtClean="0"/>
                        <a:t>A Grammar-Based Structural CNN Decoder for Code Generation</a:t>
                      </a:r>
                      <a:endParaRPr lang="zh-CN" altLang="en-US" b="1" smtClean="0"/>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350" b="0" i="0" kern="1200" smtClean="0">
                          <a:solidFill>
                            <a:schemeClr val="tx1"/>
                          </a:solidFill>
                          <a:effectLst/>
                          <a:latin typeface="+mn-lt"/>
                          <a:ea typeface="+mn-ea"/>
                          <a:cs typeface="+mn-cs"/>
                        </a:rPr>
                        <a:t>基于自然语言代码描述生成代码</a:t>
                      </a:r>
                      <a:endParaRPr lang="en-US" altLang="zh-CN" sz="1350" b="0" kern="1200" smtClean="0">
                        <a:solidFill>
                          <a:srgbClr val="C00000"/>
                        </a:solidFill>
                        <a:latin typeface="+mn-lt"/>
                        <a:ea typeface="+mn-ea"/>
                        <a:cs typeface="+mn-cs"/>
                      </a:endParaRPr>
                    </a:p>
                  </a:txBody>
                  <a:tcPr anchor="ctr"/>
                </a:tc>
              </a:tr>
              <a:tr h="502246">
                <a:tc>
                  <a:txBody>
                    <a:bodyPr/>
                    <a:lstStyle/>
                    <a:p>
                      <a:pPr marL="0" algn="ctr" defTabSz="685800" rtl="0" eaLnBrk="1" latinLnBrk="0" hangingPunct="1">
                        <a:buNone/>
                      </a:pPr>
                      <a:r>
                        <a:rPr lang="en-US" altLang="zh-CN" sz="1350" b="1" kern="1200" smtClean="0">
                          <a:solidFill>
                            <a:schemeClr val="tx1"/>
                          </a:solidFill>
                          <a:latin typeface="+mn-lt"/>
                          <a:ea typeface="+mn-ea"/>
                          <a:cs typeface="+mn-cs"/>
                        </a:rPr>
                        <a:t>Sestili C D , Snavely W S , Vanhoudnos N M . </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2018</a:t>
                      </a:r>
                      <a:endParaRPr lang="en-US" altLang="zh-CN" b="1">
                        <a:solidFill>
                          <a:srgbClr val="0070C0"/>
                        </a:solidFill>
                      </a:endParaRPr>
                    </a:p>
                  </a:txBody>
                  <a:tcPr anchor="ctr"/>
                </a:tc>
                <a:tc>
                  <a:txBody>
                    <a:bodyPr/>
                    <a:lstStyle/>
                    <a:p>
                      <a:pPr>
                        <a:buNone/>
                      </a:pPr>
                      <a:r>
                        <a:rPr lang="en-US" altLang="zh-CN" sz="1350" b="0" i="0" kern="1200" smtClean="0">
                          <a:solidFill>
                            <a:schemeClr val="tx1"/>
                          </a:solidFill>
                          <a:effectLst/>
                          <a:latin typeface="+mn-lt"/>
                          <a:ea typeface="+mn-ea"/>
                          <a:cs typeface="+mn-cs"/>
                        </a:rPr>
                        <a:t>Towards security defect prediction with AI</a:t>
                      </a:r>
                      <a:endParaRPr lang="zh-CN" altLang="en-US" b="1"/>
                    </a:p>
                  </a:txBody>
                  <a:tcPr anchor="ctr"/>
                </a:tc>
                <a:tc>
                  <a:txBody>
                    <a:bodyPr/>
                    <a:lstStyle/>
                    <a:p>
                      <a:pPr>
                        <a:buNone/>
                      </a:pPr>
                      <a:r>
                        <a:rPr lang="zh-CN" altLang="en-US" sz="1350" b="0" kern="1200" smtClean="0">
                          <a:solidFill>
                            <a:srgbClr val="C00000"/>
                          </a:solidFill>
                          <a:latin typeface="+mn-lt"/>
                          <a:ea typeface="+mn-ea"/>
                          <a:cs typeface="+mn-cs"/>
                        </a:rPr>
                        <a:t>使用</a:t>
                      </a:r>
                      <a:r>
                        <a:rPr lang="en-US" altLang="zh-CN" sz="1350" b="0" kern="1200" smtClean="0">
                          <a:solidFill>
                            <a:srgbClr val="C00000"/>
                          </a:solidFill>
                          <a:latin typeface="+mn-lt"/>
                          <a:ea typeface="+mn-ea"/>
                          <a:cs typeface="+mn-cs"/>
                        </a:rPr>
                        <a:t>AI</a:t>
                      </a:r>
                      <a:r>
                        <a:rPr lang="zh-CN" altLang="en-US" sz="1350" b="0" kern="1200" smtClean="0">
                          <a:solidFill>
                            <a:srgbClr val="C00000"/>
                          </a:solidFill>
                          <a:latin typeface="+mn-lt"/>
                          <a:ea typeface="+mn-ea"/>
                          <a:cs typeface="+mn-cs"/>
                        </a:rPr>
                        <a:t>检测代码缺陷</a:t>
                      </a:r>
                      <a:endParaRPr lang="en-US" altLang="zh-CN" sz="1350" b="0" kern="1200" smtClean="0">
                        <a:solidFill>
                          <a:srgbClr val="C00000"/>
                        </a:solidFill>
                        <a:latin typeface="+mn-lt"/>
                        <a:ea typeface="+mn-ea"/>
                        <a:cs typeface="+mn-cs"/>
                      </a:endParaRPr>
                    </a:p>
                  </a:txBody>
                  <a:tcPr anchor="ctr"/>
                </a:tc>
              </a:tr>
              <a:tr h="502246">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Fleshman W , Raff E , Sylvester J , et al. </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2018</a:t>
                      </a:r>
                      <a:endParaRPr lang="en-US" altLang="zh-CN" b="1">
                        <a:solidFill>
                          <a:srgbClr val="0070C0"/>
                        </a:solidFill>
                      </a:endParaRPr>
                    </a:p>
                  </a:txBody>
                  <a:tcPr anchor="ctr"/>
                </a:tc>
                <a:tc>
                  <a:txBody>
                    <a:bodyPr/>
                    <a:lstStyle/>
                    <a:p>
                      <a:pPr>
                        <a:buNone/>
                      </a:pPr>
                      <a:r>
                        <a:rPr lang="en-US" altLang="zh-CN" sz="1350" b="0" i="0" kern="1200" smtClean="0">
                          <a:solidFill>
                            <a:schemeClr val="tx1"/>
                          </a:solidFill>
                          <a:effectLst/>
                          <a:latin typeface="+mn-lt"/>
                          <a:ea typeface="+mn-ea"/>
                          <a:cs typeface="+mn-cs"/>
                        </a:rPr>
                        <a:t>Non-Negative Networks Against Adversarial Attacks</a:t>
                      </a:r>
                      <a:endParaRPr lang="zh-CN" altLang="en-US" b="1"/>
                    </a:p>
                  </a:txBody>
                  <a:tcPr anchor="ctr"/>
                </a:tc>
                <a:tc>
                  <a:txBody>
                    <a:bodyPr/>
                    <a:lstStyle/>
                    <a:p>
                      <a:pPr>
                        <a:buNone/>
                      </a:pPr>
                      <a:r>
                        <a:rPr lang="zh-CN" altLang="en-US" sz="1350" b="0" i="0" kern="1200" smtClean="0">
                          <a:solidFill>
                            <a:schemeClr val="tx1"/>
                          </a:solidFill>
                          <a:effectLst/>
                          <a:latin typeface="+mn-lt"/>
                          <a:ea typeface="+mn-ea"/>
                          <a:cs typeface="+mn-cs"/>
                        </a:rPr>
                        <a:t>判断可执行文件的恶意程度</a:t>
                      </a:r>
                      <a:endParaRPr lang="en-US" altLang="zh-CN" sz="1350" b="0" kern="1200" smtClean="0">
                        <a:solidFill>
                          <a:srgbClr val="C00000"/>
                        </a:solidFill>
                        <a:latin typeface="+mn-lt"/>
                        <a:ea typeface="+mn-ea"/>
                        <a:cs typeface="+mn-cs"/>
                      </a:endParaRPr>
                    </a:p>
                  </a:txBody>
                  <a:tcPr anchor="ctr"/>
                </a:tc>
              </a:tr>
              <a:tr h="502246">
                <a:tc>
                  <a:txBody>
                    <a:bodyPr/>
                    <a:lstStyle/>
                    <a:p>
                      <a:pPr marL="0" algn="ctr" defTabSz="685800" rtl="0" eaLnBrk="1" latinLnBrk="0" hangingPunct="1">
                        <a:buNone/>
                      </a:pPr>
                      <a:r>
                        <a:rPr lang="en-US" altLang="zh-CN" sz="1350" b="0" i="0" kern="1200" smtClean="0">
                          <a:solidFill>
                            <a:schemeClr val="tx1"/>
                          </a:solidFill>
                          <a:effectLst/>
                          <a:latin typeface="+mn-lt"/>
                          <a:ea typeface="+mn-ea"/>
                          <a:cs typeface="+mn-cs"/>
                        </a:rPr>
                        <a:t>Russell R L , Kim L , Hamilton L H , et al. </a:t>
                      </a:r>
                      <a:endParaRPr lang="zh-CN" altLang="en-US" sz="1350" b="1" kern="1200">
                        <a:solidFill>
                          <a:schemeClr val="tx1"/>
                        </a:solidFill>
                        <a:latin typeface="+mn-lt"/>
                        <a:ea typeface="+mn-ea"/>
                        <a:cs typeface="+mn-cs"/>
                      </a:endParaRPr>
                    </a:p>
                  </a:txBody>
                  <a:tcPr anchor="ctr"/>
                </a:tc>
                <a:tc>
                  <a:txBody>
                    <a:bodyPr/>
                    <a:lstStyle/>
                    <a:p>
                      <a:pPr algn="ctr">
                        <a:buNone/>
                      </a:pPr>
                      <a:r>
                        <a:rPr lang="en-US" altLang="zh-CN" b="1" smtClean="0">
                          <a:solidFill>
                            <a:srgbClr val="0070C0"/>
                          </a:solidFill>
                        </a:rPr>
                        <a:t>2018</a:t>
                      </a:r>
                      <a:endParaRPr lang="en-US" altLang="zh-CN" b="1">
                        <a:solidFill>
                          <a:srgbClr val="0070C0"/>
                        </a:solidFill>
                      </a:endParaRPr>
                    </a:p>
                  </a:txBody>
                  <a:tcPr anchor="ctr"/>
                </a:tc>
                <a:tc>
                  <a:txBody>
                    <a:bodyPr/>
                    <a:lstStyle/>
                    <a:p>
                      <a:pPr>
                        <a:buNone/>
                      </a:pPr>
                      <a:r>
                        <a:rPr lang="en-US" altLang="zh-CN" sz="1350" b="0" i="0" kern="1200" smtClean="0">
                          <a:solidFill>
                            <a:schemeClr val="tx1"/>
                          </a:solidFill>
                          <a:effectLst/>
                          <a:latin typeface="+mn-lt"/>
                          <a:ea typeface="+mn-ea"/>
                          <a:cs typeface="+mn-cs"/>
                        </a:rPr>
                        <a:t>Automated Vulnerability Detection in Source Code Using Deep Representation Learning</a:t>
                      </a:r>
                      <a:endParaRPr lang="zh-CN" altLang="en-US" b="1"/>
                    </a:p>
                  </a:txBody>
                  <a:tcPr anchor="ctr"/>
                </a:tc>
                <a:tc>
                  <a:txBody>
                    <a:bodyPr/>
                    <a:lstStyle/>
                    <a:p>
                      <a:pPr>
                        <a:buNone/>
                      </a:pPr>
                      <a:r>
                        <a:rPr lang="zh-CN" altLang="en-US" sz="1350" b="0" i="0" kern="1200" smtClean="0">
                          <a:solidFill>
                            <a:schemeClr val="tx1"/>
                          </a:solidFill>
                          <a:effectLst/>
                          <a:latin typeface="+mn-lt"/>
                          <a:ea typeface="+mn-ea"/>
                          <a:cs typeface="+mn-cs"/>
                        </a:rPr>
                        <a:t>检测源代码中的漏洞</a:t>
                      </a:r>
                      <a:endParaRPr lang="en-US" altLang="zh-CN" sz="1350" b="0" kern="1200" smtClean="0">
                        <a:solidFill>
                          <a:srgbClr val="C00000"/>
                        </a:solidFill>
                        <a:latin typeface="+mn-lt"/>
                        <a:ea typeface="+mn-ea"/>
                        <a:cs typeface="+mn-cs"/>
                      </a:endParaRPr>
                    </a:p>
                  </a:txBody>
                  <a:tcPr anchor="ctr"/>
                </a:tc>
              </a:tr>
              <a:tr h="502246">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sz="1350" b="1" kern="1200" smtClean="0">
                          <a:solidFill>
                            <a:schemeClr val="tx1"/>
                          </a:solidFill>
                          <a:latin typeface="+mn-lt"/>
                          <a:ea typeface="+mn-ea"/>
                          <a:cs typeface="+mn-cs"/>
                        </a:rPr>
                        <a:t>Choi M J , Jeong S , Oh H , et al.</a:t>
                      </a:r>
                      <a:endParaRPr lang="zh-CN" altLang="en-US" sz="1350" b="1" kern="1200" smtClean="0">
                        <a:solidFill>
                          <a:schemeClr val="tx1"/>
                        </a:solidFill>
                        <a:latin typeface="+mn-lt"/>
                        <a:ea typeface="+mn-ea"/>
                        <a:cs typeface="+mn-cs"/>
                      </a:endParaRPr>
                    </a:p>
                  </a:txBody>
                  <a:tcPr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CN" smtClean="0">
                          <a:solidFill>
                            <a:srgbClr val="0070C0"/>
                          </a:solidFill>
                        </a:rPr>
                        <a:t>2017</a:t>
                      </a:r>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zh-CN" b="0" i="0" smtClean="0">
                          <a:solidFill>
                            <a:srgbClr val="000000"/>
                          </a:solidFill>
                          <a:effectLst/>
                          <a:latin typeface="Microsoft YaHei" panose="020B0503020204020204" pitchFamily="34" charset="-122"/>
                          <a:ea typeface="Microsoft YaHei" panose="020B0503020204020204" pitchFamily="34" charset="-122"/>
                        </a:rPr>
                        <a:t>End-to-End Prediction of Buffer Overruns from Raw Source Code via Neural Memory Networks</a:t>
                      </a:r>
                      <a:endParaRPr lang="zh-CN" altLang="en-US" b="1" smtClean="0"/>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350" b="0" kern="1200" smtClean="0">
                          <a:solidFill>
                            <a:srgbClr val="C00000"/>
                          </a:solidFill>
                          <a:latin typeface="+mn-lt"/>
                          <a:ea typeface="+mn-ea"/>
                          <a:cs typeface="+mn-cs"/>
                        </a:rPr>
                        <a:t>第一篇用记忆网络代码安全检测的论文</a:t>
                      </a:r>
                    </a:p>
                  </a:txBody>
                  <a:tcPr anchor="ctr"/>
                </a:tc>
              </a:tr>
            </a:tbl>
          </a:graphicData>
        </a:graphic>
      </p:graphicFrame>
      <p:sp>
        <p:nvSpPr>
          <p:cNvPr id="16" name="文本框 15"/>
          <p:cNvSpPr txBox="1"/>
          <p:nvPr/>
        </p:nvSpPr>
        <p:spPr>
          <a:xfrm>
            <a:off x="539349" y="5360688"/>
            <a:ext cx="4467890" cy="369332"/>
          </a:xfrm>
          <a:prstGeom prst="rect">
            <a:avLst/>
          </a:prstGeom>
          <a:noFill/>
        </p:spPr>
        <p:txBody>
          <a:bodyPr wrap="none" rtlCol="0">
            <a:spAutoFit/>
          </a:bodyPr>
          <a:lstStyle/>
          <a:p>
            <a:r>
              <a:rPr lang="en-US" altLang="zh-CN" smtClean="0"/>
              <a:t>4</a:t>
            </a:r>
            <a:r>
              <a:rPr lang="zh-CN" altLang="en-US" smtClean="0"/>
              <a:t>、</a:t>
            </a:r>
            <a:r>
              <a:rPr lang="zh-CN" altLang="en-US"/>
              <a:t>如</a:t>
            </a:r>
            <a:r>
              <a:rPr lang="zh-CN" altLang="en-US" smtClean="0"/>
              <a:t>期完成论文撰写与毕业答辩准备工作</a:t>
            </a:r>
            <a:endParaRPr lang="zh-CN" altLang="en-US"/>
          </a:p>
        </p:txBody>
      </p:sp>
    </p:spTree>
    <p:custDataLst>
      <p:tags r:id="rId1"/>
    </p:custDataLst>
    <p:extLst>
      <p:ext uri="{BB962C8B-B14F-4D97-AF65-F5344CB8AC3E}">
        <p14:creationId xmlns:p14="http://schemas.microsoft.com/office/powerpoint/2010/main" val="3532396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hasCustomPrompt="1"/>
            <p:custDataLst>
              <p:tags r:id="rId2"/>
            </p:custDataLst>
          </p:nvPr>
        </p:nvSpPr>
        <p:spPr>
          <a:xfrm>
            <a:off x="4016375" y="2252663"/>
            <a:ext cx="4071938" cy="1325562"/>
          </a:xfrm>
        </p:spPr>
        <p:txBody>
          <a:bodyPr vert="horz" lIns="91440" tIns="45720" rIns="91440" bIns="45720" anchor="b"/>
          <a:lstStyle/>
          <a:p>
            <a:pPr defTabSz="685800">
              <a:buNone/>
            </a:pPr>
            <a:r>
              <a:rPr lang="zh-CN" altLang="en-US" kern="1200">
                <a:latin typeface="+mj-lt"/>
                <a:ea typeface="+mj-ea"/>
                <a:cs typeface="+mj-cs"/>
              </a:rPr>
              <a:t>谢谢观看</a:t>
            </a:r>
          </a:p>
        </p:txBody>
      </p:sp>
      <p:sp>
        <p:nvSpPr>
          <p:cNvPr id="41986" name="文本占位符 2"/>
          <p:cNvSpPr>
            <a:spLocks noGrp="1"/>
          </p:cNvSpPr>
          <p:nvPr>
            <p:ph sz="quarter" idx="13" hasCustomPrompt="1"/>
            <p:custDataLst>
              <p:tags r:id="rId3"/>
            </p:custDataLst>
          </p:nvPr>
        </p:nvSpPr>
        <p:spPr>
          <a:xfrm>
            <a:off x="4295775" y="3617913"/>
            <a:ext cx="3513138" cy="534987"/>
          </a:xfrm>
        </p:spPr>
        <p:txBody>
          <a:bodyPr vert="horz" lIns="91440" tIns="45720" rIns="91440" bIns="45720" anchor="t"/>
          <a:lstStyle/>
          <a:p>
            <a:pPr defTabSz="685800"/>
            <a:r>
              <a:rPr lang="en-US" altLang="zh-CN" kern="1200">
                <a:latin typeface="+mn-lt"/>
                <a:ea typeface="+mn-ea"/>
                <a:cs typeface="+mn-cs"/>
              </a:rPr>
              <a:t>THANK YOU</a:t>
            </a:r>
          </a:p>
        </p:txBody>
      </p:sp>
      <p:pic>
        <p:nvPicPr>
          <p:cNvPr id="87" name="图片 86" descr="timg"/>
          <p:cNvPicPr>
            <a:picLocks noChangeAspect="1"/>
          </p:cNvPicPr>
          <p:nvPr/>
        </p:nvPicPr>
        <p:blipFill>
          <a:blip r:embed="rId6"/>
          <a:stretch>
            <a:fillRect/>
          </a:stretch>
        </p:blipFill>
        <p:spPr>
          <a:xfrm>
            <a:off x="9907270" y="2540"/>
            <a:ext cx="2282190" cy="992505"/>
          </a:xfrm>
          <a:prstGeom prst="rect">
            <a:avLst/>
          </a:prstGeom>
        </p:spPr>
      </p:pic>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81909_1"/>
  <p:tag name="KSO_WM_TEMPLATE_CATEGORY" val="custom"/>
  <p:tag name="KSO_WM_TEMPLATE_INDEX" val="20186830"/>
  <p:tag name="KSO_WM_TEMPLATE_SUBCATEGORY" val="combine"/>
  <p:tag name="KSO_WM_TEMPLATE_THUMBS_INDEX" val="1、6、10、15、19、22"/>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3"/>
  <p:tag name="KSO_WM_TEMPLATE_CATEGORY" val="custom"/>
  <p:tag name="KSO_WM_TEMPLATE_INDEX" val="20184556"/>
  <p:tag name="KSO_WM_UNIT_INDEX" val="3"/>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4"/>
  <p:tag name="KSO_WM_TEMPLATE_CATEGORY" val="custom"/>
  <p:tag name="KSO_WM_TEMPLATE_INDEX" val="20184556"/>
  <p:tag name="KSO_WM_UNIT_INDEX" val="4"/>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5"/>
  <p:tag name="KSO_WM_TEMPLATE_CATEGORY" val="custom"/>
  <p:tag name="KSO_WM_TEMPLATE_INDEX" val="20184556"/>
  <p:tag name="KSO_WM_UNIT_INDEX" val="5"/>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6"/>
  <p:tag name="KSO_WM_TEMPLATE_CATEGORY" val="custom"/>
  <p:tag name="KSO_WM_TEMPLATE_INDEX" val="20184556"/>
  <p:tag name="KSO_WM_UNIT_INDEX" val="6"/>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7"/>
  <p:tag name="KSO_WM_TEMPLATE_CATEGORY" val="custom"/>
  <p:tag name="KSO_WM_TEMPLATE_INDEX" val="20184556"/>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81909_1"/>
  <p:tag name="KSO_WM_TEMPLATE_CATEGORY" val="custom"/>
  <p:tag name="KSO_WM_TEMPLATE_INDEX" val="20186830"/>
  <p:tag name="KSO_WM_TEMPLATE_SUBCATEGORY" val="combine"/>
  <p:tag name="KSO_WM_TEMPLATE_THUMBS_INDEX" val="1、6、10、15、19、2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3"/>
  <p:tag name="KSO_WM_TEMPLATE_CATEGORY" val="custom"/>
  <p:tag name="KSO_WM_TEMPLATE_INDEX" val="20184556"/>
  <p:tag name="KSO_WM_UNIT_INDEX" val="3"/>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4"/>
  <p:tag name="KSO_WM_TEMPLATE_CATEGORY" val="custom"/>
  <p:tag name="KSO_WM_TEMPLATE_INDEX" val="20184556"/>
  <p:tag name="KSO_WM_UNIT_INDEX" val="4"/>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5"/>
  <p:tag name="KSO_WM_TEMPLATE_CATEGORY" val="custom"/>
  <p:tag name="KSO_WM_TEMPLATE_INDEX" val="20184556"/>
  <p:tag name="KSO_WM_UNIT_INDEX" val="5"/>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6"/>
  <p:tag name="KSO_WM_TEMPLATE_CATEGORY" val="custom"/>
  <p:tag name="KSO_WM_TEMPLATE_INDEX" val="20184556"/>
  <p:tag name="KSO_WM_UNIT_INDEX" val="6"/>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7"/>
  <p:tag name="KSO_WM_TEMPLATE_CATEGORY" val="custom"/>
  <p:tag name="KSO_WM_TEMPLATE_INDEX" val="20184556"/>
  <p:tag name="KSO_WM_UNIT_INDEX" val="7"/>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_c"/>
  <p:tag name="KSO_WM_SLIDE_LAYOUT_CNT" val="1_1_1"/>
  <p:tag name="KSO_WM_SLIDE_TYPE" val="title"/>
  <p:tag name="KSO_WM_BEAUTIFY_FLAG" val="#wm#"/>
  <p:tag name="KSO_WM_COMBINE_RELATE_SLIDE_ID" val="background20181909_1"/>
  <p:tag name="KSO_WM_TEMPLATE_CATEGORY" val="custom"/>
  <p:tag name="KSO_WM_TEMPLATE_INDEX" val="20186830"/>
  <p:tag name="KSO_WM_SLIDE_ID" val="custom20186830_1"/>
  <p:tag name="KSO_WM_SLIDE_INDEX" val="1"/>
  <p:tag name="KSO_WM_TEMPLATE_SUBCATEGORY" val="combine"/>
  <p:tag name="KSO_WM_TEMPLATE_THUMBS_INDEX" val="1、6、10、15、19、22、"/>
  <p:tag name="KSO_WM_SLIDE_SUBTYPE" val="pureTxt"/>
  <p:tag name="KSO_WM_SLIDE_MODEL_TYPE" val="cover"/>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ID" val="custom20186830_1*a*1"/>
  <p:tag name="KSO_WM_UNIT_LAYERLEVEL" val="1"/>
  <p:tag name="KSO_WM_UNIT_VALUE" val="9"/>
  <p:tag name="KSO_WM_UNIT_ISCONTENTSTITLE" val="0"/>
  <p:tag name="KSO_WM_UNIT_HIGHLIGHT" val="0"/>
  <p:tag name="KSO_WM_UNIT_COMPATIBLE" val="0"/>
  <p:tag name="KSO_WM_UNIT_CLEAR" val="0"/>
  <p:tag name="KSO_WM_UNIT_PRESET_TEXT" val="黑白简约商务通用"/>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1*b*1"/>
  <p:tag name="KSO_WM_UNIT_LAYERLEVEL" val="1"/>
  <p:tag name="KSO_WM_UNIT_VALUE" val="24"/>
  <p:tag name="KSO_WM_UNIT_ISCONTENTSTITLE" val="0"/>
  <p:tag name="KSO_WM_UNIT_HIGHLIGHT" val="0"/>
  <p:tag name="KSO_WM_UNIT_COMPATIBLE" val="0"/>
  <p:tag name="KSO_WM_UNIT_CLEAR" val="0"/>
  <p:tag name="KSO_WM_UNIT_PRESET_TEXT_INDEX" val="4"/>
  <p:tag name="KSO_WM_UNIT_PRESET_TEXT_LEN" val="57"/>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UNIT_TYPE" val="c"/>
  <p:tag name="KSO_WM_UNIT_INDEX" val="1"/>
  <p:tag name="KSO_WM_UNIT_ID" val="custom20186830_1*c*1"/>
  <p:tag name="KSO_WM_UNIT_LAYERLEVEL" val="1"/>
  <p:tag name="KSO_WM_UNIT_VALUE" val="3"/>
  <p:tag name="KSO_WM_UNIT_HIGHLIGHT" val="0"/>
  <p:tag name="KSO_WM_UNIT_COMPATIBLE" val="1"/>
  <p:tag name="KSO_WM_UNIT_CLEAR" val="0"/>
  <p:tag name="KSO_WM_BEAUTIFY_FLAG" val="#wm#"/>
  <p:tag name="KSO_WM_TAG_VERSION" val="1.0"/>
  <p:tag name="KSO_WM_UNIT_PRESET_TEXT" val="2018"/>
</p:tagLst>
</file>

<file path=ppt/tags/tag31.xml><?xml version="1.0" encoding="utf-8"?>
<p:tagLst xmlns:a="http://schemas.openxmlformats.org/drawingml/2006/main" xmlns:r="http://schemas.openxmlformats.org/officeDocument/2006/relationships" xmlns:p="http://schemas.openxmlformats.org/presentationml/2006/main">
  <p:tag name="KSO_WM_SLIDE_ID" val="diagram327_4"/>
  <p:tag name="KSO_WM_SLIDE_INDEX" val="4"/>
  <p:tag name="KSO_WM_SLIDE_ITEM_CNT" val="4"/>
  <p:tag name="KSO_WM_SLIDE_LAYOUT" val="a_l"/>
  <p:tag name="KSO_WM_SLIDE_LAYOUT_CNT" val="1_1"/>
  <p:tag name="KSO_WM_SLIDE_TYPE" val="contents"/>
  <p:tag name="KSO_WM_BEAUTIFY_FLAG" val="#wm#"/>
  <p:tag name="KSO_WM_TEMPLATE_CATEGORY" val="custom"/>
  <p:tag name="KSO_WM_TEMPLATE_INDEX" val="20186830"/>
  <p:tag name="KSO_WM_DIAGRAM_GROUP_CODE" val="l1-1"/>
  <p:tag name="KSO_WM_TAG_VERSION" val="1.0"/>
  <p:tag name="KSO_WM_SLIDE_SUBTYPE" val="diag"/>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a"/>
  <p:tag name="KSO_WM_UNIT_INDEX" val="1"/>
  <p:tag name="KSO_WM_UNIT_ID" val="diagram327_4*a*1"/>
  <p:tag name="KSO_WM_UNIT_CLEAR" val="1"/>
  <p:tag name="KSO_WM_UNIT_LAYERLEVEL" val="1"/>
  <p:tag name="KSO_WM_UNIT_VALUE" val="36"/>
  <p:tag name="KSO_WM_UNIT_ISCONTENTSTITLE" val="0"/>
  <p:tag name="KSO_WM_UNIT_HIGHLIGHT" val="0"/>
  <p:tag name="KSO_WM_UNIT_COMPATIBLE" val="1"/>
  <p:tag name="KSO_WM_BEAUTIFY_FLAG" val="#wm#"/>
  <p:tag name="KSO_WM_UNIT_PRESET_TEXT_INDEX" val="3"/>
  <p:tag name="KSO_WM_UNIT_PRESET_TEXT_LEN" val="18"/>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7"/>
  <p:tag name="KSO_WM_UNIT_ID" val="diagram327_4*l_i*1_7"/>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0"/>
  <p:tag name="KSO_WM_UNIT_ID" val="diagram327_4*l_i*1_10"/>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4"/>
  <p:tag name="KSO_WM_UNIT_ID" val="diagram327_4*l_i*1_4"/>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5"/>
  <p:tag name="KSO_WM_UNIT_ID" val="diagram327_4*l_i*1_5"/>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5"/>
  <p:tag name="KSO_WM_UNIT_TEXT_FILL_TYPE" val="1"/>
  <p:tag name="KSO_WM_UNIT_USESOURCEFORMAT_APPLY" val="0"/>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2_1"/>
  <p:tag name="KSO_WM_UNIT_ID" val="diagram327_4*l_h_f*1_2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6"/>
  <p:tag name="KSO_WM_UNIT_TEXT_FILL_TYPE" val="1"/>
  <p:tag name="KSO_WM_UNIT_USESOURCEFORMAT_APPLY" val="0"/>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6"/>
  <p:tag name="KSO_WM_UNIT_ID" val="diagram327_4*l_i*1_6"/>
  <p:tag name="KSO_WM_UNIT_CLEAR" val="1"/>
  <p:tag name="KSO_WM_UNIT_LAYERLEVEL" val="1_1"/>
  <p:tag name="KSO_WM_BEAUTIFY_FLAG" val="#wm#"/>
  <p:tag name="KSO_WM_DIAGRAM_GROUP_CODE" val="l1-1"/>
  <p:tag name="KSO_WM_UNIT_TEXT_FILL_FORE_SCHEMECOLOR_INDEX" val="6"/>
  <p:tag name="KSO_WM_UNIT_TEXT_FILL_TYPE" val="1"/>
  <p:tag name="KSO_WM_UNIT_USESOURCEFORMAT_APPLY" val="0"/>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
  <p:tag name="KSO_WM_UNIT_ID" val="diagram327_4*l_i*1_1"/>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2"/>
  <p:tag name="KSO_WM_UNIT_ID" val="diagram327_4*l_i*1_2"/>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1_1"/>
  <p:tag name="KSO_WM_UNIT_ID" val="diagram327_4*l_h_f*1_1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5"/>
  <p:tag name="KSO_WM_UNIT_TEXT_FILL_TYPE" val="1"/>
  <p:tag name="KSO_WM_UNIT_USESOURCEFORMAT_APPLY" val="0"/>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3"/>
  <p:tag name="KSO_WM_UNIT_ID" val="diagram327_4*l_i*1_3"/>
  <p:tag name="KSO_WM_UNIT_CLEAR" val="1"/>
  <p:tag name="KSO_WM_UNIT_LAYERLEVEL" val="1_1"/>
  <p:tag name="KSO_WM_BEAUTIFY_FLAG" val="#wm#"/>
  <p:tag name="KSO_WM_DIAGRAM_GROUP_CODE" val="l1-1"/>
  <p:tag name="KSO_WM_UNIT_TEXT_FILL_FORE_SCHEMECOLOR_INDEX" val="5"/>
  <p:tag name="KSO_WM_UNIT_TEXT_FILL_TYPE" val="1"/>
  <p:tag name="KSO_WM_UNIT_USESOURCEFORMAT_APPLY" val="0"/>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0"/>
  <p:tag name="KSO_WM_UNIT_ID" val="diagram327_4*l_i*1_10"/>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0"/>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1"/>
  <p:tag name="KSO_WM_UNIT_ID" val="diagram327_4*l_i*1_11"/>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5"/>
  <p:tag name="KSO_WM_UNIT_TEXT_FILL_TYPE" val="1"/>
  <p:tag name="KSO_WM_UNIT_USESOURCEFORMAT_APPLY" val="0"/>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4_1"/>
  <p:tag name="KSO_WM_UNIT_ID" val="diagram327_4*l_h_f*1_4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6"/>
  <p:tag name="KSO_WM_UNIT_TEXT_FILL_TYPE" val="1"/>
  <p:tag name="KSO_WM_UNIT_USESOURCEFORMAT_APPLY" val="0"/>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12"/>
  <p:tag name="KSO_WM_UNIT_ID" val="diagram327_4*l_i*1_12"/>
  <p:tag name="KSO_WM_UNIT_CLEAR" val="1"/>
  <p:tag name="KSO_WM_UNIT_LAYERLEVEL" val="1_1"/>
  <p:tag name="KSO_WM_BEAUTIFY_FLAG" val="#wm#"/>
  <p:tag name="KSO_WM_DIAGRAM_GROUP_CODE" val="l1-1"/>
  <p:tag name="KSO_WM_UNIT_TEXT_FILL_FORE_SCHEMECOLOR_INDEX" val="6"/>
  <p:tag name="KSO_WM_UNIT_TEXT_FILL_TYPE" val="1"/>
  <p:tag name="KSO_WM_UNIT_USESOURCEFORMAT_APPLY" val="0"/>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7"/>
  <p:tag name="KSO_WM_UNIT_ID" val="diagram327_4*l_i*1_7"/>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0"/>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8"/>
  <p:tag name="KSO_WM_UNIT_ID" val="diagram327_4*l_i*1_8"/>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h_f"/>
  <p:tag name="KSO_WM_UNIT_INDEX" val="1_3_1"/>
  <p:tag name="KSO_WM_UNIT_ID" val="diagram327_4*l_h_f*1_3_1"/>
  <p:tag name="KSO_WM_UNIT_CLEAR" val="1"/>
  <p:tag name="KSO_WM_UNIT_LAYERLEVEL" val="1_1_1"/>
  <p:tag name="KSO_WM_UNIT_VALUE" val="30"/>
  <p:tag name="KSO_WM_UNIT_HIGHLIGHT" val="0"/>
  <p:tag name="KSO_WM_UNIT_COMPATIBLE" val="0"/>
  <p:tag name="KSO_WM_BEAUTIFY_FLAG" val="#wm#"/>
  <p:tag name="KSO_WM_UNIT_PRESET_TEXT_INDEX" val="4"/>
  <p:tag name="KSO_WM_UNIT_PRESET_TEXT_LEN" val="26"/>
  <p:tag name="KSO_WM_DIAGRAM_GROUP_CODE" val="l1-1"/>
  <p:tag name="KSO_WM_UNIT_TEXT_FILL_FORE_SCHEMECOLOR_INDEX" val="5"/>
  <p:tag name="KSO_WM_UNIT_TEXT_FILL_TYPE" val="1"/>
  <p:tag name="KSO_WM_UNIT_USESOURCEFORMAT_APPLY" val="0"/>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27"/>
  <p:tag name="KSO_WM_TAG_VERSION" val="1.0"/>
  <p:tag name="KSO_WM_UNIT_TYPE" val="l_i"/>
  <p:tag name="KSO_WM_UNIT_INDEX" val="1_9"/>
  <p:tag name="KSO_WM_UNIT_ID" val="diagram327_4*l_i*1_9"/>
  <p:tag name="KSO_WM_UNIT_CLEAR" val="1"/>
  <p:tag name="KSO_WM_UNIT_LAYERLEVEL" val="1_1"/>
  <p:tag name="KSO_WM_BEAUTIFY_FLAG" val="#wm#"/>
  <p:tag name="KSO_WM_DIAGRAM_GROUP_CODE" val="l1-1"/>
  <p:tag name="KSO_WM_UNIT_TEXT_FILL_FORE_SCHEMECOLOR_INDEX" val="5"/>
  <p:tag name="KSO_WM_UNIT_TEXT_FILL_TYPE" val="1"/>
  <p:tag name="KSO_WM_UNIT_USESOURCEFORMAT_APPLY" val="0"/>
</p:tagLst>
</file>

<file path=ppt/tags/tag51.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
  <p:tag name="KSO_WM_TEMPLATE_CATEGORY" val="diagram"/>
  <p:tag name="KSO_WM_TEMPLATE_INDEX" val="634"/>
  <p:tag name="KSO_WM_UNIT_INDEX"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8"/>
  <p:tag name="KSO_WM_TEMPLATE_CATEGORY" val="diagram"/>
  <p:tag name="KSO_WM_TEMPLATE_INDEX" val="634"/>
  <p:tag name="KSO_WM_UNIT_INDEX" val="8"/>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5"/>
  <p:tag name="KSO_WM_TEMPLATE_CATEGORY" val="diagram"/>
  <p:tag name="KSO_WM_TEMPLATE_INDEX" val="634"/>
  <p:tag name="KSO_WM_UNIT_INDEX" val="15"/>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3_1"/>
  <p:tag name="KSO_WM_UNIT_ID" val="diagram634_4*l_h_a*1_3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7"/>
  <p:tag name="KSO_WM_UNIT_FILL_TYPE" val="1"/>
  <p:tag name="KSO_WM_UNIT_TEXT_FILL_FORE_SCHEMECOLOR_INDEX" val="2"/>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3"/>
  <p:tag name="KSO_WM_UNIT_ID" val="diagram634_4*l_i*1_3"/>
  <p:tag name="KSO_WM_UNIT_CLEAR" val="1"/>
  <p:tag name="KSO_WM_UNIT_LAYERLEVEL" val="1_1"/>
  <p:tag name="KSO_WM_DIAGRAM_GROUP_CODE" val="l1-1"/>
  <p:tag name="KSO_WM_UNIT_TEXT_FILL_FORE_SCHEMECOLOR_INDEX" val="7"/>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3_1"/>
  <p:tag name="KSO_WM_UNIT_ID" val="diagram634_4*l_h_f*1_3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2_1"/>
  <p:tag name="KSO_WM_UNIT_ID" val="diagram634_4*l_h_a*1_2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6"/>
  <p:tag name="KSO_WM_UNIT_FILL_TYPE" val="1"/>
  <p:tag name="KSO_WM_UNIT_TEXT_FILL_FORE_SCHEMECOLOR_INDEX" val="2"/>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2"/>
  <p:tag name="KSO_WM_UNIT_ID" val="diagram634_4*l_i*1_2"/>
  <p:tag name="KSO_WM_UNIT_CLEAR" val="1"/>
  <p:tag name="KSO_WM_UNIT_LAYERLEVEL" val="1_1"/>
  <p:tag name="KSO_WM_DIAGRAM_GROUP_CODE" val="l1-1"/>
  <p:tag name="KSO_WM_UNIT_TEXT_FILL_FORE_SCHEMECOLOR_INDEX" val="6"/>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1_1"/>
  <p:tag name="KSO_WM_UNIT_ID" val="diagram634_4*l_h_f*1_1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6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6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68.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7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7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7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73.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7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7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7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78.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8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8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8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83.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8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8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8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88.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9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9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9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93.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9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9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9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98.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0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0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0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03.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05.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06.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07.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08.xml><?xml version="1.0" encoding="utf-8"?>
<p:tagLst xmlns:a="http://schemas.openxmlformats.org/drawingml/2006/main" xmlns:r="http://schemas.openxmlformats.org/officeDocument/2006/relationships" xmlns:p="http://schemas.openxmlformats.org/presentationml/2006/main">
  <p:tag name="KSO_WM_SLIDE_SIZE" val="631*425"/>
  <p:tag name="KSO_WM_SLIDE_POSITION" val="49*57"/>
  <p:tag name="KSO_WM_SLIDE_LAYOUT_CNT" val="1_1_1"/>
  <p:tag name="KSO_WM_SLIDE_LAYOUT" val="a_f_d"/>
  <p:tag name="KSO_WM_BEAUTIFY_FLAG" val="#wm#"/>
  <p:tag name="KSO_WM_SLIDE_TYPE" val="text"/>
  <p:tag name="KSO_WM_SLIDE_ITEM_CNT" val="2"/>
  <p:tag name="KSO_WM_SLIDE_INDEX" val="4"/>
  <p:tag name="KSO_WM_SLIDE_ID" val="custom20186830_4"/>
  <p:tag name="KSO_WM_TAG_VERSION" val="1.0"/>
  <p:tag name="KSO_WM_TEMPLATE_INDEX" val="20186830"/>
  <p:tag name="KSO_WM_TEMPLATE_CATEGORY" val="custom"/>
  <p:tag name="KSO_WM_SLIDE_SUBTYPE" val="picTxt"/>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16"/>
  <p:tag name="KSO_WM_UNIT_LAYERLEVEL" val="1"/>
  <p:tag name="KSO_WM_UNIT_INDEX" val="1"/>
  <p:tag name="KSO_WM_UNIT_ID" val="custom20186830_4*a*1"/>
  <p:tag name="KSO_WM_UNIT_TYPE" val="a"/>
</p:tagLst>
</file>

<file path=ppt/tags/tag110.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7"/>
  <p:tag name="KSO_WM_TEMPLATE_CATEGORY" val="custom"/>
  <p:tag name="KSO_WM_TEMPLATE_INDEX" val="20186830"/>
  <p:tag name="KSO_WM_UNIT_INDEX" val="7"/>
  <p:tag name="KSO_WM_UNIT_LINE_FORE_SCHEMECOLOR_INDEX" val="9"/>
  <p:tag name="KSO_WM_UNIT_LINE_FILL_TYPE" val="2"/>
  <p:tag name="KSO_WM_UNIT_USESOURCEFORMAT_APPLY" val="0"/>
</p:tagLst>
</file>

<file path=ppt/tags/tag111.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8"/>
  <p:tag name="KSO_WM_TEMPLATE_CATEGORY" val="custom"/>
  <p:tag name="KSO_WM_TEMPLATE_INDEX" val="20186830"/>
  <p:tag name="KSO_WM_UNIT_INDEX" val="8"/>
  <p:tag name="KSO_WM_UNIT_LINE_FORE_SCHEMECOLOR_INDEX" val="9"/>
  <p:tag name="KSO_WM_UNIT_LINE_FILL_TYPE" val="2"/>
  <p:tag name="KSO_WM_UNIT_USESOURCEFORMAT_APPLY" val="0"/>
</p:tagLst>
</file>

<file path=ppt/tags/tag112.xml><?xml version="1.0" encoding="utf-8"?>
<p:tagLst xmlns:a="http://schemas.openxmlformats.org/drawingml/2006/main" xmlns:r="http://schemas.openxmlformats.org/officeDocument/2006/relationships" xmlns:p="http://schemas.openxmlformats.org/presentationml/2006/main">
  <p:tag name="KSO_WM_DIAGRAM_GROUP_CODE" val="l1_1"/>
  <p:tag name="KSO_WM_TAG_VERSION" val="1.0"/>
  <p:tag name="KSO_WM_BEAUTIFY_FLAG" val="#wm#"/>
  <p:tag name="KSO_WM_UNIT_TYPE" val="i"/>
  <p:tag name="KSO_WM_UNIT_ID" val="custom20186830_5*i*9"/>
  <p:tag name="KSO_WM_TEMPLATE_CATEGORY" val="custom"/>
  <p:tag name="KSO_WM_TEMPLATE_INDEX" val="20186830"/>
  <p:tag name="KSO_WM_UNIT_INDEX" val="9"/>
  <p:tag name="KSO_WM_UNIT_LINE_FORE_SCHEMECOLOR_INDEX" val="9"/>
  <p:tag name="KSO_WM_UNIT_LINE_FILL_TYPE" val="2"/>
  <p:tag name="KSO_WM_UNIT_USESOURCEFORMAT_APPLY" val="0"/>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
  <p:tag name="KSO_WM_SLIDE_LAYOUT_CNT" val="1_1"/>
  <p:tag name="KSO_WM_SLIDE_TYPE" val="endPage"/>
  <p:tag name="KSO_WM_BEAUTIFY_FLAG" val="#wm#"/>
  <p:tag name="KSO_WM_COMBINE_RELATE_SLIDE_ID" val="background20181909_19"/>
  <p:tag name="KSO_WM_TEMPLATE_CATEGORY" val="custom"/>
  <p:tag name="KSO_WM_TEMPLATE_INDEX" val="20186830"/>
  <p:tag name="KSO_WM_SLIDE_ID" val="custom20186830_22"/>
  <p:tag name="KSO_WM_SLIDE_INDEX" val="22"/>
  <p:tag name="KSO_WM_TEMPLATE_SUBCATEGORY" val="combine"/>
  <p:tag name="KSO_WM_SLIDE_SUBTYPE" val="pureTxt"/>
</p:tagLst>
</file>

<file path=ppt/tags/tag1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LAYERLEVEL" val="1"/>
  <p:tag name="KSO_WM_UNIT_VALUE" val="5"/>
  <p:tag name="KSO_WM_UNIT_ISCONTENTSTITLE" val="0"/>
  <p:tag name="KSO_WM_UNIT_HIGHLIGHT" val="0"/>
  <p:tag name="KSO_WM_UNIT_COMPATIBLE" val="0"/>
  <p:tag name="KSO_WM_UNIT_CLEAR" val="0"/>
  <p:tag name="KSO_WM_UNIT_ID" val="custom20186830_22*a*1"/>
  <p:tag name="KSO_WM_UNIT_PRESET_TEXT" val="谢谢观看"/>
</p:tagLst>
</file>

<file path=ppt/tags/tag1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22*b*1"/>
  <p:tag name="KSO_WM_UNIT_LAYERLEVEL" val="1"/>
  <p:tag name="KSO_WM_UNIT_VALUE" val="13"/>
  <p:tag name="KSO_WM_UNIT_ISCONTENTSTITLE" val="0"/>
  <p:tag name="KSO_WM_UNIT_HIGHLIGHT" val="0"/>
  <p:tag name="KSO_WM_UNIT_COMPATIBLE" val="0"/>
  <p:tag name="KSO_WM_UNIT_CLEAR" val="0"/>
  <p:tag name="KSO_WM_UNIT_PRESET_TEXT" val="THANK YOU"/>
</p:tagLst>
</file>

<file path=ppt/theme/theme1.xml><?xml version="1.0" encoding="utf-8"?>
<a:theme xmlns:a="http://schemas.openxmlformats.org/drawingml/2006/main" name="2_Office 主题​​">
  <a:themeElements>
    <a:clrScheme name="自定义 218">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FFFFFF"/>
      </a:accent6>
      <a:hlink>
        <a:srgbClr val="0563C1"/>
      </a:hlink>
      <a:folHlink>
        <a:srgbClr val="954F72"/>
      </a:folHlink>
    </a:clrScheme>
    <a:fontScheme name="自定义 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18">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FFFFFF"/>
      </a:accent6>
      <a:hlink>
        <a:srgbClr val="0563C1"/>
      </a:hlink>
      <a:folHlink>
        <a:srgbClr val="954F72"/>
      </a:folHlink>
    </a:clrScheme>
    <a:fontScheme name="自定义 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TotalTime>
  <Words>2185</Words>
  <Application>Microsoft Office PowerPoint</Application>
  <PresentationFormat>宽屏</PresentationFormat>
  <Paragraphs>230</Paragraphs>
  <Slides>19</Slides>
  <Notes>13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19</vt:i4>
      </vt:variant>
    </vt:vector>
  </HeadingPairs>
  <TitlesOfParts>
    <vt:vector size="28" baseType="lpstr">
      <vt:lpstr>黑体</vt:lpstr>
      <vt:lpstr>宋体</vt:lpstr>
      <vt:lpstr>Microsoft YaHei</vt:lpstr>
      <vt:lpstr>Microsoft YaHei</vt:lpstr>
      <vt:lpstr>Arial</vt:lpstr>
      <vt:lpstr>Calibri</vt:lpstr>
      <vt:lpstr>Wingdings</vt:lpstr>
      <vt:lpstr>2_Office 主题​​</vt:lpstr>
      <vt:lpstr>1_Office 主题​​</vt:lpstr>
      <vt:lpstr>能源勘探领域专用并行标记语言的设计与实现</vt:lpstr>
      <vt:lpstr>PowerPoint 演示文稿</vt:lpstr>
      <vt:lpstr>研究内容简述</vt:lpstr>
      <vt:lpstr>研究进展情况 —— 整体进度52.5%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后续研究计划</vt:lpstr>
      <vt:lpstr>后续研究计划</vt:lpstr>
      <vt:lpstr>谢谢观看</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能源勘探领域专用并行标记语言的设计与实现</dc:title>
  <dc:creator/>
  <cp:lastModifiedBy>Administrator</cp:lastModifiedBy>
  <cp:revision>683</cp:revision>
  <dcterms:created xsi:type="dcterms:W3CDTF">2018-12-20T08:15:00Z</dcterms:created>
  <dcterms:modified xsi:type="dcterms:W3CDTF">2019-07-03T01:55:24Z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2052-11.1.0.8205</vt:lpwstr>
  </property>
</Properties>
</file>